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69" r:id="rId2"/>
    <p:sldId id="270" r:id="rId3"/>
  </p:sldIdLst>
  <p:sldSz cx="12192000" cy="6858000"/>
  <p:notesSz cx="6807200" cy="9939338"/>
  <p:embeddedFontLst>
    <p:embeddedFont>
      <p:font typeface="Helvetica Neue" panose="020B0604020202020204" charset="0"/>
      <p:regular r:id="rId5"/>
      <p:bold r:id="rId6"/>
      <p:italic r:id="rId7"/>
      <p:boldItalic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u4hadnChYsCcCOxllhl2gLlZ1l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neric Login" initials="GL" lastIdx="1" clrIdx="0">
    <p:extLst>
      <p:ext uri="{19B8F6BF-5375-455C-9EA6-DF929625EA0E}">
        <p15:presenceInfo xmlns:p15="http://schemas.microsoft.com/office/powerpoint/2012/main" userId="Generic Log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 showGuides="1">
      <p:cViewPr varScale="1">
        <p:scale>
          <a:sx n="126" d="100"/>
          <a:sy n="126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theme" Target="theme/theme1.xml"/><Relationship Id="rId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38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C">
  <p:cSld name="1_Content Slide - C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" name="Google Shape;48;p31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31"/>
          <p:cNvSpPr txBox="1"/>
          <p:nvPr/>
        </p:nvSpPr>
        <p:spPr>
          <a:xfrm>
            <a:off x="2858004" y="6445922"/>
            <a:ext cx="6475992" cy="2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66B3"/>
              </a:buClr>
              <a:buSzPts val="563"/>
              <a:buFont typeface="Helvetica Neue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  <a:r>
              <a:rPr lang="ja-JP" sz="563" b="0" i="0" u="none" strike="noStrike" cap="none">
                <a:solidFill>
                  <a:srgbClr val="01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©Minebea AccessSolutions. This presentation is the property of Minebea AccessSolutions and contains confidential information. Distribution to third parties is strictly prohibited without written consent.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1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1" name="Google Shape;51;p31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52" name="Google Shape;52;p31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1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" name="Google Shape;54;p31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2"/>
          </p:nvPr>
        </p:nvSpPr>
        <p:spPr>
          <a:xfrm>
            <a:off x="785813" y="1092200"/>
            <a:ext cx="1253496" cy="44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I">
  <p:cSld name="Agenda - I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9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39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" name="Google Shape;90;p39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1" name="Google Shape;91;p39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92" name="Google Shape;92;p39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9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" name="Google Shape;94;p39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39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body" idx="2"/>
          </p:nvPr>
        </p:nvSpPr>
        <p:spPr>
          <a:xfrm>
            <a:off x="2666370" y="1524963"/>
            <a:ext cx="7392029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9"/>
          <p:cNvSpPr txBox="1">
            <a:spLocks noGrp="1"/>
          </p:cNvSpPr>
          <p:nvPr>
            <p:ph type="body" idx="3"/>
          </p:nvPr>
        </p:nvSpPr>
        <p:spPr>
          <a:xfrm>
            <a:off x="966158" y="1524963"/>
            <a:ext cx="1631503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B3"/>
              </a:buClr>
              <a:buSzPts val="3600"/>
              <a:buNone/>
              <a:defRPr sz="3600" b="0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9"/>
          <p:cNvSpPr txBox="1"/>
          <p:nvPr/>
        </p:nvSpPr>
        <p:spPr>
          <a:xfrm>
            <a:off x="2858004" y="6445922"/>
            <a:ext cx="6475992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3"/>
              <a:buFont typeface="Arial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ja-JP" sz="563" b="0" i="0" u="none" strike="noStrike" cap="none">
                <a:solidFill>
                  <a:srgbClr val="0166B3"/>
                </a:solidFill>
                <a:latin typeface="Arial"/>
                <a:ea typeface="Arial"/>
                <a:cs typeface="Arial"/>
                <a:sym typeface="Arial"/>
              </a:rPr>
              <a:t> ©Minebea AccessSolutions. This presentation is the property of Minebea AccessSolutions and for internal use only. Distribution to third parties is prohibited without written consent.</a:t>
            </a:r>
            <a:endParaRPr sz="563" b="0" i="0" u="none" strike="noStrike" cap="none">
              <a:solidFill>
                <a:srgbClr val="0166B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C">
  <p:cSld name="Agenda - C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0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40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40"/>
          <p:cNvSpPr txBox="1"/>
          <p:nvPr/>
        </p:nvSpPr>
        <p:spPr>
          <a:xfrm>
            <a:off x="2858004" y="6445922"/>
            <a:ext cx="6475992" cy="2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3"/>
              <a:buFont typeface="Arial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  <a:r>
              <a:rPr lang="ja-JP" sz="563" b="0" i="0" u="none" strike="noStrike" cap="none">
                <a:solidFill>
                  <a:srgbClr val="01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©Minebea AccessSolutions. This presentation is the property of Minebea AccessSolutions and contains confidential information. Distribution to third parties is strictly prohibited without written consent.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40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4" name="Google Shape;104;p40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105" name="Google Shape;105;p40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0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7" name="Google Shape;107;p40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40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0"/>
          <p:cNvSpPr txBox="1">
            <a:spLocks noGrp="1"/>
          </p:cNvSpPr>
          <p:nvPr>
            <p:ph type="body" idx="2"/>
          </p:nvPr>
        </p:nvSpPr>
        <p:spPr>
          <a:xfrm>
            <a:off x="2666370" y="1524963"/>
            <a:ext cx="7392029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0"/>
          <p:cNvSpPr txBox="1">
            <a:spLocks noGrp="1"/>
          </p:cNvSpPr>
          <p:nvPr>
            <p:ph type="body" idx="3"/>
          </p:nvPr>
        </p:nvSpPr>
        <p:spPr>
          <a:xfrm>
            <a:off x="966158" y="1524963"/>
            <a:ext cx="1631503" cy="34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B3"/>
              </a:buClr>
              <a:buSzPts val="3600"/>
              <a:buNone/>
              <a:defRPr sz="3600" b="0">
                <a:solidFill>
                  <a:srgbClr val="0066B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1"/>
          <p:cNvSpPr/>
          <p:nvPr/>
        </p:nvSpPr>
        <p:spPr>
          <a:xfrm>
            <a:off x="-1438" y="0"/>
            <a:ext cx="12192000" cy="6857999"/>
          </a:xfrm>
          <a:prstGeom prst="rect">
            <a:avLst/>
          </a:prstGeom>
          <a:gradFill>
            <a:gsLst>
              <a:gs pos="0">
                <a:srgbClr val="EDF4FF">
                  <a:alpha val="72156"/>
                </a:srgbClr>
              </a:gs>
              <a:gs pos="37000">
                <a:srgbClr val="E5EFF8">
                  <a:alpha val="50196"/>
                </a:srgbClr>
              </a:gs>
              <a:gs pos="85000">
                <a:srgbClr val="64ACFF">
                  <a:alpha val="26274"/>
                </a:srgbClr>
              </a:gs>
              <a:gs pos="100000">
                <a:srgbClr val="64ACFF">
                  <a:alpha val="26274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1"/>
          <p:cNvSpPr/>
          <p:nvPr/>
        </p:nvSpPr>
        <p:spPr>
          <a:xfrm>
            <a:off x="862642" y="724619"/>
            <a:ext cx="10463841" cy="53828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1"/>
          <p:cNvCxnSpPr/>
          <p:nvPr/>
        </p:nvCxnSpPr>
        <p:spPr>
          <a:xfrm>
            <a:off x="0" y="1891645"/>
            <a:ext cx="2130726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41"/>
          <p:cNvSpPr/>
          <p:nvPr/>
        </p:nvSpPr>
        <p:spPr>
          <a:xfrm>
            <a:off x="1" y="1244732"/>
            <a:ext cx="2130726" cy="551955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1"/>
          </p:nvPr>
        </p:nvSpPr>
        <p:spPr>
          <a:xfrm>
            <a:off x="2130726" y="2309863"/>
            <a:ext cx="7928057" cy="221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4000"/>
              <a:buNone/>
              <a:defRPr sz="40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body" idx="2"/>
          </p:nvPr>
        </p:nvSpPr>
        <p:spPr>
          <a:xfrm>
            <a:off x="558564" y="1105900"/>
            <a:ext cx="2004202" cy="84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- S">
  <p:cSld name="Content Slide - 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"/>
          <p:cNvSpPr/>
          <p:nvPr/>
        </p:nvSpPr>
        <p:spPr>
          <a:xfrm>
            <a:off x="246126" y="6372234"/>
            <a:ext cx="893001" cy="405752"/>
          </a:xfrm>
          <a:custGeom>
            <a:avLst/>
            <a:gdLst/>
            <a:ahLst/>
            <a:cxnLst/>
            <a:rect l="l" t="t" r="r" b="b"/>
            <a:pathLst>
              <a:path w="1023239" h="464928" extrusionOk="0">
                <a:moveTo>
                  <a:pt x="0" y="0"/>
                </a:moveTo>
                <a:lnTo>
                  <a:pt x="1023239" y="0"/>
                </a:lnTo>
                <a:lnTo>
                  <a:pt x="1023239" y="464928"/>
                </a:lnTo>
                <a:lnTo>
                  <a:pt x="0" y="464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42"/>
          <p:cNvSpPr/>
          <p:nvPr/>
        </p:nvSpPr>
        <p:spPr>
          <a:xfrm>
            <a:off x="11506200" y="6438088"/>
            <a:ext cx="685800" cy="264314"/>
          </a:xfrm>
          <a:custGeom>
            <a:avLst/>
            <a:gdLst/>
            <a:ahLst/>
            <a:cxnLst/>
            <a:rect l="l" t="t" r="r" b="b"/>
            <a:pathLst>
              <a:path w="270933" h="104420" extrusionOk="0">
                <a:moveTo>
                  <a:pt x="0" y="0"/>
                </a:moveTo>
                <a:lnTo>
                  <a:pt x="270933" y="0"/>
                </a:lnTo>
                <a:lnTo>
                  <a:pt x="270933" y="104420"/>
                </a:lnTo>
                <a:lnTo>
                  <a:pt x="0" y="104420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42"/>
          <p:cNvSpPr txBox="1"/>
          <p:nvPr/>
        </p:nvSpPr>
        <p:spPr>
          <a:xfrm>
            <a:off x="2858004" y="6445922"/>
            <a:ext cx="6475992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26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3"/>
              <a:buFont typeface="Arial"/>
              <a:buNone/>
            </a:pPr>
            <a:r>
              <a:rPr lang="ja-JP" sz="563" b="1" i="0" u="none" strike="noStrike" cap="none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SECRET</a:t>
            </a:r>
            <a:r>
              <a:rPr lang="ja-JP" sz="563" b="0" i="0" u="none" strike="noStrike" cap="none">
                <a:solidFill>
                  <a:srgbClr val="0166B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©Minebea AccessSolutions. This presentation is the property of Minebea AccessSolutions and contains secret information. Any distribution or publication without express written consent is illegal.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42"/>
          <p:cNvCxnSpPr/>
          <p:nvPr/>
        </p:nvCxnSpPr>
        <p:spPr>
          <a:xfrm>
            <a:off x="-1" y="6282491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p42"/>
          <p:cNvGrpSpPr/>
          <p:nvPr/>
        </p:nvGrpSpPr>
        <p:grpSpPr>
          <a:xfrm>
            <a:off x="-87644" y="167117"/>
            <a:ext cx="841231" cy="265128"/>
            <a:chOff x="6406685" y="159886"/>
            <a:chExt cx="964256" cy="108012"/>
          </a:xfrm>
        </p:grpSpPr>
        <p:sp>
          <p:nvSpPr>
            <p:cNvPr id="125" name="Google Shape;125;p42"/>
            <p:cNvSpPr/>
            <p:nvPr/>
          </p:nvSpPr>
          <p:spPr>
            <a:xfrm>
              <a:off x="6406685" y="159886"/>
              <a:ext cx="892247" cy="108012"/>
            </a:xfrm>
            <a:prstGeom prst="parallelogram">
              <a:avLst>
                <a:gd name="adj" fmla="val 25000"/>
              </a:avLst>
            </a:prstGeom>
            <a:solidFill>
              <a:srgbClr val="ED1C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2"/>
            <p:cNvSpPr/>
            <p:nvPr/>
          </p:nvSpPr>
          <p:spPr>
            <a:xfrm>
              <a:off x="6406686" y="201878"/>
              <a:ext cx="964255" cy="66020"/>
            </a:xfrm>
            <a:prstGeom prst="parallelogram">
              <a:avLst>
                <a:gd name="adj" fmla="val 25000"/>
              </a:avLst>
            </a:prstGeom>
            <a:solidFill>
              <a:srgbClr val="0066B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rgbClr val="48484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7" name="Google Shape;127;p42"/>
          <p:cNvCxnSpPr/>
          <p:nvPr/>
        </p:nvCxnSpPr>
        <p:spPr>
          <a:xfrm>
            <a:off x="-1" y="575509"/>
            <a:ext cx="12192001" cy="0"/>
          </a:xfrm>
          <a:prstGeom prst="straightConnector1">
            <a:avLst/>
          </a:prstGeom>
          <a:noFill/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42"/>
          <p:cNvSpPr txBox="1">
            <a:spLocks noGrp="1"/>
          </p:cNvSpPr>
          <p:nvPr>
            <p:ph type="body" idx="1"/>
          </p:nvPr>
        </p:nvSpPr>
        <p:spPr>
          <a:xfrm>
            <a:off x="812615" y="93614"/>
            <a:ext cx="7728818" cy="48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6B3"/>
              </a:buClr>
              <a:buSzPts val="2400"/>
              <a:buNone/>
              <a:defRPr sz="24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2"/>
          <p:cNvSpPr txBox="1">
            <a:spLocks noGrp="1"/>
          </p:cNvSpPr>
          <p:nvPr>
            <p:ph type="body" idx="2"/>
          </p:nvPr>
        </p:nvSpPr>
        <p:spPr>
          <a:xfrm>
            <a:off x="785813" y="1092200"/>
            <a:ext cx="1253496" cy="44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07833" y="389291"/>
            <a:ext cx="7684168" cy="6468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/>
        </p:nvSpPr>
        <p:spPr>
          <a:xfrm>
            <a:off x="1019558" y="2101667"/>
            <a:ext cx="435956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ja-JP" sz="3200" b="1" i="0" u="none" strike="noStrike" cap="none">
                <a:solidFill>
                  <a:srgbClr val="0267B4"/>
                </a:solidFill>
                <a:latin typeface="Arial"/>
                <a:ea typeface="Arial"/>
                <a:cs typeface="Arial"/>
                <a:sym typeface="Arial"/>
              </a:rPr>
              <a:t>Thank you for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ja-JP" sz="3200" b="1" i="0" u="none" strike="noStrike" cap="none">
                <a:solidFill>
                  <a:srgbClr val="0267B4"/>
                </a:solidFill>
                <a:latin typeface="Arial"/>
                <a:ea typeface="Arial"/>
                <a:cs typeface="Arial"/>
                <a:sym typeface="Arial"/>
              </a:rPr>
              <a:t>your attention!</a:t>
            </a:r>
            <a:endParaRPr sz="3200" b="1" i="0" u="none" strike="noStrike" cap="none">
              <a:solidFill>
                <a:srgbClr val="0267B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3"/>
          <p:cNvSpPr/>
          <p:nvPr/>
        </p:nvSpPr>
        <p:spPr>
          <a:xfrm rot="10800000" flipH="1">
            <a:off x="0" y="522515"/>
            <a:ext cx="12192000" cy="54473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3"/>
          <p:cNvSpPr/>
          <p:nvPr/>
        </p:nvSpPr>
        <p:spPr>
          <a:xfrm>
            <a:off x="2183877" y="4101286"/>
            <a:ext cx="1917364" cy="115042"/>
          </a:xfrm>
          <a:custGeom>
            <a:avLst/>
            <a:gdLst/>
            <a:ahLst/>
            <a:cxnLst/>
            <a:rect l="l" t="t" r="r" b="b"/>
            <a:pathLst>
              <a:path w="2808419" h="168505" extrusionOk="0">
                <a:moveTo>
                  <a:pt x="0" y="0"/>
                </a:moveTo>
                <a:lnTo>
                  <a:pt x="2808419" y="0"/>
                </a:lnTo>
                <a:lnTo>
                  <a:pt x="2808419" y="168505"/>
                </a:lnTo>
                <a:lnTo>
                  <a:pt x="0" y="16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5" name="Google Shape;135;p43"/>
          <p:cNvSpPr/>
          <p:nvPr/>
        </p:nvSpPr>
        <p:spPr>
          <a:xfrm>
            <a:off x="2348435" y="4465944"/>
            <a:ext cx="1624403" cy="738078"/>
          </a:xfrm>
          <a:custGeom>
            <a:avLst/>
            <a:gdLst/>
            <a:ahLst/>
            <a:cxnLst/>
            <a:rect l="l" t="t" r="r" b="b"/>
            <a:pathLst>
              <a:path w="1624403" h="738078" extrusionOk="0">
                <a:moveTo>
                  <a:pt x="0" y="0"/>
                </a:moveTo>
                <a:lnTo>
                  <a:pt x="1624403" y="0"/>
                </a:lnTo>
                <a:lnTo>
                  <a:pt x="1624403" y="738078"/>
                </a:lnTo>
                <a:lnTo>
                  <a:pt x="0" y="738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36" name="Google Shape;136;p43" descr="Datei:Logo minebeamitsumi.png –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8353" y="3706910"/>
            <a:ext cx="1484569" cy="228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4"/>
          <p:cNvSpPr/>
          <p:nvPr/>
        </p:nvSpPr>
        <p:spPr>
          <a:xfrm>
            <a:off x="351002" y="1066970"/>
            <a:ext cx="11489999" cy="5532121"/>
          </a:xfrm>
          <a:prstGeom prst="rect">
            <a:avLst/>
          </a:prstGeom>
          <a:noFill/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4"/>
          <p:cNvSpPr/>
          <p:nvPr/>
        </p:nvSpPr>
        <p:spPr>
          <a:xfrm>
            <a:off x="556406" y="1236616"/>
            <a:ext cx="11082316" cy="5255624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4"/>
          <p:cNvSpPr txBox="1">
            <a:spLocks noGrp="1"/>
          </p:cNvSpPr>
          <p:nvPr>
            <p:ph type="sldNum" idx="12"/>
          </p:nvPr>
        </p:nvSpPr>
        <p:spPr>
          <a:xfrm>
            <a:off x="9448800" y="64922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body" idx="1"/>
          </p:nvPr>
        </p:nvSpPr>
        <p:spPr>
          <a:xfrm>
            <a:off x="795339" y="1401763"/>
            <a:ext cx="10674351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175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42" name="Google Shape;142;p44"/>
          <p:cNvCxnSpPr/>
          <p:nvPr/>
        </p:nvCxnSpPr>
        <p:spPr>
          <a:xfrm>
            <a:off x="556408" y="494564"/>
            <a:ext cx="2393" cy="453341"/>
          </a:xfrm>
          <a:prstGeom prst="straightConnector1">
            <a:avLst/>
          </a:prstGeom>
          <a:solidFill>
            <a:schemeClr val="accent1"/>
          </a:solidFill>
          <a:ln w="57150" cap="flat" cmpd="sng">
            <a:solidFill>
              <a:srgbClr val="005B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44"/>
          <p:cNvSpPr txBox="1">
            <a:spLocks noGrp="1"/>
          </p:cNvSpPr>
          <p:nvPr>
            <p:ph type="body" idx="2"/>
          </p:nvPr>
        </p:nvSpPr>
        <p:spPr>
          <a:xfrm>
            <a:off x="637771" y="494563"/>
            <a:ext cx="11190156" cy="453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5BAC"/>
              </a:buClr>
              <a:buSzPts val="2400"/>
              <a:buFont typeface="Arial"/>
              <a:buNone/>
              <a:defRPr sz="3200" b="0" i="0" u="none" strike="noStrike" cap="none">
                <a:solidFill>
                  <a:srgbClr val="005BA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5BAC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351002" y="1066970"/>
            <a:ext cx="11489999" cy="5532121"/>
          </a:xfrm>
          <a:prstGeom prst="rect">
            <a:avLst/>
          </a:prstGeom>
          <a:noFill/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4"/>
          <p:cNvSpPr/>
          <p:nvPr/>
        </p:nvSpPr>
        <p:spPr>
          <a:xfrm>
            <a:off x="556406" y="1236616"/>
            <a:ext cx="11082316" cy="5255624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44"/>
          <p:cNvCxnSpPr/>
          <p:nvPr/>
        </p:nvCxnSpPr>
        <p:spPr>
          <a:xfrm>
            <a:off x="556408" y="494564"/>
            <a:ext cx="2393" cy="453341"/>
          </a:xfrm>
          <a:prstGeom prst="straightConnector1">
            <a:avLst/>
          </a:prstGeom>
          <a:solidFill>
            <a:schemeClr val="accent1"/>
          </a:solidFill>
          <a:ln w="57150" cap="flat" cmpd="sng">
            <a:solidFill>
              <a:srgbClr val="005BA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12615" y="93614"/>
            <a:ext cx="2016468" cy="481895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Design	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44" y="2925163"/>
            <a:ext cx="4563112" cy="20195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0245" y="672000"/>
            <a:ext cx="46730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Objective: </a:t>
            </a:r>
            <a:r>
              <a:rPr lang="en-IN" dirty="0"/>
              <a:t>Barcode Reader Integration for SmartBU EOL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492546" y="1076268"/>
            <a:ext cx="61638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improve traceability and reduce manual entry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Scope: scan PCB barcode, validate format, link to test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Outcome: each </a:t>
            </a:r>
            <a:r>
              <a:rPr lang="en-US" dirty="0" smtClean="0"/>
              <a:t>DUT (Device Under Test) </a:t>
            </a:r>
            <a:r>
              <a:rPr lang="en-US" dirty="0"/>
              <a:t>has unique digital test history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serial handling is error-prone.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Traceability audits require unit-level linkage.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Rework and failure analysis need fast record lookup.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Standardized scan flow improves line consistency.</a:t>
            </a:r>
          </a:p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31492" y="5243908"/>
            <a:ext cx="6678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https://www.keyence.com/products/barcode/barcode-readers/sr-x/models/sr-x100/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413" y="2739399"/>
            <a:ext cx="1790950" cy="371527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285" y="3216431"/>
            <a:ext cx="4782217" cy="80973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775" y="3709470"/>
            <a:ext cx="1781424" cy="175284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55614" y="5551685"/>
            <a:ext cx="2682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We are waiting for quotation..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09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12615" y="93614"/>
            <a:ext cx="2016468" cy="481895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Design	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45" y="672000"/>
            <a:ext cx="458490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1.  Reader 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Operator places PCB in fixture.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Barcode scanner reads 2D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GUI validates barcode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EOL tests execute.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Report saved with barcode, timestamp, PASS/FAIL.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04998" y="2272438"/>
            <a:ext cx="418095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</a:t>
            </a:r>
            <a:r>
              <a:rPr lang="en-IN" b="1" dirty="0" smtClean="0"/>
              <a:t>. </a:t>
            </a:r>
            <a:r>
              <a:rPr lang="en-IN" b="1" dirty="0"/>
              <a:t>Control and Compliance</a:t>
            </a:r>
            <a:r>
              <a:rPr lang="en-IN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Barcode format check (19-character standard).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Invalid barcode blocks test start.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Parsed barcode fields stored in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Derived PCB serial stored for quick tracking.</a:t>
            </a:r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04997" y="3586782"/>
            <a:ext cx="42530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/>
              <a:t>3. </a:t>
            </a:r>
            <a:r>
              <a:rPr lang="en-IN" b="1" dirty="0"/>
              <a:t>Management impact</a:t>
            </a:r>
            <a:r>
              <a:rPr lang="en-IN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quality traceability.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operator-induced data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root-cause analysis and containment.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Scalable approach for multi-station deployment.</a:t>
            </a:r>
          </a:p>
          <a:p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523" y="615924"/>
            <a:ext cx="3998404" cy="530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1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9">
      <a:dk1>
        <a:srgbClr val="262626"/>
      </a:dk1>
      <a:lt1>
        <a:srgbClr val="FFFFFF"/>
      </a:lt1>
      <a:dk2>
        <a:srgbClr val="373545"/>
      </a:dk2>
      <a:lt2>
        <a:srgbClr val="DCD8DC"/>
      </a:lt2>
      <a:accent1>
        <a:srgbClr val="004EA8"/>
      </a:accent1>
      <a:accent2>
        <a:srgbClr val="C00D1E"/>
      </a:accent2>
      <a:accent3>
        <a:srgbClr val="AFD3FF"/>
      </a:accent3>
      <a:accent4>
        <a:srgbClr val="71B1FF"/>
      </a:accent4>
      <a:accent5>
        <a:srgbClr val="C6C6C6"/>
      </a:accent5>
      <a:accent6>
        <a:srgbClr val="002D64"/>
      </a:accent6>
      <a:hlink>
        <a:srgbClr val="004EA8"/>
      </a:hlink>
      <a:folHlink>
        <a:srgbClr val="004E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184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Helvetica Neue</vt:lpstr>
      <vt:lpstr>Calibri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Alina VACARU</dc:creator>
  <cp:lastModifiedBy>Charan Singh</cp:lastModifiedBy>
  <cp:revision>83</cp:revision>
  <dcterms:created xsi:type="dcterms:W3CDTF">2023-11-15T15:16:36Z</dcterms:created>
  <dcterms:modified xsi:type="dcterms:W3CDTF">2026-04-06T11:34:06Z</dcterms:modified>
</cp:coreProperties>
</file>