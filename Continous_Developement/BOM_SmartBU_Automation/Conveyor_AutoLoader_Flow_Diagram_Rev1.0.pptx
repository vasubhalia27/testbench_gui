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20116800" cy="11887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9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48" y="-4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975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Conveyor-Fed Automatic PCB Test Station — System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384048"/>
            <a:ext cx="1975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SmartBU / XNF I460  |  BMW MAE Project 032080790003  |  Conveyor_AutoLoader_Fixture_BOM_Rev1.0  |  Charan Singh  |  11.05.2026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280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A  —  Station State Machine (Operational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1188720"/>
            <a:ext cx="1508760" cy="100584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1  IDLE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Conveyor runs
Light: YELLOW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188720"/>
            <a:ext cx="1508760" cy="10058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2  PCB ARRIVING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Entry sensor
triggered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188720"/>
            <a:ext cx="1508760" cy="10058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3  PCB POSITIONED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Centre sensor
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188720"/>
            <a:ext cx="1508760" cy="1005840"/>
          </a:xfrm>
          <a:prstGeom prst="roundRect">
            <a:avLst/>
          </a:prstGeom>
          <a:solidFill>
            <a:srgbClr val="F39C1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4  BARCODE SCAN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Scanner reads
DataMatrix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188720"/>
            <a:ext cx="1508760" cy="10058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5  PRESS CLOSING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Cylinder extends
Pogopin contact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188720"/>
            <a:ext cx="1508760" cy="10058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6  CONN. MATING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3× connector
cylinders extend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378440" y="1188720"/>
            <a:ext cx="1508760" cy="100584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7  TESTING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orchestrator.py
full test seq.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78440" y="3977639"/>
            <a:ext cx="1508760" cy="100584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8  PRESS OPENING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Connectors then
press retract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977639"/>
            <a:ext cx="1508760" cy="1005840"/>
          </a:xfrm>
          <a:prstGeom prst="roundRect">
            <a:avLst/>
          </a:prstGeom>
          <a:solidFill>
            <a:srgbClr val="F39C1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 9  RESULT OUTPUT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PASS→main line
FAIL→reject tray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3977639"/>
            <a:ext cx="1508760" cy="100584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  LOGGING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MySQL write
HTML report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3977639"/>
            <a:ext cx="1508760" cy="1005840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11  IDLE (reset)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Returns to
IDLE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00240" y="2583179"/>
            <a:ext cx="1508760" cy="100584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12  FAULT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E-stop / curtain
breach / timeout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37360" y="1654628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429000" y="1654628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1680754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12280" y="1628502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503920" y="1654628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95560" y="1628502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195560" y="4406537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8503920" y="4406537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812280" y="4432663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575800" y="2186977"/>
            <a:ext cx="0" cy="1039113"/>
          </a:xfrm>
          <a:prstGeom prst="line">
            <a:avLst/>
          </a:prstGeom>
          <a:ln w="25400">
            <a:solidFill>
              <a:srgbClr val="4A90D9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endCxn id="16" idx="1"/>
          </p:cNvCxnSpPr>
          <p:nvPr/>
        </p:nvCxnSpPr>
        <p:spPr>
          <a:xfrm>
            <a:off x="6005649" y="2242312"/>
            <a:ext cx="994591" cy="843787"/>
          </a:xfrm>
          <a:prstGeom prst="line">
            <a:avLst/>
          </a:prstGeom>
          <a:ln w="25400">
            <a:solidFill>
              <a:srgbClr val="E74C3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309360" y="234543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 dirty="0">
                <a:solidFill>
                  <a:srgbClr val="E74C3C"/>
                </a:solidFill>
              </a:rPr>
              <a:t>timeout / invalid</a:t>
            </a:r>
          </a:p>
        </p:txBody>
      </p:sp>
      <p:cxnSp>
        <p:nvCxnSpPr>
          <p:cNvPr id="30" name="Connector 29"/>
          <p:cNvCxnSpPr>
            <a:endCxn id="16" idx="0"/>
          </p:cNvCxnSpPr>
          <p:nvPr/>
        </p:nvCxnSpPr>
        <p:spPr>
          <a:xfrm>
            <a:off x="7749540" y="2210381"/>
            <a:ext cx="5080" cy="372798"/>
          </a:xfrm>
          <a:prstGeom prst="line">
            <a:avLst/>
          </a:prstGeom>
          <a:ln w="25400">
            <a:solidFill>
              <a:srgbClr val="E74C3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49540" y="2264470"/>
            <a:ext cx="13716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 i="1" dirty="0">
                <a:solidFill>
                  <a:srgbClr val="E74C3C"/>
                </a:solidFill>
              </a:rPr>
              <a:t>low </a:t>
            </a:r>
            <a:r>
              <a:rPr sz="700" b="0" i="1" dirty="0" smtClean="0">
                <a:solidFill>
                  <a:srgbClr val="E74C3C"/>
                </a:solidFill>
              </a:rPr>
              <a:t>pressure</a:t>
            </a:r>
            <a:r>
              <a:rPr lang="en-IN" sz="700" i="1" dirty="0">
                <a:solidFill>
                  <a:srgbClr val="E74C3C"/>
                </a:solidFill>
              </a:rPr>
              <a:t> / operator </a:t>
            </a:r>
            <a:r>
              <a:rPr lang="en-IN" sz="700" i="1" dirty="0" smtClean="0">
                <a:solidFill>
                  <a:srgbClr val="E74C3C"/>
                </a:solidFill>
              </a:rPr>
              <a:t>reset</a:t>
            </a:r>
            <a:endParaRPr lang="en-IN" sz="700" i="1" dirty="0">
              <a:solidFill>
                <a:srgbClr val="E74C3C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274320" y="5669280"/>
            <a:ext cx="2103120" cy="347472"/>
          </a:xfrm>
          <a:prstGeom prst="roundRect">
            <a:avLst/>
          </a:prstGeom>
          <a:solidFill>
            <a:srgbClr val="4A90D9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Idle / Ready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51760" y="5669280"/>
            <a:ext cx="2103120" cy="347472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Hardware Action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5669280"/>
            <a:ext cx="2103120" cy="347472"/>
          </a:xfrm>
          <a:prstGeom prst="roundRect">
            <a:avLst/>
          </a:prstGeom>
          <a:solidFill>
            <a:srgbClr val="F39C1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Decision / Branch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06640" y="5669280"/>
            <a:ext cx="2103120" cy="347472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Test Instruments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84080" y="5669280"/>
            <a:ext cx="2103120" cy="347472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Software / Logging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161520" y="5669280"/>
            <a:ext cx="2103120" cy="347472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900" b="0">
                <a:solidFill>
                  <a:srgbClr val="FFFFFF"/>
                </a:solidFill>
              </a:rPr>
              <a:t>Fault / Safety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3226090"/>
            <a:ext cx="3200400" cy="530352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2161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800" b="1">
                <a:solidFill>
                  <a:srgbClr val="21618C"/>
                </a:solidFill>
              </a:rPr>
              <a:t>State 6 — CONNECTOR MATING detail</a:t>
            </a:r>
          </a:p>
          <a:p>
            <a:pPr algn="l"/>
            <a:r>
              <a:rPr sz="700" b="0">
                <a:solidFill>
                  <a:srgbClr val="21618C"/>
                </a:solidFill>
              </a:rPr>
              <a:t>After press plate lands: 3 pneumatic cylinders (Ø16mm) extend sequentially.
DO0.3 → DO0.4 → DO0.5.  Press FIRST, then connectors.  Settle: 0.5 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975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C3E50"/>
                </a:solidFill>
              </a:rPr>
              <a:t>Conveyor-Fed Automatic PCB Test Station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384048"/>
            <a:ext cx="19751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</a:rPr>
              <a:t>SmartBU / XNF I460  |  BMW MAE Project 032080790003  |  Conveyor_AutoLoader_Fixture_BOM_Rev1.0  |  Charan Singh  |  11.05.2026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8368"/>
            <a:ext cx="12801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2C3E50"/>
                </a:solidFill>
              </a:rPr>
              <a:t>B  —  System Architecture  (mapped to System Overview </a:t>
            </a:r>
            <a:r>
              <a:rPr sz="1300" b="1" i="0" dirty="0" smtClean="0">
                <a:solidFill>
                  <a:srgbClr val="2C3E50"/>
                </a:solidFill>
              </a:rPr>
              <a:t>)</a:t>
            </a:r>
            <a:endParaRPr sz="1300" b="1" i="0" dirty="0">
              <a:solidFill>
                <a:srgbClr val="2C3E50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28600" y="1097280"/>
            <a:ext cx="2651760" cy="822960"/>
          </a:xfrm>
          <a:prstGeom prst="roundRect">
            <a:avLst/>
          </a:prstGeom>
          <a:solidFill>
            <a:srgbClr val="2C3E5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UPSTREAM CONVEYOR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Belt 600mm · 24VDC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[States 1-2]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63240" y="1097280"/>
            <a:ext cx="2651760" cy="822960"/>
          </a:xfrm>
          <a:prstGeom prst="roundRect">
            <a:avLst/>
          </a:prstGeom>
          <a:solidFill>
            <a:srgbClr val="34495E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PCB STOPPERS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Entry + Exit (Ø10mm cyl.)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[State 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097280"/>
            <a:ext cx="2651760" cy="822960"/>
          </a:xfrm>
          <a:prstGeom prst="roundRect">
            <a:avLst/>
          </a:prstGeom>
          <a:solidFill>
            <a:srgbClr val="F39C1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BARCODE SCANNER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2D DataMatrix · USB HID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[State 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1097280"/>
            <a:ext cx="2651760" cy="822960"/>
          </a:xfrm>
          <a:prstGeom prst="roundRect">
            <a:avLst/>
          </a:prstGeom>
          <a:solidFill>
            <a:srgbClr val="1A527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PRESS STATION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Ø80mm cyl. + pogo carrier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[States 5-8]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567160" y="1097280"/>
            <a:ext cx="2651760" cy="82296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EXIT / REJECT GATE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PASS→main  FAIL→tray</a:t>
            </a:r>
          </a:p>
          <a:p>
            <a:pPr algn="ctr"/>
            <a:r>
              <a:rPr sz="700" b="0">
                <a:solidFill>
                  <a:srgbClr val="FFFFFF"/>
                </a:solidFill>
              </a:rPr>
              <a:t>[States 9-10]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360" y="15087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715000" y="151511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49640" y="150241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384280" y="148336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29400" y="2148840"/>
            <a:ext cx="6858000" cy="1828800"/>
          </a:xfrm>
          <a:prstGeom prst="roundRect">
            <a:avLst/>
          </a:prstGeom>
          <a:solidFill>
            <a:srgbClr val="1A527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000" b="1">
                <a:solidFill>
                  <a:srgbClr val="FFFFFF"/>
                </a:solidFill>
              </a:rPr>
              <a:t>PNEUMATIC PRESS  (BOM §2-§5)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• Cylinder Ø80mm, ~500N @ 5 bar  (item 6) — 5/2 solenoid valve
• Top press plate + pogo-pin carrier (29 pins)  (items 8, 23-24)
• 3× Connector plug-in cylinders Ø16mm  (item 26)
• FRL unit + pressure sensor + flow control  (items 15-17)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42550" y="4023360"/>
            <a:ext cx="0" cy="22860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29400" y="4251960"/>
            <a:ext cx="6858000" cy="1371600"/>
          </a:xfrm>
          <a:prstGeom prst="roundRect">
            <a:avLst/>
          </a:prstGeom>
          <a:solidFill>
            <a:srgbClr val="8E44A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000" b="1">
                <a:solidFill>
                  <a:srgbClr val="FFFFFF"/>
                </a:solidFill>
              </a:rPr>
              <a:t>TEST INSTRUMENTS  (BOM §8)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• KIKUSUI PWR401L — 12V / 3.8V DC supply to DUT
• Lauterbach Trace32 — SWD/JTAG firmware flash + debug
• PEAK PCAN-USB — CAN-H / CAN-L bus
• PLIN-USB — LIN bus communication with DUT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44150" y="5669280"/>
            <a:ext cx="0" cy="22860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5897880"/>
            <a:ext cx="6858000" cy="1280160"/>
          </a:xfrm>
          <a:prstGeom prst="roundRect">
            <a:avLst/>
          </a:prstGeom>
          <a:solidFill>
            <a:srgbClr val="16A08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000" b="1">
                <a:solidFill>
                  <a:srgbClr val="FFFFFF"/>
                </a:solidFill>
              </a:rPr>
              <a:t>TEST PC  (BOM §10)  —  orchestrator.py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• orchestrator.py — sequences PSU→Flash→CAN→LIN→Motor→EOS→NFC
• gui_main.py  |  barcode_utils.py  |  trace32_adapter.py
• can_service · lin_service · motor_service · nfc_service
• MySQL client — logs result, barcode, variant, time  |  HTML report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21900" y="1920240"/>
            <a:ext cx="0" cy="228600"/>
          </a:xfrm>
          <a:prstGeom prst="line">
            <a:avLst/>
          </a:prstGeom>
          <a:ln w="25400">
            <a:solidFill>
              <a:srgbClr val="555555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223760" y="7200900"/>
            <a:ext cx="0" cy="525780"/>
          </a:xfrm>
          <a:prstGeom prst="line">
            <a:avLst/>
          </a:prstGeom>
          <a:ln w="25400">
            <a:solidFill>
              <a:srgbClr val="27AE6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endCxn id="23" idx="0"/>
          </p:cNvCxnSpPr>
          <p:nvPr/>
        </p:nvCxnSpPr>
        <p:spPr>
          <a:xfrm>
            <a:off x="12607290" y="7200900"/>
            <a:ext cx="11430" cy="525780"/>
          </a:xfrm>
          <a:prstGeom prst="line">
            <a:avLst/>
          </a:prstGeom>
          <a:ln w="25400">
            <a:solidFill>
              <a:srgbClr val="E74C3C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17920" y="7726680"/>
            <a:ext cx="2560320" cy="502920"/>
          </a:xfrm>
          <a:prstGeom prst="roundRect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PASS  →  Exit Conveyor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Light GREEN  ·  DO1.0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38560" y="7726680"/>
            <a:ext cx="2560320" cy="502920"/>
          </a:xfrm>
          <a:prstGeom prst="roundRect">
            <a:avLst/>
          </a:prstGeom>
          <a:solidFill>
            <a:srgbClr val="E74C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FAIL  →  Reject Tray</a:t>
            </a:r>
          </a:p>
          <a:p>
            <a:pPr algn="ctr"/>
            <a:r>
              <a:rPr sz="800" b="0">
                <a:solidFill>
                  <a:srgbClr val="FFFFFF"/>
                </a:solidFill>
              </a:rPr>
              <a:t>Light RED  ·  DO0.6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" y="2103120"/>
            <a:ext cx="3200400" cy="5486400"/>
          </a:xfrm>
          <a:prstGeom prst="roundRect">
            <a:avLst/>
          </a:prstGeom>
          <a:solidFill>
            <a:srgbClr val="117A65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/>
          <a:lstStyle/>
          <a:p>
            <a:pPr algn="l"/>
            <a:r>
              <a:rPr sz="1000" b="1">
                <a:solidFill>
                  <a:srgbClr val="FFFFFF"/>
                </a:solidFill>
              </a:rPr>
              <a:t>PLC CONTROL UNIT  (BOM §6)</a:t>
            </a:r>
          </a:p>
          <a:p>
            <a:pPr algn="l"/>
            <a:r>
              <a:rPr sz="800" b="0">
                <a:solidFill>
                  <a:srgbClr val="FFFFFF"/>
                </a:solidFill>
              </a:rPr>
              <a:t>Siemens S7-1200  1214C DC/DC/DC
14 DI  /  10 DO  /  2 AI  (24VDC)
DO → Solenoid valves (press + stoppers
      + connector actuators)
DO → Reject gate  ·  Conveyor run
DO → Tower light (R/Y/G) + Buzzer
DI ← Photoelectric sensors (×2)
DI ← Cylinder reed sensors (×2)
DI ← Light curtain OSSD
DI ← E-stop NC  ·  Air pressure OK
Ethernet → HMI  |  Ethernet → Test PC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112471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3E50"/>
                </a:solidFill>
              </a:rPr>
              <a:t>Arrow legend: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1503152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222"/>
                </a:solidFill>
              </a:rPr>
              <a:t>Solid → PCB / signal flow direction (main process path)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11704320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17A65"/>
                </a:solidFill>
              </a:rPr>
              <a:t>Green dashed → PLC control signal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11905488"/>
            <a:ext cx="10972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74C3C"/>
                </a:solidFill>
              </a:rPr>
              <a:t>Red dashed → Safety enable condition (press BLOCKED until all safety conditions met)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628</Words>
  <Application>Microsoft Office PowerPoint</Application>
  <PresentationFormat>Custom</PresentationFormat>
  <Paragraphs>71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Charan Singh</dc:creator>
  <cp:keywords/>
  <dc:description>generated using python-pptx</dc:description>
  <cp:lastModifiedBy>Charan Singh</cp:lastModifiedBy>
  <cp:revision>7</cp:revision>
  <dcterms:created xsi:type="dcterms:W3CDTF">2013-01-27T09:14:16Z</dcterms:created>
  <dcterms:modified xsi:type="dcterms:W3CDTF">2026-05-13T07:35:46Z</dcterms:modified>
  <cp:category/>
</cp:coreProperties>
</file>