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07200" cy="9939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72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pos="272">
          <p15:clr>
            <a:srgbClr val="A4A3A4"/>
          </p15:clr>
        </p15:guide>
        <p15:guide id="5" pos="7408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ESkKmvYFVhMnIe/wcV3T91em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6AC968-A3B1-4FA1-A2B1-C372E748FA2D}">
  <a:tblStyle styleId="{156AC968-A3B1-4FA1-A2B1-C372E748FA2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F6"/>
          </a:solidFill>
        </a:fill>
      </a:tcStyle>
    </a:wholeTbl>
    <a:band1H>
      <a:tcTxStyle b="off" i="off"/>
      <a:tcStyle>
        <a:tcBdr/>
        <a:fill>
          <a:solidFill>
            <a:srgbClr val="CACCE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CEC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53"/>
      </p:cViewPr>
      <p:guideLst>
        <p:guide orient="horz" pos="2160"/>
        <p:guide orient="horz" pos="572"/>
        <p:guide orient="horz" pos="4156"/>
        <p:guide pos="272"/>
        <p:guide pos="74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3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9" y="3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6125"/>
            <a:ext cx="6621462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0649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9" y="9440649"/>
            <a:ext cx="2949787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d279df70b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188" y="1100138"/>
            <a:ext cx="9774237" cy="549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d279df70b_1_3:notes"/>
          <p:cNvSpPr txBox="1">
            <a:spLocks noGrp="1"/>
          </p:cNvSpPr>
          <p:nvPr>
            <p:ph type="body" idx="1"/>
          </p:nvPr>
        </p:nvSpPr>
        <p:spPr>
          <a:xfrm>
            <a:off x="680721" y="4721186"/>
            <a:ext cx="5445900" cy="4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8" name="Google Shape;148;g36d279df70b_1_3:notes"/>
          <p:cNvSpPr txBox="1">
            <a:spLocks noGrp="1"/>
          </p:cNvSpPr>
          <p:nvPr>
            <p:ph type="sldNum" idx="12"/>
          </p:nvPr>
        </p:nvSpPr>
        <p:spPr>
          <a:xfrm>
            <a:off x="3855839" y="9440649"/>
            <a:ext cx="29499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877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3171368" y="6448252"/>
            <a:ext cx="6292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4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10084135" y="6448252"/>
            <a:ext cx="186113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  <a:defRPr sz="135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 スライド">
  <p:cSld name="タイトル スライド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3610272" y="475557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335360" y="3285554"/>
            <a:ext cx="11664000" cy="143446"/>
          </a:xfrm>
          <a:prstGeom prst="rect">
            <a:avLst/>
          </a:prstGeom>
          <a:solidFill>
            <a:srgbClr val="1C52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" descr="yjimage[1]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8408" y="44624"/>
            <a:ext cx="2376264" cy="5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321733" y="6573838"/>
            <a:ext cx="28448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8108951" y="6573839"/>
            <a:ext cx="38608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4673600" y="6581776"/>
            <a:ext cx="2844800" cy="2778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274472" y="2484414"/>
            <a:ext cx="10515600" cy="73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/>
          <p:nvPr/>
        </p:nvSpPr>
        <p:spPr>
          <a:xfrm>
            <a:off x="8544272" y="260648"/>
            <a:ext cx="1152000" cy="23083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9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yjimage[1]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8408" y="44624"/>
            <a:ext cx="2376264" cy="5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341439"/>
            <a:ext cx="10972800" cy="47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4673600" y="6581776"/>
            <a:ext cx="2844800" cy="2778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2"/>
          <p:cNvSpPr/>
          <p:nvPr/>
        </p:nvSpPr>
        <p:spPr>
          <a:xfrm>
            <a:off x="274472" y="591464"/>
            <a:ext cx="11664000" cy="101232"/>
          </a:xfrm>
          <a:prstGeom prst="rect">
            <a:avLst/>
          </a:prstGeom>
          <a:solidFill>
            <a:srgbClr val="1C52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321733" y="6573838"/>
            <a:ext cx="284480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8108951" y="6573839"/>
            <a:ext cx="38608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/>
          <p:nvPr/>
        </p:nvSpPr>
        <p:spPr>
          <a:xfrm>
            <a:off x="8544272" y="260648"/>
            <a:ext cx="1152000" cy="23083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9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279df70b_1_3"/>
          <p:cNvSpPr txBox="1"/>
          <p:nvPr/>
        </p:nvSpPr>
        <p:spPr>
          <a:xfrm>
            <a:off x="274472" y="101232"/>
            <a:ext cx="105156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XNF FCT Automation Schedule [temp image]</a:t>
            </a:r>
            <a:endParaRPr sz="2800" b="1" i="1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d279df70b_1_3"/>
          <p:cNvSpPr txBox="1">
            <a:spLocks noGrp="1"/>
          </p:cNvSpPr>
          <p:nvPr>
            <p:ph type="sldNum" idx="4294967295"/>
          </p:nvPr>
        </p:nvSpPr>
        <p:spPr>
          <a:xfrm>
            <a:off x="11496680" y="6581776"/>
            <a:ext cx="72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</a:rPr>
              <a:t>1</a:t>
            </a:fld>
            <a:endParaRPr sz="1200">
              <a:solidFill>
                <a:srgbClr val="000000"/>
              </a:solidFill>
            </a:endParaRPr>
          </a:p>
        </p:txBody>
      </p:sp>
      <p:sp>
        <p:nvSpPr>
          <p:cNvPr id="4" name="AutoShape 2" descr="✖"/>
          <p:cNvSpPr>
            <a:spLocks noChangeAspect="1" noChangeArrowheads="1"/>
          </p:cNvSpPr>
          <p:nvPr/>
        </p:nvSpPr>
        <p:spPr bwMode="auto">
          <a:xfrm>
            <a:off x="155575" y="-1889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AutoShape 3" descr="✖"/>
          <p:cNvSpPr>
            <a:spLocks noChangeAspect="1" noChangeArrowheads="1"/>
          </p:cNvSpPr>
          <p:nvPr/>
        </p:nvSpPr>
        <p:spPr bwMode="auto">
          <a:xfrm>
            <a:off x="488950" y="-1889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✖"/>
          <p:cNvSpPr>
            <a:spLocks noChangeAspect="1" noChangeArrowheads="1"/>
          </p:cNvSpPr>
          <p:nvPr/>
        </p:nvSpPr>
        <p:spPr bwMode="auto">
          <a:xfrm>
            <a:off x="307975" y="-365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8" name="AutoShape 6" descr="✖"/>
          <p:cNvSpPr>
            <a:spLocks noChangeAspect="1" noChangeArrowheads="1"/>
          </p:cNvSpPr>
          <p:nvPr/>
        </p:nvSpPr>
        <p:spPr bwMode="auto">
          <a:xfrm>
            <a:off x="641350" y="-365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956721"/>
              </p:ext>
            </p:extLst>
          </p:nvPr>
        </p:nvGraphicFramePr>
        <p:xfrm>
          <a:off x="488953" y="719666"/>
          <a:ext cx="11007728" cy="4480804"/>
        </p:xfrm>
        <a:graphic>
          <a:graphicData uri="http://schemas.openxmlformats.org/drawingml/2006/table">
            <a:tbl>
              <a:tblPr firstRow="1" bandRow="1">
                <a:tableStyleId>{156AC968-A3B1-4FA1-A2B1-C372E748FA2D}</a:tableStyleId>
              </a:tblPr>
              <a:tblGrid>
                <a:gridCol w="1170707">
                  <a:extLst>
                    <a:ext uri="{9D8B030D-6E8A-4147-A177-3AD203B41FA5}">
                      <a16:colId xmlns:a16="http://schemas.microsoft.com/office/drawing/2014/main" val="3611748237"/>
                    </a:ext>
                  </a:extLst>
                </a:gridCol>
                <a:gridCol w="802823">
                  <a:extLst>
                    <a:ext uri="{9D8B030D-6E8A-4147-A177-3AD203B41FA5}">
                      <a16:colId xmlns:a16="http://schemas.microsoft.com/office/drawing/2014/main" val="327802528"/>
                    </a:ext>
                  </a:extLst>
                </a:gridCol>
                <a:gridCol w="874105">
                  <a:extLst>
                    <a:ext uri="{9D8B030D-6E8A-4147-A177-3AD203B41FA5}">
                      <a16:colId xmlns:a16="http://schemas.microsoft.com/office/drawing/2014/main" val="706322180"/>
                    </a:ext>
                  </a:extLst>
                </a:gridCol>
                <a:gridCol w="778893">
                  <a:extLst>
                    <a:ext uri="{9D8B030D-6E8A-4147-A177-3AD203B41FA5}">
                      <a16:colId xmlns:a16="http://schemas.microsoft.com/office/drawing/2014/main" val="2633648705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185770024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3393997897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2084228975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1720153163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11628078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625197894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711289593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3311142174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1055006659"/>
                    </a:ext>
                  </a:extLst>
                </a:gridCol>
                <a:gridCol w="738120">
                  <a:extLst>
                    <a:ext uri="{9D8B030D-6E8A-4147-A177-3AD203B41FA5}">
                      <a16:colId xmlns:a16="http://schemas.microsoft.com/office/drawing/2014/main" val="502498432"/>
                    </a:ext>
                  </a:extLst>
                </a:gridCol>
              </a:tblGrid>
              <a:tr h="29358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Item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In-Charge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contents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Require time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’26_6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’27_1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915798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ja-JP" altLang="en-US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全体構想</a:t>
                      </a:r>
                      <a:endParaRPr kumimoji="1" lang="en-US" altLang="ja-JP" sz="1100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Total Design</a:t>
                      </a:r>
                      <a:r>
                        <a:rPr kumimoji="1" lang="en-US" altLang="ja-JP" sz="1100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JPN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b="1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“</a:t>
                      </a:r>
                      <a:r>
                        <a:rPr kumimoji="1" lang="en-US" altLang="ja-JP" sz="800" b="1" dirty="0" err="1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MA”model</a:t>
                      </a:r>
                      <a:r>
                        <a:rPr kumimoji="1" lang="en-US" altLang="ja-JP" sz="800" b="1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base</a:t>
                      </a:r>
                      <a:endParaRPr kumimoji="1" lang="ja-JP" altLang="en-US" sz="8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2-3 weeks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238432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ja-JP" altLang="en-US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機械機構設計</a:t>
                      </a:r>
                      <a:endParaRPr kumimoji="1" lang="en-US" altLang="ja-JP" sz="1100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100" dirty="0" err="1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Mecha</a:t>
                      </a: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-action Design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JPN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↑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3-4 weeks ?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04885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I/F I/O design</a:t>
                      </a: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Macha</a:t>
                      </a:r>
                      <a:r>
                        <a:rPr kumimoji="1" lang="en-US" altLang="ja-JP" sz="1100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ja-JP" altLang="en-US" sz="1100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⇔ </a:t>
                      </a:r>
                      <a:r>
                        <a:rPr kumimoji="1" lang="en-US" altLang="ja-JP" sz="1100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FCT SW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INDIA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Start,Stop,End,Err</a:t>
                      </a:r>
                      <a:r>
                        <a:rPr kumimoji="1" lang="en-US" altLang="ja-JP" sz="105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, o</a:t>
                      </a: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thers,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2-3 weeks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865677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en-US" altLang="ja-JP" sz="1100" dirty="0" err="1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Mecha</a:t>
                      </a: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-Control Design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PLC</a:t>
                      </a:r>
                      <a:r>
                        <a:rPr kumimoji="1" lang="ja-JP" altLang="en-US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program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6-8 weeks?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64147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4946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FCT review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INDIA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 months</a:t>
                      </a:r>
                      <a:endParaRPr kumimoji="1" lang="ja-JP" altLang="en-US" sz="1100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06127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Fixture Design</a:t>
                      </a:r>
                      <a:r>
                        <a:rPr kumimoji="1" lang="en-US" altLang="ja-JP" sz="1100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/ </a:t>
                      </a: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build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</a:p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INDIA</a:t>
                      </a:r>
                      <a:endParaRPr kumimoji="1" lang="ja-JP" altLang="en-US" sz="1100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2+1</a:t>
                      </a:r>
                      <a:b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month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91060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Machine Assembly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BANWA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 months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320981"/>
                  </a:ext>
                </a:extLst>
              </a:tr>
              <a:tr h="381122"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SOP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30071"/>
                  </a:ext>
                </a:extLst>
              </a:tr>
            </a:tbl>
          </a:graphicData>
        </a:graphic>
      </p:graphicFrame>
      <p:sp>
        <p:nvSpPr>
          <p:cNvPr id="12" name="Google Shape;157;g36d279df70b_1_3"/>
          <p:cNvSpPr/>
          <p:nvPr/>
        </p:nvSpPr>
        <p:spPr>
          <a:xfrm>
            <a:off x="6935821" y="4446560"/>
            <a:ext cx="1596824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66;g36d279df70b_1_3"/>
          <p:cNvSpPr/>
          <p:nvPr/>
        </p:nvSpPr>
        <p:spPr>
          <a:xfrm>
            <a:off x="8688288" y="4845655"/>
            <a:ext cx="1286113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28575" cap="flat" cmpd="sng">
            <a:solidFill>
              <a:srgbClr val="0000FF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50" i="0" u="none" strike="noStrike" cap="none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MBO</a:t>
            </a:r>
            <a:endParaRPr sz="105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星 5 9"/>
          <p:cNvSpPr/>
          <p:nvPr/>
        </p:nvSpPr>
        <p:spPr>
          <a:xfrm>
            <a:off x="10468154" y="4904190"/>
            <a:ext cx="181231" cy="17814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Google Shape;166;g36d279df70b_1_3"/>
          <p:cNvSpPr/>
          <p:nvPr/>
        </p:nvSpPr>
        <p:spPr>
          <a:xfrm>
            <a:off x="4782901" y="4813261"/>
            <a:ext cx="1286113" cy="360000"/>
          </a:xfrm>
          <a:prstGeom prst="rightArrow">
            <a:avLst>
              <a:gd name="adj1" fmla="val 60808"/>
              <a:gd name="adj2" fmla="val 50000"/>
            </a:avLst>
          </a:prstGeom>
          <a:solidFill>
            <a:srgbClr val="FFC000"/>
          </a:solidFill>
          <a:ln w="28575" cap="flat" cmpd="sng">
            <a:solidFill>
              <a:srgbClr val="0000FF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8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Approval</a:t>
            </a:r>
            <a:endParaRPr sz="800" b="1" i="0" u="none" strike="noStrike" cap="none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18" name="Google Shape;166;g36d279df70b_1_3"/>
          <p:cNvSpPr/>
          <p:nvPr/>
        </p:nvSpPr>
        <p:spPr>
          <a:xfrm>
            <a:off x="4413827" y="4823136"/>
            <a:ext cx="1012130" cy="387704"/>
          </a:xfrm>
          <a:prstGeom prst="rightArrow">
            <a:avLst>
              <a:gd name="adj1" fmla="val 65054"/>
              <a:gd name="adj2" fmla="val 50000"/>
            </a:avLst>
          </a:prstGeom>
          <a:solidFill>
            <a:srgbClr val="FFC000"/>
          </a:solidFill>
          <a:ln w="28575" cap="flat" cmpd="sng">
            <a:solidFill>
              <a:srgbClr val="0000FF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7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Application of investment</a:t>
            </a:r>
            <a:endParaRPr sz="700" b="1" i="0" u="none" strike="noStrike" cap="none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22" name="Google Shape;157;g36d279df70b_1_3"/>
          <p:cNvSpPr/>
          <p:nvPr/>
        </p:nvSpPr>
        <p:spPr>
          <a:xfrm>
            <a:off x="4170120" y="3646196"/>
            <a:ext cx="1370095" cy="2231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57;g36d279df70b_1_3"/>
          <p:cNvSpPr/>
          <p:nvPr/>
        </p:nvSpPr>
        <p:spPr>
          <a:xfrm>
            <a:off x="5553005" y="4011933"/>
            <a:ext cx="1382816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2906266" y="1964987"/>
            <a:ext cx="2013626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4751859" y="4159507"/>
            <a:ext cx="813405" cy="0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>
            <a:off x="4806527" y="2986008"/>
            <a:ext cx="1923787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 flipV="1">
            <a:off x="3894751" y="1332188"/>
            <a:ext cx="645134" cy="6485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/>
          <p:nvPr/>
        </p:nvCxnSpPr>
        <p:spPr>
          <a:xfrm>
            <a:off x="4314031" y="2561968"/>
            <a:ext cx="937740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図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760" y="1206720"/>
            <a:ext cx="1094623" cy="1516534"/>
          </a:xfrm>
          <a:prstGeom prst="rect">
            <a:avLst/>
          </a:prstGeom>
        </p:spPr>
      </p:pic>
      <p:pic>
        <p:nvPicPr>
          <p:cNvPr id="74" name="Picture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76" b="99011" l="418" r="98851">
                        <a14:foregroundMark x1="15569" y1="36113" x2="15569" y2="36113"/>
                        <a14:backgroundMark x1="5434" y1="78233" x2="5434" y2="78233"/>
                        <a14:backgroundMark x1="21003" y1="34770" x2="21003" y2="34770"/>
                        <a14:backgroundMark x1="16719" y1="36113" x2="16719" y2="36113"/>
                        <a14:backgroundMark x1="17868" y1="39011" x2="17868" y2="39011"/>
                        <a14:backgroundMark x1="74713" y1="38445" x2="74713" y2="38445"/>
                        <a14:backgroundMark x1="76698" y1="39152" x2="76698" y2="39152"/>
                        <a14:backgroundMark x1="67503" y1="35689" x2="67503" y2="35689"/>
                        <a14:backgroundMark x1="21421" y1="33993" x2="21421" y2="33993"/>
                        <a14:backgroundMark x1="70742" y1="36890" x2="70742" y2="36890"/>
                      </a14:backgroundRemoval>
                    </a14:imgEffect>
                  </a14:imgLayer>
                </a14:imgProps>
              </a:ext>
            </a:extLst>
          </a:blip>
          <a:srcRect b="33309"/>
          <a:stretch/>
        </p:blipFill>
        <p:spPr>
          <a:xfrm>
            <a:off x="8363787" y="888510"/>
            <a:ext cx="1859059" cy="1833187"/>
          </a:xfrm>
          <a:prstGeom prst="rect">
            <a:avLst/>
          </a:prstGeom>
        </p:spPr>
      </p:pic>
      <p:sp>
        <p:nvSpPr>
          <p:cNvPr id="33" name="テキスト ボックス 32"/>
          <p:cNvSpPr txBox="1"/>
          <p:nvPr/>
        </p:nvSpPr>
        <p:spPr>
          <a:xfrm>
            <a:off x="8978009" y="2769048"/>
            <a:ext cx="225742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MA model FCT tester</a:t>
            </a:r>
            <a:endParaRPr kumimoji="1"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12775" y="5362833"/>
            <a:ext cx="699074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Fixture</a:t>
            </a:r>
            <a:r>
              <a:rPr kumimoji="1" lang="ja-JP" altLang="en-US" dirty="0"/>
              <a:t>：</a:t>
            </a:r>
            <a:r>
              <a:rPr kumimoji="1" lang="ja-JP" altLang="en-US" dirty="0" smtClean="0"/>
              <a:t>手動検査機を元に、自動搬送に対応する新規設計</a:t>
            </a:r>
            <a:endParaRPr kumimoji="1" lang="en-US" altLang="ja-JP" dirty="0" smtClean="0"/>
          </a:p>
          <a:p>
            <a:r>
              <a:rPr kumimoji="1" lang="ja-JP" altLang="en-US" dirty="0" smtClean="0"/>
              <a:t>自動搬送（ロボット腕、掴み手）のデザインと動かし方、検査プログラムと連携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自動搬送側の制御設計（</a:t>
            </a:r>
            <a:r>
              <a:rPr kumimoji="1" lang="en-US" altLang="ja-JP" dirty="0" smtClean="0"/>
              <a:t>PLC</a:t>
            </a:r>
            <a:r>
              <a:rPr kumimoji="1" lang="ja-JP" altLang="en-US" dirty="0" err="1" smtClean="0"/>
              <a:t>、</a:t>
            </a:r>
            <a:r>
              <a:rPr kumimoji="1" lang="ja-JP" altLang="en-US" dirty="0" smtClean="0"/>
              <a:t>プログラム）</a:t>
            </a:r>
            <a:endParaRPr kumimoji="1" lang="en-US" altLang="ja-JP" dirty="0" smtClean="0"/>
          </a:p>
          <a:p>
            <a:r>
              <a:rPr kumimoji="1" lang="en-US" altLang="ja-JP" dirty="0" smtClean="0"/>
              <a:t>※</a:t>
            </a:r>
            <a:r>
              <a:rPr kumimoji="1" lang="ja-JP" altLang="en-US" dirty="0" smtClean="0"/>
              <a:t>必要日数はいずれも</a:t>
            </a:r>
            <a:r>
              <a:rPr kumimoji="1" lang="en-US" altLang="ja-JP" dirty="0" smtClean="0"/>
              <a:t>AI</a:t>
            </a:r>
            <a:r>
              <a:rPr kumimoji="1" lang="ja-JP" altLang="en-US" dirty="0" smtClean="0"/>
              <a:t>利用した概算からの仮値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1099397"/>
      </p:ext>
    </p:extLst>
  </p:cSld>
  <p:clrMapOvr>
    <a:masterClrMapping/>
  </p:clrMapOvr>
</p:sld>
</file>

<file path=ppt/theme/theme1.xml><?xml version="1.0" encoding="utf-8"?>
<a:theme xmlns:a="http://schemas.openxmlformats.org/drawingml/2006/main" name="要素技術デザイン2012">
  <a:themeElements>
    <a:clrScheme name="ミネベア_original2015">
      <a:dk1>
        <a:srgbClr val="000000"/>
      </a:dk1>
      <a:lt1>
        <a:srgbClr val="FFFFFF"/>
      </a:lt1>
      <a:dk2>
        <a:srgbClr val="003399"/>
      </a:dk2>
      <a:lt2>
        <a:srgbClr val="CCFFFF"/>
      </a:lt2>
      <a:accent1>
        <a:srgbClr val="0033CC"/>
      </a:accent1>
      <a:accent2>
        <a:srgbClr val="FF3300"/>
      </a:accent2>
      <a:accent3>
        <a:srgbClr val="006600"/>
      </a:accent3>
      <a:accent4>
        <a:srgbClr val="6600FF"/>
      </a:accent4>
      <a:accent5>
        <a:srgbClr val="FF9900"/>
      </a:accent5>
      <a:accent6>
        <a:srgbClr val="99CC00"/>
      </a:accent6>
      <a:hlink>
        <a:srgbClr val="0033CC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156</Words>
  <Application>Microsoft Office PowerPoint</Application>
  <PresentationFormat>ワイド画面</PresentationFormat>
  <Paragraphs>57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ＭＳ Ｐゴシック</vt:lpstr>
      <vt:lpstr>Arial</vt:lpstr>
      <vt:lpstr>Calibri</vt:lpstr>
      <vt:lpstr>要素技術デザイン2012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Shunsuke Kamimura</dc:creator>
  <cp:lastModifiedBy>Asb</cp:lastModifiedBy>
  <cp:revision>21</cp:revision>
  <cp:lastPrinted>2025-07-25T01:57:44Z</cp:lastPrinted>
  <dcterms:created xsi:type="dcterms:W3CDTF">2017-01-11T00:32:41Z</dcterms:created>
  <dcterms:modified xsi:type="dcterms:W3CDTF">2026-05-15T05:15:47Z</dcterms:modified>
</cp:coreProperties>
</file>