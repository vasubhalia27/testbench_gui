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07200" cy="9939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72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pos="272">
          <p15:clr>
            <a:srgbClr val="A4A3A4"/>
          </p15:clr>
        </p15:guide>
        <p15:guide id="5" pos="7408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ESkKmvYFVhMnIe/wcV3T91em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6AC968-A3B1-4FA1-A2B1-C372E748FA2D}">
  <a:tblStyle styleId="{156AC968-A3B1-4FA1-A2B1-C372E748FA2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F6"/>
          </a:solidFill>
        </a:fill>
      </a:tcStyle>
    </a:wholeTbl>
    <a:band1H>
      <a:tcTxStyle b="off" i="off"/>
      <a:tcStyle>
        <a:tcBdr/>
        <a:fill>
          <a:solidFill>
            <a:srgbClr val="CACCE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CE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374"/>
      </p:cViewPr>
      <p:guideLst>
        <p:guide orient="horz" pos="2160"/>
        <p:guide orient="horz" pos="572"/>
        <p:guide orient="horz" pos="4156"/>
        <p:guide pos="272"/>
        <p:guide pos="74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3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9" y="3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6125"/>
            <a:ext cx="6621462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0649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9" y="9440649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d279df70b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188" y="1100138"/>
            <a:ext cx="9774237" cy="549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d279df70b_1_3:notes"/>
          <p:cNvSpPr txBox="1">
            <a:spLocks noGrp="1"/>
          </p:cNvSpPr>
          <p:nvPr>
            <p:ph type="body" idx="1"/>
          </p:nvPr>
        </p:nvSpPr>
        <p:spPr>
          <a:xfrm>
            <a:off x="680721" y="4721186"/>
            <a:ext cx="5445900" cy="4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8" name="Google Shape;148;g36d279df70b_1_3:notes"/>
          <p:cNvSpPr txBox="1">
            <a:spLocks noGrp="1"/>
          </p:cNvSpPr>
          <p:nvPr>
            <p:ph type="sldNum" idx="12"/>
          </p:nvPr>
        </p:nvSpPr>
        <p:spPr>
          <a:xfrm>
            <a:off x="3855839" y="9440649"/>
            <a:ext cx="29499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476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3171368" y="6448252"/>
            <a:ext cx="6292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4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10084135" y="6448252"/>
            <a:ext cx="186113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 スライド">
  <p:cSld name="タイトル スライド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3610272" y="475557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335360" y="3285554"/>
            <a:ext cx="11664000" cy="143446"/>
          </a:xfrm>
          <a:prstGeom prst="rect">
            <a:avLst/>
          </a:prstGeom>
          <a:solidFill>
            <a:srgbClr val="1C52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" descr="yjimage[1]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8408" y="44624"/>
            <a:ext cx="2376264" cy="5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321733" y="6573838"/>
            <a:ext cx="28448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8108951" y="6573839"/>
            <a:ext cx="38608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4673600" y="6581776"/>
            <a:ext cx="2844800" cy="2778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274472" y="2484414"/>
            <a:ext cx="10515600" cy="73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/>
          <p:nvPr/>
        </p:nvSpPr>
        <p:spPr>
          <a:xfrm>
            <a:off x="8544272" y="260648"/>
            <a:ext cx="1152000" cy="23083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9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yjimage[1]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8408" y="44624"/>
            <a:ext cx="2376264" cy="5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341439"/>
            <a:ext cx="10972800" cy="47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4673600" y="6581776"/>
            <a:ext cx="2844800" cy="2778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2"/>
          <p:cNvSpPr/>
          <p:nvPr/>
        </p:nvSpPr>
        <p:spPr>
          <a:xfrm>
            <a:off x="274472" y="591464"/>
            <a:ext cx="11664000" cy="101232"/>
          </a:xfrm>
          <a:prstGeom prst="rect">
            <a:avLst/>
          </a:prstGeom>
          <a:solidFill>
            <a:srgbClr val="1C52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321733" y="6573838"/>
            <a:ext cx="28448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8108951" y="6573839"/>
            <a:ext cx="38608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/>
          <p:nvPr/>
        </p:nvSpPr>
        <p:spPr>
          <a:xfrm>
            <a:off x="8544272" y="260648"/>
            <a:ext cx="1152000" cy="23083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9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279df70b_1_3"/>
          <p:cNvSpPr txBox="1"/>
          <p:nvPr/>
        </p:nvSpPr>
        <p:spPr>
          <a:xfrm>
            <a:off x="274472" y="101232"/>
            <a:ext cx="105156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XNF FCT Automation </a:t>
            </a:r>
            <a:r>
              <a:rPr lang="en-US" sz="2800" b="1" i="1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[design image</a:t>
            </a:r>
            <a:r>
              <a:rPr lang="en-US" sz="2800" b="1" i="1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b="1" i="1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d279df70b_1_3"/>
          <p:cNvSpPr txBox="1">
            <a:spLocks noGrp="1"/>
          </p:cNvSpPr>
          <p:nvPr>
            <p:ph type="sldNum" idx="4294967295"/>
          </p:nvPr>
        </p:nvSpPr>
        <p:spPr>
          <a:xfrm>
            <a:off x="11496680" y="6581776"/>
            <a:ext cx="72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</a:rPr>
              <a:t>1</a:t>
            </a:fld>
            <a:endParaRPr sz="1200">
              <a:solidFill>
                <a:srgbClr val="000000"/>
              </a:solidFill>
            </a:endParaRPr>
          </a:p>
        </p:txBody>
      </p:sp>
      <p:sp>
        <p:nvSpPr>
          <p:cNvPr id="4" name="AutoShape 2" descr="✖"/>
          <p:cNvSpPr>
            <a:spLocks noChangeAspect="1" noChangeArrowheads="1"/>
          </p:cNvSpPr>
          <p:nvPr/>
        </p:nvSpPr>
        <p:spPr bwMode="auto">
          <a:xfrm>
            <a:off x="155575" y="-1889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AutoShape 3" descr="✖"/>
          <p:cNvSpPr>
            <a:spLocks noChangeAspect="1" noChangeArrowheads="1"/>
          </p:cNvSpPr>
          <p:nvPr/>
        </p:nvSpPr>
        <p:spPr bwMode="auto">
          <a:xfrm>
            <a:off x="488950" y="-1889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✖"/>
          <p:cNvSpPr>
            <a:spLocks noChangeAspect="1" noChangeArrowheads="1"/>
          </p:cNvSpPr>
          <p:nvPr/>
        </p:nvSpPr>
        <p:spPr bwMode="auto">
          <a:xfrm>
            <a:off x="307975" y="-365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AutoShape 6" descr="✖"/>
          <p:cNvSpPr>
            <a:spLocks noChangeAspect="1" noChangeArrowheads="1"/>
          </p:cNvSpPr>
          <p:nvPr/>
        </p:nvSpPr>
        <p:spPr bwMode="auto">
          <a:xfrm>
            <a:off x="641350" y="-365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35" name="図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760" y="1206720"/>
            <a:ext cx="1094623" cy="1516534"/>
          </a:xfrm>
          <a:prstGeom prst="rect">
            <a:avLst/>
          </a:prstGeom>
        </p:spPr>
      </p:pic>
      <p:pic>
        <p:nvPicPr>
          <p:cNvPr id="74" name="Picture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76" b="99011" l="418" r="98851">
                        <a14:foregroundMark x1="15569" y1="36113" x2="15569" y2="36113"/>
                        <a14:backgroundMark x1="5434" y1="78233" x2="5434" y2="78233"/>
                        <a14:backgroundMark x1="21003" y1="34770" x2="21003" y2="34770"/>
                        <a14:backgroundMark x1="16719" y1="36113" x2="16719" y2="36113"/>
                        <a14:backgroundMark x1="17868" y1="39011" x2="17868" y2="39011"/>
                        <a14:backgroundMark x1="74713" y1="38445" x2="74713" y2="38445"/>
                        <a14:backgroundMark x1="76698" y1="39152" x2="76698" y2="39152"/>
                        <a14:backgroundMark x1="67503" y1="35689" x2="67503" y2="35689"/>
                        <a14:backgroundMark x1="21421" y1="33993" x2="21421" y2="33993"/>
                        <a14:backgroundMark x1="70742" y1="36890" x2="70742" y2="36890"/>
                      </a14:backgroundRemoval>
                    </a14:imgEffect>
                  </a14:imgLayer>
                </a14:imgProps>
              </a:ext>
            </a:extLst>
          </a:blip>
          <a:srcRect b="33309"/>
          <a:stretch/>
        </p:blipFill>
        <p:spPr>
          <a:xfrm>
            <a:off x="8363787" y="888510"/>
            <a:ext cx="1859059" cy="1833187"/>
          </a:xfrm>
          <a:prstGeom prst="rect">
            <a:avLst/>
          </a:prstGeom>
        </p:spPr>
      </p:pic>
      <p:sp>
        <p:nvSpPr>
          <p:cNvPr id="33" name="テキスト ボックス 32"/>
          <p:cNvSpPr txBox="1"/>
          <p:nvPr/>
        </p:nvSpPr>
        <p:spPr>
          <a:xfrm>
            <a:off x="8978009" y="2769048"/>
            <a:ext cx="225742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MA model FCT tester</a:t>
            </a:r>
            <a:endParaRPr kumimoji="1"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350487" y="5263676"/>
            <a:ext cx="585260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「一方通行」</a:t>
            </a:r>
            <a:r>
              <a:rPr kumimoji="1" lang="en-US" altLang="ja-JP" dirty="0" smtClean="0"/>
              <a:t>(Direction one side flow)</a:t>
            </a:r>
            <a:endParaRPr kumimoji="1" lang="en-US" altLang="ja-JP" dirty="0"/>
          </a:p>
          <a:p>
            <a:r>
              <a:rPr kumimoji="1" lang="en-US" altLang="ja-JP" dirty="0" smtClean="0"/>
              <a:t>FCT </a:t>
            </a:r>
            <a:r>
              <a:rPr kumimoji="1" lang="en-US" altLang="ja-JP" dirty="0" smtClean="0"/>
              <a:t>Fixture 2 type (for L-model, for R-model) 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smtClean="0"/>
              <a:t>            or,,, 4 type (NFC-L, Non-NFC-L, NFC-R, Non-NFC-R)</a:t>
            </a:r>
            <a:endParaRPr kumimoji="1" lang="en-US" altLang="ja-JP" dirty="0" smtClean="0"/>
          </a:p>
        </p:txBody>
      </p:sp>
      <p:grpSp>
        <p:nvGrpSpPr>
          <p:cNvPr id="3" name="グループ化 2"/>
          <p:cNvGrpSpPr/>
          <p:nvPr/>
        </p:nvGrpSpPr>
        <p:grpSpPr>
          <a:xfrm>
            <a:off x="6920818" y="4104802"/>
            <a:ext cx="4744995" cy="2590285"/>
            <a:chOff x="6920818" y="4111712"/>
            <a:chExt cx="4744995" cy="2590285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0818" y="4111712"/>
              <a:ext cx="4744995" cy="2590285"/>
            </a:xfrm>
            <a:prstGeom prst="rect">
              <a:avLst/>
            </a:prstGeom>
          </p:spPr>
        </p:pic>
        <p:sp>
          <p:nvSpPr>
            <p:cNvPr id="90" name="テキスト ボックス 89"/>
            <p:cNvSpPr txBox="1"/>
            <p:nvPr/>
          </p:nvSpPr>
          <p:spPr>
            <a:xfrm>
              <a:off x="10004800" y="4167994"/>
              <a:ext cx="157054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smtClean="0"/>
                <a:t> (AI help image </a:t>
              </a:r>
              <a:r>
                <a:rPr kumimoji="1" lang="en-US" altLang="ja-JP" dirty="0"/>
                <a:t>)</a:t>
              </a:r>
              <a:endParaRPr kumimoji="1" lang="ja-JP" altLang="en-US" dirty="0"/>
            </a:p>
          </p:txBody>
        </p:sp>
      </p:grpSp>
      <p:grpSp>
        <p:nvGrpSpPr>
          <p:cNvPr id="91" name="グループ化 90"/>
          <p:cNvGrpSpPr/>
          <p:nvPr/>
        </p:nvGrpSpPr>
        <p:grpSpPr>
          <a:xfrm>
            <a:off x="350486" y="912022"/>
            <a:ext cx="7741920" cy="3215640"/>
            <a:chOff x="0" y="0"/>
            <a:chExt cx="7741920" cy="3215640"/>
          </a:xfrm>
        </p:grpSpPr>
        <p:grpSp>
          <p:nvGrpSpPr>
            <p:cNvPr id="92" name="グループ化 91"/>
            <p:cNvGrpSpPr/>
            <p:nvPr/>
          </p:nvGrpSpPr>
          <p:grpSpPr>
            <a:xfrm>
              <a:off x="2849880" y="0"/>
              <a:ext cx="2019300" cy="2948940"/>
              <a:chOff x="2849880" y="0"/>
              <a:chExt cx="2019300" cy="2948940"/>
            </a:xfrm>
          </p:grpSpPr>
          <p:sp>
            <p:nvSpPr>
              <p:cNvPr id="109" name="円柱 108"/>
              <p:cNvSpPr/>
              <p:nvPr/>
            </p:nvSpPr>
            <p:spPr>
              <a:xfrm>
                <a:off x="2872740" y="0"/>
                <a:ext cx="1996440" cy="1021080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en-US" altLang="ja-JP" sz="1800" b="1">
                    <a:solidFill>
                      <a:sysClr val="windowText" lastClr="000000"/>
                    </a:solidFill>
                  </a:rPr>
                  <a:t>FCT fixture (CH1)</a:t>
                </a:r>
                <a:endParaRPr kumimoji="1" lang="ja-JP" altLang="en-US" sz="18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0" name="円柱 109"/>
              <p:cNvSpPr/>
              <p:nvPr/>
            </p:nvSpPr>
            <p:spPr>
              <a:xfrm>
                <a:off x="2849880" y="1927860"/>
                <a:ext cx="1996440" cy="1021080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en-US" altLang="ja-JP" sz="1800" b="1">
                    <a:solidFill>
                      <a:sysClr val="windowText" lastClr="000000"/>
                    </a:solidFill>
                  </a:rPr>
                  <a:t>FCT fixture (CH2)</a:t>
                </a:r>
                <a:endParaRPr kumimoji="1" lang="ja-JP" altLang="en-US" sz="1800" b="1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3" name="グループ化 92"/>
            <p:cNvGrpSpPr/>
            <p:nvPr/>
          </p:nvGrpSpPr>
          <p:grpSpPr>
            <a:xfrm>
              <a:off x="0" y="45720"/>
              <a:ext cx="7741920" cy="3169920"/>
              <a:chOff x="0" y="45720"/>
              <a:chExt cx="7741920" cy="3169920"/>
            </a:xfrm>
          </p:grpSpPr>
          <p:grpSp>
            <p:nvGrpSpPr>
              <p:cNvPr id="94" name="グループ化 93"/>
              <p:cNvGrpSpPr/>
              <p:nvPr/>
            </p:nvGrpSpPr>
            <p:grpSpPr>
              <a:xfrm>
                <a:off x="0" y="548640"/>
                <a:ext cx="7741920" cy="2644140"/>
                <a:chOff x="0" y="548640"/>
                <a:chExt cx="7741920" cy="2644140"/>
              </a:xfrm>
            </p:grpSpPr>
            <p:sp>
              <p:nvSpPr>
                <p:cNvPr id="105" name="直方体 104"/>
                <p:cNvSpPr/>
                <p:nvPr/>
              </p:nvSpPr>
              <p:spPr>
                <a:xfrm>
                  <a:off x="0" y="548640"/>
                  <a:ext cx="1630680" cy="1219200"/>
                </a:xfrm>
                <a:prstGeom prst="cub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kumimoji="1" lang="en-US" altLang="ja-JP" sz="1600" b="1">
                      <a:solidFill>
                        <a:sysClr val="windowText" lastClr="000000"/>
                      </a:solidFill>
                    </a:rPr>
                    <a:t>Magazine tray</a:t>
                  </a:r>
                  <a:br>
                    <a:rPr kumimoji="1" lang="en-US" altLang="ja-JP" sz="1600" b="1">
                      <a:solidFill>
                        <a:sysClr val="windowText" lastClr="000000"/>
                      </a:solidFill>
                    </a:rPr>
                  </a:br>
                  <a:r>
                    <a:rPr kumimoji="1" lang="en-US" altLang="ja-JP" sz="1600" b="1">
                      <a:solidFill>
                        <a:sysClr val="windowText" lastClr="000000"/>
                      </a:solidFill>
                    </a:rPr>
                    <a:t>(Before test)</a:t>
                  </a:r>
                  <a:endParaRPr kumimoji="1" lang="ja-JP" altLang="en-US" sz="1600" b="1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106" name="グループ化 105"/>
                <p:cNvGrpSpPr/>
                <p:nvPr/>
              </p:nvGrpSpPr>
              <p:grpSpPr>
                <a:xfrm>
                  <a:off x="6065520" y="609600"/>
                  <a:ext cx="1676400" cy="2583180"/>
                  <a:chOff x="6065520" y="609600"/>
                  <a:chExt cx="1676400" cy="2583180"/>
                </a:xfrm>
              </p:grpSpPr>
              <p:sp>
                <p:nvSpPr>
                  <p:cNvPr id="107" name="直方体 106"/>
                  <p:cNvSpPr/>
                  <p:nvPr/>
                </p:nvSpPr>
                <p:spPr>
                  <a:xfrm>
                    <a:off x="6111240" y="609600"/>
                    <a:ext cx="1630680" cy="1219200"/>
                  </a:xfrm>
                  <a:prstGeom prst="cube">
                    <a:avLst/>
                  </a:prstGeom>
                  <a:solidFill>
                    <a:srgbClr val="00B05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1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  <a:t>Magazine tray</a:t>
                    </a:r>
                    <a:b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</a:br>
                    <a: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  <a:t>(Test pass)</a:t>
                    </a:r>
                    <a:endParaRPr kumimoji="1" lang="ja-JP" altLang="en-US" sz="1600" b="1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08" name="直方体 107"/>
                  <p:cNvSpPr/>
                  <p:nvPr/>
                </p:nvSpPr>
                <p:spPr>
                  <a:xfrm>
                    <a:off x="6065520" y="1973580"/>
                    <a:ext cx="1630680" cy="1219200"/>
                  </a:xfrm>
                  <a:prstGeom prst="cube">
                    <a:avLst/>
                  </a:prstGeom>
                  <a:solidFill>
                    <a:srgbClr val="FF000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1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  <a:t>Magazine tray</a:t>
                    </a:r>
                    <a:b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</a:br>
                    <a: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  <a:t>(Test f</a:t>
                    </a:r>
                    <a:r>
                      <a:rPr kumimoji="1" lang="en-US" altLang="ja-JP" sz="1600" b="1" i="1">
                        <a:solidFill>
                          <a:sysClr val="windowText" lastClr="000000"/>
                        </a:solidFill>
                      </a:rPr>
                      <a:t>a</a:t>
                    </a:r>
                    <a:r>
                      <a:rPr kumimoji="1" lang="en-US" altLang="ja-JP" sz="1600" b="1">
                        <a:solidFill>
                          <a:sysClr val="windowText" lastClr="000000"/>
                        </a:solidFill>
                      </a:rPr>
                      <a:t>il)</a:t>
                    </a:r>
                    <a:endParaRPr kumimoji="1" lang="ja-JP" altLang="en-US" sz="1600" b="1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</p:grpSp>
          <p:grpSp>
            <p:nvGrpSpPr>
              <p:cNvPr id="95" name="グループ化 94"/>
              <p:cNvGrpSpPr/>
              <p:nvPr/>
            </p:nvGrpSpPr>
            <p:grpSpPr>
              <a:xfrm>
                <a:off x="1554480" y="1097280"/>
                <a:ext cx="4511040" cy="914400"/>
                <a:chOff x="1554480" y="1097280"/>
                <a:chExt cx="4511040" cy="914400"/>
              </a:xfrm>
            </p:grpSpPr>
            <p:sp>
              <p:nvSpPr>
                <p:cNvPr id="101" name="ストライプ矢印 100"/>
                <p:cNvSpPr/>
                <p:nvPr/>
              </p:nvSpPr>
              <p:spPr>
                <a:xfrm>
                  <a:off x="1554480" y="1371600"/>
                  <a:ext cx="2087880" cy="190500"/>
                </a:xfrm>
                <a:prstGeom prst="stripedRightArrow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kumimoji="1" lang="ja-JP" altLang="en-US" sz="1100"/>
                </a:p>
              </p:txBody>
            </p:sp>
            <p:sp>
              <p:nvSpPr>
                <p:cNvPr id="102" name="上下矢印 101"/>
                <p:cNvSpPr/>
                <p:nvPr/>
              </p:nvSpPr>
              <p:spPr>
                <a:xfrm>
                  <a:off x="3665506" y="1097280"/>
                  <a:ext cx="312134" cy="783278"/>
                </a:xfrm>
                <a:prstGeom prst="upDownArrow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kumimoji="1" lang="ja-JP" altLang="en-US" sz="1100"/>
                </a:p>
              </p:txBody>
            </p:sp>
            <p:sp>
              <p:nvSpPr>
                <p:cNvPr id="103" name="ストライプ矢印 102"/>
                <p:cNvSpPr/>
                <p:nvPr/>
              </p:nvSpPr>
              <p:spPr>
                <a:xfrm>
                  <a:off x="3977640" y="1386840"/>
                  <a:ext cx="2087880" cy="190500"/>
                </a:xfrm>
                <a:prstGeom prst="stripedRightArrow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kumimoji="1" lang="ja-JP" altLang="en-US" sz="1100"/>
                </a:p>
              </p:txBody>
            </p:sp>
            <p:sp>
              <p:nvSpPr>
                <p:cNvPr id="104" name="ストライプ矢印 103"/>
                <p:cNvSpPr/>
                <p:nvPr/>
              </p:nvSpPr>
              <p:spPr>
                <a:xfrm rot="1094057">
                  <a:off x="3939539" y="1821180"/>
                  <a:ext cx="2087880" cy="190500"/>
                </a:xfrm>
                <a:prstGeom prst="stripedRightArrow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kumimoji="1" lang="ja-JP" altLang="en-US" sz="1100"/>
                </a:p>
              </p:txBody>
            </p:sp>
          </p:grpSp>
          <p:grpSp>
            <p:nvGrpSpPr>
              <p:cNvPr id="96" name="グループ化 95"/>
              <p:cNvGrpSpPr/>
              <p:nvPr/>
            </p:nvGrpSpPr>
            <p:grpSpPr>
              <a:xfrm>
                <a:off x="373380" y="45720"/>
                <a:ext cx="6004560" cy="3169920"/>
                <a:chOff x="373380" y="45720"/>
                <a:chExt cx="6004560" cy="3169920"/>
              </a:xfrm>
            </p:grpSpPr>
            <p:sp>
              <p:nvSpPr>
                <p:cNvPr id="97" name="四角形吹き出し 96"/>
                <p:cNvSpPr/>
                <p:nvPr/>
              </p:nvSpPr>
              <p:spPr>
                <a:xfrm>
                  <a:off x="373380" y="2065020"/>
                  <a:ext cx="1508760" cy="396240"/>
                </a:xfrm>
                <a:prstGeom prst="wedgeRectCallout">
                  <a:avLst>
                    <a:gd name="adj1" fmla="val 168980"/>
                    <a:gd name="adj2" fmla="val -171334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kumimoji="1" lang="en-US" altLang="ja-JP" sz="1200" b="1">
                      <a:solidFill>
                        <a:sysClr val="windowText" lastClr="000000"/>
                      </a:solidFill>
                    </a:rPr>
                    <a:t>PCBA set to empty CH</a:t>
                  </a:r>
                  <a:endParaRPr kumimoji="1" lang="ja-JP" altLang="en-US" sz="1200" b="1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98" name="四角形吹き出し 97"/>
                <p:cNvSpPr/>
                <p:nvPr/>
              </p:nvSpPr>
              <p:spPr>
                <a:xfrm>
                  <a:off x="4983480" y="45720"/>
                  <a:ext cx="1394460" cy="586740"/>
                </a:xfrm>
                <a:prstGeom prst="wedgeRectCallout">
                  <a:avLst>
                    <a:gd name="adj1" fmla="val -31020"/>
                    <a:gd name="adj2" fmla="val 199820"/>
                  </a:avLst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kumimoji="1" lang="en-US" altLang="ja-JP" sz="1200" b="1">
                      <a:solidFill>
                        <a:sysClr val="windowText" lastClr="000000"/>
                      </a:solidFill>
                    </a:rPr>
                    <a:t>Take out</a:t>
                  </a:r>
                </a:p>
                <a:p>
                  <a:pPr algn="l"/>
                  <a:r>
                    <a:rPr kumimoji="1" lang="en-US" altLang="ja-JP" sz="1200" b="1">
                      <a:solidFill>
                        <a:sysClr val="windowText" lastClr="000000"/>
                      </a:solidFill>
                    </a:rPr>
                    <a:t>and</a:t>
                  </a:r>
                </a:p>
                <a:p>
                  <a:pPr algn="l"/>
                  <a:r>
                    <a:rPr kumimoji="1" lang="en-US" altLang="ja-JP" sz="1200" b="1">
                      <a:solidFill>
                        <a:sysClr val="windowText" lastClr="000000"/>
                      </a:solidFill>
                    </a:rPr>
                    <a:t>set to Pass tray</a:t>
                  </a:r>
                  <a:endParaRPr kumimoji="1" lang="ja-JP" altLang="en-US" sz="1200" b="1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99" name="四角形吹き出し 98"/>
                <p:cNvSpPr/>
                <p:nvPr/>
              </p:nvSpPr>
              <p:spPr>
                <a:xfrm>
                  <a:off x="1630680" y="114300"/>
                  <a:ext cx="1028700" cy="396240"/>
                </a:xfrm>
                <a:prstGeom prst="wedgeRectCallout">
                  <a:avLst>
                    <a:gd name="adj1" fmla="val -31020"/>
                    <a:gd name="adj2" fmla="val 199820"/>
                  </a:avLst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kumimoji="1" lang="en-US" altLang="ja-JP" sz="1200" b="1">
                      <a:solidFill>
                        <a:sysClr val="windowText" lastClr="000000"/>
                      </a:solidFill>
                    </a:rPr>
                    <a:t>Pick-up</a:t>
                  </a:r>
                  <a:r>
                    <a:rPr kumimoji="1" lang="en-US" altLang="ja-JP" sz="1200" b="1" baseline="0">
                      <a:solidFill>
                        <a:sysClr val="windowText" lastClr="000000"/>
                      </a:solidFill>
                    </a:rPr>
                    <a:t> from tray</a:t>
                  </a:r>
                  <a:endParaRPr kumimoji="1" lang="ja-JP" altLang="en-US" sz="1200" b="1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00" name="四角形吹き出し 99"/>
                <p:cNvSpPr/>
                <p:nvPr/>
              </p:nvSpPr>
              <p:spPr>
                <a:xfrm>
                  <a:off x="4564380" y="2628900"/>
                  <a:ext cx="1394460" cy="586740"/>
                </a:xfrm>
                <a:prstGeom prst="wedgeRectCallout">
                  <a:avLst>
                    <a:gd name="adj1" fmla="val -5883"/>
                    <a:gd name="adj2" fmla="val -135245"/>
                  </a:avLst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1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kumimoji="1" lang="en-US" altLang="ja-JP" sz="1200" b="1" dirty="0">
                      <a:solidFill>
                        <a:sysClr val="windowText" lastClr="000000"/>
                      </a:solidFill>
                    </a:rPr>
                    <a:t>Take out</a:t>
                  </a:r>
                </a:p>
                <a:p>
                  <a:pPr algn="l"/>
                  <a:r>
                    <a:rPr kumimoji="1" lang="en-US" altLang="ja-JP" sz="1200" b="1" dirty="0">
                      <a:solidFill>
                        <a:sysClr val="windowText" lastClr="000000"/>
                      </a:solidFill>
                    </a:rPr>
                    <a:t>and</a:t>
                  </a:r>
                </a:p>
                <a:p>
                  <a:pPr algn="l"/>
                  <a:r>
                    <a:rPr kumimoji="1" lang="en-US" altLang="ja-JP" sz="1200" b="1" dirty="0">
                      <a:solidFill>
                        <a:sysClr val="windowText" lastClr="000000"/>
                      </a:solidFill>
                    </a:rPr>
                    <a:t>set to Fail tray</a:t>
                  </a:r>
                  <a:endParaRPr kumimoji="1" lang="ja-JP" altLang="en-US" sz="1200" b="1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</p:grpSp>
      <p:sp>
        <p:nvSpPr>
          <p:cNvPr id="111" name="テキスト ボックス 110"/>
          <p:cNvSpPr txBox="1"/>
          <p:nvPr/>
        </p:nvSpPr>
        <p:spPr>
          <a:xfrm>
            <a:off x="388116" y="3818875"/>
            <a:ext cx="2627877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2CH auto FCT tester diagram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549803"/>
      </p:ext>
    </p:extLst>
  </p:cSld>
  <p:clrMapOvr>
    <a:masterClrMapping/>
  </p:clrMapOvr>
</p:sld>
</file>

<file path=ppt/theme/theme1.xml><?xml version="1.0" encoding="utf-8"?>
<a:theme xmlns:a="http://schemas.openxmlformats.org/drawingml/2006/main" name="要素技術デザイン2012">
  <a:themeElements>
    <a:clrScheme name="ミネベア_original2015">
      <a:dk1>
        <a:srgbClr val="000000"/>
      </a:dk1>
      <a:lt1>
        <a:srgbClr val="FFFFFF"/>
      </a:lt1>
      <a:dk2>
        <a:srgbClr val="003399"/>
      </a:dk2>
      <a:lt2>
        <a:srgbClr val="CCFFFF"/>
      </a:lt2>
      <a:accent1>
        <a:srgbClr val="0033CC"/>
      </a:accent1>
      <a:accent2>
        <a:srgbClr val="FF3300"/>
      </a:accent2>
      <a:accent3>
        <a:srgbClr val="006600"/>
      </a:accent3>
      <a:accent4>
        <a:srgbClr val="6600FF"/>
      </a:accent4>
      <a:accent5>
        <a:srgbClr val="FF9900"/>
      </a:accent5>
      <a:accent6>
        <a:srgbClr val="99CC00"/>
      </a:accent6>
      <a:hlink>
        <a:srgbClr val="0033CC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112</Words>
  <Application>Microsoft Office PowerPoint</Application>
  <PresentationFormat>ワイド画面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要素技術デザイン2012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Shunsuke Kamimura</dc:creator>
  <cp:lastModifiedBy>Asb</cp:lastModifiedBy>
  <cp:revision>27</cp:revision>
  <cp:lastPrinted>2025-07-25T01:57:44Z</cp:lastPrinted>
  <dcterms:created xsi:type="dcterms:W3CDTF">2017-01-11T00:32:41Z</dcterms:created>
  <dcterms:modified xsi:type="dcterms:W3CDTF">2026-05-21T05:27:37Z</dcterms:modified>
</cp:coreProperties>
</file>