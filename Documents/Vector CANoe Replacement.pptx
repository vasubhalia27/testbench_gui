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76" r:id="rId2"/>
    <p:sldId id="277" r:id="rId3"/>
    <p:sldId id="268" r:id="rId4"/>
    <p:sldId id="278" r:id="rId5"/>
  </p:sldIdLst>
  <p:sldSz cx="12192000" cy="6858000"/>
  <p:notesSz cx="6807200" cy="9939338"/>
  <p:embeddedFontLst>
    <p:embeddedFont>
      <p:font typeface="Helvetica Neue" panose="020B0604020202020204" charset="0"/>
      <p:regular r:id="rId7"/>
      <p:bold r:id="rId8"/>
      <p:italic r:id="rId9"/>
      <p:boldItalic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u4hadnChYsCcCOxllhl2gLlZ1l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neric Login" initials="GL" lastIdx="1" clrIdx="0">
    <p:extLst>
      <p:ext uri="{19B8F6BF-5375-455C-9EA6-DF929625EA0E}">
        <p15:presenceInfo xmlns:p15="http://schemas.microsoft.com/office/powerpoint/2012/main" userId="Generic Log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 showGuides="1">
      <p:cViewPr varScale="1">
        <p:scale>
          <a:sx n="126" d="100"/>
          <a:sy n="126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38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C">
  <p:cSld name="1_Content Slide - C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/>
          <p:nvPr/>
        </p:nvSpPr>
        <p:spPr>
          <a:xfrm>
            <a:off x="246126" y="6372234"/>
            <a:ext cx="893001" cy="405752"/>
          </a:xfrm>
          <a:custGeom>
            <a:avLst/>
            <a:gdLst/>
            <a:ahLst/>
            <a:cxnLst/>
            <a:rect l="l" t="t" r="r" b="b"/>
            <a:pathLst>
              <a:path w="1023239" h="464928" extrusionOk="0">
                <a:moveTo>
                  <a:pt x="0" y="0"/>
                </a:moveTo>
                <a:lnTo>
                  <a:pt x="1023239" y="0"/>
                </a:lnTo>
                <a:lnTo>
                  <a:pt x="1023239" y="464928"/>
                </a:lnTo>
                <a:lnTo>
                  <a:pt x="0" y="46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" name="Google Shape;48;p31"/>
          <p:cNvSpPr/>
          <p:nvPr/>
        </p:nvSpPr>
        <p:spPr>
          <a:xfrm>
            <a:off x="11506200" y="6438088"/>
            <a:ext cx="685800" cy="264314"/>
          </a:xfrm>
          <a:custGeom>
            <a:avLst/>
            <a:gdLst/>
            <a:ahLst/>
            <a:cxnLst/>
            <a:rect l="l" t="t" r="r" b="b"/>
            <a:pathLst>
              <a:path w="270933" h="104420" extrusionOk="0">
                <a:moveTo>
                  <a:pt x="0" y="0"/>
                </a:moveTo>
                <a:lnTo>
                  <a:pt x="270933" y="0"/>
                </a:lnTo>
                <a:lnTo>
                  <a:pt x="270933" y="104420"/>
                </a:lnTo>
                <a:lnTo>
                  <a:pt x="0" y="10442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</a:pPr>
            <a:fld id="{00000000-1234-1234-1234-123412341234}" type="slidenum">
              <a:rPr lang="ja-JP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31"/>
          <p:cNvSpPr txBox="1"/>
          <p:nvPr/>
        </p:nvSpPr>
        <p:spPr>
          <a:xfrm>
            <a:off x="2858004" y="6445922"/>
            <a:ext cx="6475992" cy="2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2646"/>
              </a:lnSpc>
              <a:spcBef>
                <a:spcPts val="0"/>
              </a:spcBef>
              <a:spcAft>
                <a:spcPts val="0"/>
              </a:spcAft>
              <a:buClr>
                <a:srgbClr val="0066B3"/>
              </a:buClr>
              <a:buSzPts val="563"/>
              <a:buFont typeface="Helvetica Neue"/>
              <a:buNone/>
            </a:pPr>
            <a:r>
              <a:rPr lang="ja-JP" sz="563" b="1" i="0" u="none" strike="noStrike" cap="none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  <a:r>
              <a:rPr lang="ja-JP" sz="563" b="0" i="0" u="none" strike="noStrike" cap="none">
                <a:solidFill>
                  <a:srgbClr val="01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©Minebea AccessSolutions. This presentation is the property of Minebea AccessSolutions and contains confidential information. Distribution to third parties is strictly prohibited without written consent.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1"/>
          <p:cNvCxnSpPr/>
          <p:nvPr/>
        </p:nvCxnSpPr>
        <p:spPr>
          <a:xfrm>
            <a:off x="-1" y="6282491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1" name="Google Shape;51;p31"/>
          <p:cNvGrpSpPr/>
          <p:nvPr/>
        </p:nvGrpSpPr>
        <p:grpSpPr>
          <a:xfrm>
            <a:off x="-87644" y="167117"/>
            <a:ext cx="841231" cy="265128"/>
            <a:chOff x="6406685" y="159886"/>
            <a:chExt cx="964256" cy="108012"/>
          </a:xfrm>
        </p:grpSpPr>
        <p:sp>
          <p:nvSpPr>
            <p:cNvPr id="52" name="Google Shape;52;p31"/>
            <p:cNvSpPr/>
            <p:nvPr/>
          </p:nvSpPr>
          <p:spPr>
            <a:xfrm>
              <a:off x="6406685" y="159886"/>
              <a:ext cx="892247" cy="108012"/>
            </a:xfrm>
            <a:prstGeom prst="parallelogram">
              <a:avLst>
                <a:gd name="adj" fmla="val 25000"/>
              </a:avLst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1"/>
            <p:cNvSpPr/>
            <p:nvPr/>
          </p:nvSpPr>
          <p:spPr>
            <a:xfrm>
              <a:off x="6406686" y="201878"/>
              <a:ext cx="964255" cy="66020"/>
            </a:xfrm>
            <a:prstGeom prst="parallelogram">
              <a:avLst>
                <a:gd name="adj" fmla="val 25000"/>
              </a:avLst>
            </a:prstGeom>
            <a:solidFill>
              <a:srgbClr val="0066B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" name="Google Shape;54;p31"/>
          <p:cNvCxnSpPr/>
          <p:nvPr/>
        </p:nvCxnSpPr>
        <p:spPr>
          <a:xfrm>
            <a:off x="-1" y="575509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812615" y="93614"/>
            <a:ext cx="7728818" cy="48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2400"/>
              <a:buNone/>
              <a:defRPr sz="24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2"/>
          </p:nvPr>
        </p:nvSpPr>
        <p:spPr>
          <a:xfrm>
            <a:off x="785813" y="1092200"/>
            <a:ext cx="1253496" cy="44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I">
  <p:cSld name="Title Slide - I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6905" y="733658"/>
            <a:ext cx="7275095" cy="612434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7"/>
          <p:cNvSpPr/>
          <p:nvPr/>
        </p:nvSpPr>
        <p:spPr>
          <a:xfrm>
            <a:off x="586796" y="488836"/>
            <a:ext cx="2808419" cy="168505"/>
          </a:xfrm>
          <a:custGeom>
            <a:avLst/>
            <a:gdLst/>
            <a:ahLst/>
            <a:cxnLst/>
            <a:rect l="l" t="t" r="r" b="b"/>
            <a:pathLst>
              <a:path w="2808419" h="168505" extrusionOk="0">
                <a:moveTo>
                  <a:pt x="0" y="0"/>
                </a:moveTo>
                <a:lnTo>
                  <a:pt x="2808419" y="0"/>
                </a:lnTo>
                <a:lnTo>
                  <a:pt x="2808419" y="168505"/>
                </a:lnTo>
                <a:lnTo>
                  <a:pt x="0" y="16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" name="Google Shape;74;p37"/>
          <p:cNvSpPr/>
          <p:nvPr/>
        </p:nvSpPr>
        <p:spPr>
          <a:xfrm>
            <a:off x="9982200" y="320652"/>
            <a:ext cx="1624403" cy="738078"/>
          </a:xfrm>
          <a:custGeom>
            <a:avLst/>
            <a:gdLst/>
            <a:ahLst/>
            <a:cxnLst/>
            <a:rect l="l" t="t" r="r" b="b"/>
            <a:pathLst>
              <a:path w="1624403" h="738078" extrusionOk="0">
                <a:moveTo>
                  <a:pt x="0" y="0"/>
                </a:moveTo>
                <a:lnTo>
                  <a:pt x="1624403" y="0"/>
                </a:lnTo>
                <a:lnTo>
                  <a:pt x="1624403" y="738078"/>
                </a:lnTo>
                <a:lnTo>
                  <a:pt x="0" y="738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5" name="Google Shape;75;p37"/>
          <p:cNvSpPr txBox="1"/>
          <p:nvPr/>
        </p:nvSpPr>
        <p:spPr>
          <a:xfrm>
            <a:off x="5057029" y="6505200"/>
            <a:ext cx="2084018" cy="19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A6A6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>
            <a:off x="611554" y="2615882"/>
            <a:ext cx="1939853" cy="469449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2"/>
          </p:nvPr>
        </p:nvSpPr>
        <p:spPr>
          <a:xfrm>
            <a:off x="611555" y="3252429"/>
            <a:ext cx="5533054" cy="65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4000"/>
              <a:buNone/>
              <a:defRPr sz="4000" b="1">
                <a:solidFill>
                  <a:srgbClr val="0066B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body" idx="3"/>
          </p:nvPr>
        </p:nvSpPr>
        <p:spPr>
          <a:xfrm>
            <a:off x="611554" y="4055277"/>
            <a:ext cx="55330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S">
  <p:cSld name="Title Slide - 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6905" y="733658"/>
            <a:ext cx="7275095" cy="612434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8"/>
          <p:cNvSpPr/>
          <p:nvPr/>
        </p:nvSpPr>
        <p:spPr>
          <a:xfrm>
            <a:off x="586796" y="488836"/>
            <a:ext cx="2808419" cy="168505"/>
          </a:xfrm>
          <a:custGeom>
            <a:avLst/>
            <a:gdLst/>
            <a:ahLst/>
            <a:cxnLst/>
            <a:rect l="l" t="t" r="r" b="b"/>
            <a:pathLst>
              <a:path w="2808419" h="168505" extrusionOk="0">
                <a:moveTo>
                  <a:pt x="0" y="0"/>
                </a:moveTo>
                <a:lnTo>
                  <a:pt x="2808419" y="0"/>
                </a:lnTo>
                <a:lnTo>
                  <a:pt x="2808419" y="168505"/>
                </a:lnTo>
                <a:lnTo>
                  <a:pt x="0" y="16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2" name="Google Shape;82;p38"/>
          <p:cNvSpPr/>
          <p:nvPr/>
        </p:nvSpPr>
        <p:spPr>
          <a:xfrm>
            <a:off x="9982200" y="320652"/>
            <a:ext cx="1624403" cy="738078"/>
          </a:xfrm>
          <a:custGeom>
            <a:avLst/>
            <a:gdLst/>
            <a:ahLst/>
            <a:cxnLst/>
            <a:rect l="l" t="t" r="r" b="b"/>
            <a:pathLst>
              <a:path w="1624403" h="738078" extrusionOk="0">
                <a:moveTo>
                  <a:pt x="0" y="0"/>
                </a:moveTo>
                <a:lnTo>
                  <a:pt x="1624403" y="0"/>
                </a:lnTo>
                <a:lnTo>
                  <a:pt x="1624403" y="738078"/>
                </a:lnTo>
                <a:lnTo>
                  <a:pt x="0" y="738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3" name="Google Shape;83;p38"/>
          <p:cNvSpPr txBox="1"/>
          <p:nvPr/>
        </p:nvSpPr>
        <p:spPr>
          <a:xfrm>
            <a:off x="5057029" y="6505200"/>
            <a:ext cx="2084018" cy="19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A6A6A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SECRET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8"/>
          <p:cNvSpPr txBox="1">
            <a:spLocks noGrp="1"/>
          </p:cNvSpPr>
          <p:nvPr>
            <p:ph type="body" idx="1"/>
          </p:nvPr>
        </p:nvSpPr>
        <p:spPr>
          <a:xfrm>
            <a:off x="611554" y="2615882"/>
            <a:ext cx="1939853" cy="469449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body" idx="2"/>
          </p:nvPr>
        </p:nvSpPr>
        <p:spPr>
          <a:xfrm>
            <a:off x="611555" y="3252429"/>
            <a:ext cx="5533054" cy="65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4000"/>
              <a:buNone/>
              <a:defRPr sz="4000" b="1">
                <a:solidFill>
                  <a:srgbClr val="0066B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body" idx="3"/>
          </p:nvPr>
        </p:nvSpPr>
        <p:spPr>
          <a:xfrm>
            <a:off x="611554" y="4055277"/>
            <a:ext cx="55330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I">
  <p:cSld name="Agenda - I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9"/>
          <p:cNvSpPr/>
          <p:nvPr/>
        </p:nvSpPr>
        <p:spPr>
          <a:xfrm>
            <a:off x="246126" y="6372234"/>
            <a:ext cx="893001" cy="405752"/>
          </a:xfrm>
          <a:custGeom>
            <a:avLst/>
            <a:gdLst/>
            <a:ahLst/>
            <a:cxnLst/>
            <a:rect l="l" t="t" r="r" b="b"/>
            <a:pathLst>
              <a:path w="1023239" h="464928" extrusionOk="0">
                <a:moveTo>
                  <a:pt x="0" y="0"/>
                </a:moveTo>
                <a:lnTo>
                  <a:pt x="1023239" y="0"/>
                </a:lnTo>
                <a:lnTo>
                  <a:pt x="1023239" y="464928"/>
                </a:lnTo>
                <a:lnTo>
                  <a:pt x="0" y="46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39"/>
          <p:cNvSpPr/>
          <p:nvPr/>
        </p:nvSpPr>
        <p:spPr>
          <a:xfrm>
            <a:off x="11506200" y="6438088"/>
            <a:ext cx="685800" cy="264314"/>
          </a:xfrm>
          <a:custGeom>
            <a:avLst/>
            <a:gdLst/>
            <a:ahLst/>
            <a:cxnLst/>
            <a:rect l="l" t="t" r="r" b="b"/>
            <a:pathLst>
              <a:path w="270933" h="104420" extrusionOk="0">
                <a:moveTo>
                  <a:pt x="0" y="0"/>
                </a:moveTo>
                <a:lnTo>
                  <a:pt x="270933" y="0"/>
                </a:lnTo>
                <a:lnTo>
                  <a:pt x="270933" y="104420"/>
                </a:lnTo>
                <a:lnTo>
                  <a:pt x="0" y="10442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" name="Google Shape;90;p39"/>
          <p:cNvCxnSpPr/>
          <p:nvPr/>
        </p:nvCxnSpPr>
        <p:spPr>
          <a:xfrm>
            <a:off x="-1" y="6282491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1" name="Google Shape;91;p39"/>
          <p:cNvGrpSpPr/>
          <p:nvPr/>
        </p:nvGrpSpPr>
        <p:grpSpPr>
          <a:xfrm>
            <a:off x="-87644" y="167117"/>
            <a:ext cx="841231" cy="265128"/>
            <a:chOff x="6406685" y="159886"/>
            <a:chExt cx="964256" cy="108012"/>
          </a:xfrm>
        </p:grpSpPr>
        <p:sp>
          <p:nvSpPr>
            <p:cNvPr id="92" name="Google Shape;92;p39"/>
            <p:cNvSpPr/>
            <p:nvPr/>
          </p:nvSpPr>
          <p:spPr>
            <a:xfrm>
              <a:off x="6406685" y="159886"/>
              <a:ext cx="892247" cy="108012"/>
            </a:xfrm>
            <a:prstGeom prst="parallelogram">
              <a:avLst>
                <a:gd name="adj" fmla="val 25000"/>
              </a:avLst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9"/>
            <p:cNvSpPr/>
            <p:nvPr/>
          </p:nvSpPr>
          <p:spPr>
            <a:xfrm>
              <a:off x="6406686" y="201878"/>
              <a:ext cx="964255" cy="66020"/>
            </a:xfrm>
            <a:prstGeom prst="parallelogram">
              <a:avLst>
                <a:gd name="adj" fmla="val 25000"/>
              </a:avLst>
            </a:prstGeom>
            <a:solidFill>
              <a:srgbClr val="0066B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" name="Google Shape;94;p39"/>
          <p:cNvCxnSpPr/>
          <p:nvPr/>
        </p:nvCxnSpPr>
        <p:spPr>
          <a:xfrm>
            <a:off x="-1" y="575509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39"/>
          <p:cNvSpPr txBox="1">
            <a:spLocks noGrp="1"/>
          </p:cNvSpPr>
          <p:nvPr>
            <p:ph type="body" idx="1"/>
          </p:nvPr>
        </p:nvSpPr>
        <p:spPr>
          <a:xfrm>
            <a:off x="812615" y="93614"/>
            <a:ext cx="7728818" cy="48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2400"/>
              <a:buNone/>
              <a:defRPr sz="24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9"/>
          <p:cNvSpPr txBox="1">
            <a:spLocks noGrp="1"/>
          </p:cNvSpPr>
          <p:nvPr>
            <p:ph type="body" idx="2"/>
          </p:nvPr>
        </p:nvSpPr>
        <p:spPr>
          <a:xfrm>
            <a:off x="2666370" y="1524963"/>
            <a:ext cx="7392029" cy="34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9"/>
          <p:cNvSpPr txBox="1">
            <a:spLocks noGrp="1"/>
          </p:cNvSpPr>
          <p:nvPr>
            <p:ph type="body" idx="3"/>
          </p:nvPr>
        </p:nvSpPr>
        <p:spPr>
          <a:xfrm>
            <a:off x="966158" y="1524963"/>
            <a:ext cx="1631503" cy="34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B3"/>
              </a:buClr>
              <a:buSzPts val="3600"/>
              <a:buNone/>
              <a:defRPr sz="3600" b="0">
                <a:solidFill>
                  <a:srgbClr val="0066B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9"/>
          <p:cNvSpPr txBox="1"/>
          <p:nvPr/>
        </p:nvSpPr>
        <p:spPr>
          <a:xfrm>
            <a:off x="2858004" y="6445922"/>
            <a:ext cx="6475992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26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3"/>
              <a:buFont typeface="Arial"/>
              <a:buNone/>
            </a:pPr>
            <a:r>
              <a:rPr lang="ja-JP" sz="563" b="1" i="0" u="none" strike="noStrike" cap="none">
                <a:solidFill>
                  <a:srgbClr val="0066B3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lang="ja-JP" sz="563" b="0" i="0" u="none" strike="noStrike" cap="none">
                <a:solidFill>
                  <a:srgbClr val="0166B3"/>
                </a:solidFill>
                <a:latin typeface="Arial"/>
                <a:ea typeface="Arial"/>
                <a:cs typeface="Arial"/>
                <a:sym typeface="Arial"/>
              </a:rPr>
              <a:t> ©Minebea AccessSolutions. This presentation is the property of Minebea AccessSolutions and for internal use only. Distribution to third parties is prohibited without written consent.</a:t>
            </a:r>
            <a:endParaRPr sz="563" b="0" i="0" u="none" strike="noStrike" cap="none">
              <a:solidFill>
                <a:srgbClr val="0166B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C">
  <p:cSld name="Agenda - C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/>
          <p:nvPr/>
        </p:nvSpPr>
        <p:spPr>
          <a:xfrm>
            <a:off x="246126" y="6372234"/>
            <a:ext cx="893001" cy="405752"/>
          </a:xfrm>
          <a:custGeom>
            <a:avLst/>
            <a:gdLst/>
            <a:ahLst/>
            <a:cxnLst/>
            <a:rect l="l" t="t" r="r" b="b"/>
            <a:pathLst>
              <a:path w="1023239" h="464928" extrusionOk="0">
                <a:moveTo>
                  <a:pt x="0" y="0"/>
                </a:moveTo>
                <a:lnTo>
                  <a:pt x="1023239" y="0"/>
                </a:lnTo>
                <a:lnTo>
                  <a:pt x="1023239" y="464928"/>
                </a:lnTo>
                <a:lnTo>
                  <a:pt x="0" y="46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40"/>
          <p:cNvSpPr/>
          <p:nvPr/>
        </p:nvSpPr>
        <p:spPr>
          <a:xfrm>
            <a:off x="11506200" y="6438088"/>
            <a:ext cx="685800" cy="264314"/>
          </a:xfrm>
          <a:custGeom>
            <a:avLst/>
            <a:gdLst/>
            <a:ahLst/>
            <a:cxnLst/>
            <a:rect l="l" t="t" r="r" b="b"/>
            <a:pathLst>
              <a:path w="270933" h="104420" extrusionOk="0">
                <a:moveTo>
                  <a:pt x="0" y="0"/>
                </a:moveTo>
                <a:lnTo>
                  <a:pt x="270933" y="0"/>
                </a:lnTo>
                <a:lnTo>
                  <a:pt x="270933" y="104420"/>
                </a:lnTo>
                <a:lnTo>
                  <a:pt x="0" y="10442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40"/>
          <p:cNvSpPr txBox="1"/>
          <p:nvPr/>
        </p:nvSpPr>
        <p:spPr>
          <a:xfrm>
            <a:off x="2858004" y="6445922"/>
            <a:ext cx="6475992" cy="2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26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3"/>
              <a:buFont typeface="Arial"/>
              <a:buNone/>
            </a:pPr>
            <a:r>
              <a:rPr lang="ja-JP" sz="563" b="1" i="0" u="none" strike="noStrike" cap="none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  <a:r>
              <a:rPr lang="ja-JP" sz="563" b="0" i="0" u="none" strike="noStrike" cap="none">
                <a:solidFill>
                  <a:srgbClr val="01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©Minebea AccessSolutions. This presentation is the property of Minebea AccessSolutions and contains confidential information. Distribution to third parties is strictly prohibited without written consent.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40"/>
          <p:cNvCxnSpPr/>
          <p:nvPr/>
        </p:nvCxnSpPr>
        <p:spPr>
          <a:xfrm>
            <a:off x="-1" y="6282491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4" name="Google Shape;104;p40"/>
          <p:cNvGrpSpPr/>
          <p:nvPr/>
        </p:nvGrpSpPr>
        <p:grpSpPr>
          <a:xfrm>
            <a:off x="-87644" y="167117"/>
            <a:ext cx="841231" cy="265128"/>
            <a:chOff x="6406685" y="159886"/>
            <a:chExt cx="964256" cy="108012"/>
          </a:xfrm>
        </p:grpSpPr>
        <p:sp>
          <p:nvSpPr>
            <p:cNvPr id="105" name="Google Shape;105;p40"/>
            <p:cNvSpPr/>
            <p:nvPr/>
          </p:nvSpPr>
          <p:spPr>
            <a:xfrm>
              <a:off x="6406685" y="159886"/>
              <a:ext cx="892247" cy="108012"/>
            </a:xfrm>
            <a:prstGeom prst="parallelogram">
              <a:avLst>
                <a:gd name="adj" fmla="val 25000"/>
              </a:avLst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0"/>
            <p:cNvSpPr/>
            <p:nvPr/>
          </p:nvSpPr>
          <p:spPr>
            <a:xfrm>
              <a:off x="6406686" y="201878"/>
              <a:ext cx="964255" cy="66020"/>
            </a:xfrm>
            <a:prstGeom prst="parallelogram">
              <a:avLst>
                <a:gd name="adj" fmla="val 25000"/>
              </a:avLst>
            </a:prstGeom>
            <a:solidFill>
              <a:srgbClr val="0066B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7" name="Google Shape;107;p40"/>
          <p:cNvCxnSpPr/>
          <p:nvPr/>
        </p:nvCxnSpPr>
        <p:spPr>
          <a:xfrm>
            <a:off x="-1" y="575509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40"/>
          <p:cNvSpPr txBox="1">
            <a:spLocks noGrp="1"/>
          </p:cNvSpPr>
          <p:nvPr>
            <p:ph type="body" idx="1"/>
          </p:nvPr>
        </p:nvSpPr>
        <p:spPr>
          <a:xfrm>
            <a:off x="812615" y="93614"/>
            <a:ext cx="7728818" cy="48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2400"/>
              <a:buNone/>
              <a:defRPr sz="24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0"/>
          <p:cNvSpPr txBox="1">
            <a:spLocks noGrp="1"/>
          </p:cNvSpPr>
          <p:nvPr>
            <p:ph type="body" idx="2"/>
          </p:nvPr>
        </p:nvSpPr>
        <p:spPr>
          <a:xfrm>
            <a:off x="2666370" y="1524963"/>
            <a:ext cx="7392029" cy="34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0"/>
          <p:cNvSpPr txBox="1">
            <a:spLocks noGrp="1"/>
          </p:cNvSpPr>
          <p:nvPr>
            <p:ph type="body" idx="3"/>
          </p:nvPr>
        </p:nvSpPr>
        <p:spPr>
          <a:xfrm>
            <a:off x="966158" y="1524963"/>
            <a:ext cx="1631503" cy="34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B3"/>
              </a:buClr>
              <a:buSzPts val="3600"/>
              <a:buNone/>
              <a:defRPr sz="3600" b="0">
                <a:solidFill>
                  <a:srgbClr val="0066B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1"/>
          <p:cNvSpPr/>
          <p:nvPr/>
        </p:nvSpPr>
        <p:spPr>
          <a:xfrm>
            <a:off x="-1438" y="0"/>
            <a:ext cx="12192000" cy="6857999"/>
          </a:xfrm>
          <a:prstGeom prst="rect">
            <a:avLst/>
          </a:prstGeom>
          <a:gradFill>
            <a:gsLst>
              <a:gs pos="0">
                <a:srgbClr val="EDF4FF">
                  <a:alpha val="72156"/>
                </a:srgbClr>
              </a:gs>
              <a:gs pos="37000">
                <a:srgbClr val="E5EFF8">
                  <a:alpha val="50196"/>
                </a:srgbClr>
              </a:gs>
              <a:gs pos="85000">
                <a:srgbClr val="64ACFF">
                  <a:alpha val="26274"/>
                </a:srgbClr>
              </a:gs>
              <a:gs pos="100000">
                <a:srgbClr val="64ACFF">
                  <a:alpha val="26274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1"/>
          <p:cNvSpPr/>
          <p:nvPr/>
        </p:nvSpPr>
        <p:spPr>
          <a:xfrm>
            <a:off x="862642" y="724619"/>
            <a:ext cx="10463841" cy="53828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1"/>
          <p:cNvCxnSpPr/>
          <p:nvPr/>
        </p:nvCxnSpPr>
        <p:spPr>
          <a:xfrm>
            <a:off x="0" y="1891645"/>
            <a:ext cx="2130726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41"/>
          <p:cNvSpPr/>
          <p:nvPr/>
        </p:nvSpPr>
        <p:spPr>
          <a:xfrm>
            <a:off x="1" y="1244732"/>
            <a:ext cx="2130726" cy="551955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1"/>
          </p:nvPr>
        </p:nvSpPr>
        <p:spPr>
          <a:xfrm>
            <a:off x="2130726" y="2309863"/>
            <a:ext cx="7928057" cy="221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4000"/>
              <a:buNone/>
              <a:defRPr sz="40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body" idx="2"/>
          </p:nvPr>
        </p:nvSpPr>
        <p:spPr>
          <a:xfrm>
            <a:off x="558564" y="1105900"/>
            <a:ext cx="2004202" cy="84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S">
  <p:cSld name="Content Slide - 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2"/>
          <p:cNvSpPr/>
          <p:nvPr/>
        </p:nvSpPr>
        <p:spPr>
          <a:xfrm>
            <a:off x="246126" y="6372234"/>
            <a:ext cx="893001" cy="405752"/>
          </a:xfrm>
          <a:custGeom>
            <a:avLst/>
            <a:gdLst/>
            <a:ahLst/>
            <a:cxnLst/>
            <a:rect l="l" t="t" r="r" b="b"/>
            <a:pathLst>
              <a:path w="1023239" h="464928" extrusionOk="0">
                <a:moveTo>
                  <a:pt x="0" y="0"/>
                </a:moveTo>
                <a:lnTo>
                  <a:pt x="1023239" y="0"/>
                </a:lnTo>
                <a:lnTo>
                  <a:pt x="1023239" y="464928"/>
                </a:lnTo>
                <a:lnTo>
                  <a:pt x="0" y="46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1" name="Google Shape;121;p42"/>
          <p:cNvSpPr/>
          <p:nvPr/>
        </p:nvSpPr>
        <p:spPr>
          <a:xfrm>
            <a:off x="11506200" y="6438088"/>
            <a:ext cx="685800" cy="264314"/>
          </a:xfrm>
          <a:custGeom>
            <a:avLst/>
            <a:gdLst/>
            <a:ahLst/>
            <a:cxnLst/>
            <a:rect l="l" t="t" r="r" b="b"/>
            <a:pathLst>
              <a:path w="270933" h="104420" extrusionOk="0">
                <a:moveTo>
                  <a:pt x="0" y="0"/>
                </a:moveTo>
                <a:lnTo>
                  <a:pt x="270933" y="0"/>
                </a:lnTo>
                <a:lnTo>
                  <a:pt x="270933" y="104420"/>
                </a:lnTo>
                <a:lnTo>
                  <a:pt x="0" y="10442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42"/>
          <p:cNvSpPr txBox="1"/>
          <p:nvPr/>
        </p:nvSpPr>
        <p:spPr>
          <a:xfrm>
            <a:off x="2858004" y="6445922"/>
            <a:ext cx="6475992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26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3"/>
              <a:buFont typeface="Arial"/>
              <a:buNone/>
            </a:pPr>
            <a:r>
              <a:rPr lang="ja-JP" sz="563" b="1" i="0" u="none" strike="noStrike" cap="none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SECRET</a:t>
            </a:r>
            <a:r>
              <a:rPr lang="ja-JP" sz="563" b="0" i="0" u="none" strike="noStrike" cap="none">
                <a:solidFill>
                  <a:srgbClr val="01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©Minebea AccessSolutions. This presentation is the property of Minebea AccessSolutions and contains secret information. Any distribution or publication without express written consent is illegal.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42"/>
          <p:cNvCxnSpPr/>
          <p:nvPr/>
        </p:nvCxnSpPr>
        <p:spPr>
          <a:xfrm>
            <a:off x="-1" y="6282491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4" name="Google Shape;124;p42"/>
          <p:cNvGrpSpPr/>
          <p:nvPr/>
        </p:nvGrpSpPr>
        <p:grpSpPr>
          <a:xfrm>
            <a:off x="-87644" y="167117"/>
            <a:ext cx="841231" cy="265128"/>
            <a:chOff x="6406685" y="159886"/>
            <a:chExt cx="964256" cy="108012"/>
          </a:xfrm>
        </p:grpSpPr>
        <p:sp>
          <p:nvSpPr>
            <p:cNvPr id="125" name="Google Shape;125;p42"/>
            <p:cNvSpPr/>
            <p:nvPr/>
          </p:nvSpPr>
          <p:spPr>
            <a:xfrm>
              <a:off x="6406685" y="159886"/>
              <a:ext cx="892247" cy="108012"/>
            </a:xfrm>
            <a:prstGeom prst="parallelogram">
              <a:avLst>
                <a:gd name="adj" fmla="val 25000"/>
              </a:avLst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2"/>
            <p:cNvSpPr/>
            <p:nvPr/>
          </p:nvSpPr>
          <p:spPr>
            <a:xfrm>
              <a:off x="6406686" y="201878"/>
              <a:ext cx="964255" cy="66020"/>
            </a:xfrm>
            <a:prstGeom prst="parallelogram">
              <a:avLst>
                <a:gd name="adj" fmla="val 25000"/>
              </a:avLst>
            </a:prstGeom>
            <a:solidFill>
              <a:srgbClr val="0066B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7" name="Google Shape;127;p42"/>
          <p:cNvCxnSpPr/>
          <p:nvPr/>
        </p:nvCxnSpPr>
        <p:spPr>
          <a:xfrm>
            <a:off x="-1" y="575509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42"/>
          <p:cNvSpPr txBox="1">
            <a:spLocks noGrp="1"/>
          </p:cNvSpPr>
          <p:nvPr>
            <p:ph type="body" idx="1"/>
          </p:nvPr>
        </p:nvSpPr>
        <p:spPr>
          <a:xfrm>
            <a:off x="812615" y="93614"/>
            <a:ext cx="7728818" cy="48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2400"/>
              <a:buNone/>
              <a:defRPr sz="24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2"/>
          <p:cNvSpPr txBox="1">
            <a:spLocks noGrp="1"/>
          </p:cNvSpPr>
          <p:nvPr>
            <p:ph type="body" idx="2"/>
          </p:nvPr>
        </p:nvSpPr>
        <p:spPr>
          <a:xfrm>
            <a:off x="785813" y="1092200"/>
            <a:ext cx="1253496" cy="44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>
  <p:cSld name="Last Slide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07833" y="389291"/>
            <a:ext cx="7684168" cy="6468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/>
        </p:nvSpPr>
        <p:spPr>
          <a:xfrm>
            <a:off x="1019558" y="2101667"/>
            <a:ext cx="435956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ja-JP" sz="3200" b="1" i="0" u="none" strike="noStrike" cap="none">
                <a:solidFill>
                  <a:srgbClr val="0267B4"/>
                </a:solidFill>
                <a:latin typeface="Arial"/>
                <a:ea typeface="Arial"/>
                <a:cs typeface="Arial"/>
                <a:sym typeface="Arial"/>
              </a:rPr>
              <a:t>Thank you for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ja-JP" sz="3200" b="1" i="0" u="none" strike="noStrike" cap="none">
                <a:solidFill>
                  <a:srgbClr val="0267B4"/>
                </a:solidFill>
                <a:latin typeface="Arial"/>
                <a:ea typeface="Arial"/>
                <a:cs typeface="Arial"/>
                <a:sym typeface="Arial"/>
              </a:rPr>
              <a:t>your attention!</a:t>
            </a:r>
            <a:endParaRPr sz="3200" b="1" i="0" u="none" strike="noStrike" cap="none">
              <a:solidFill>
                <a:srgbClr val="0267B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3"/>
          <p:cNvSpPr/>
          <p:nvPr/>
        </p:nvSpPr>
        <p:spPr>
          <a:xfrm rot="10800000" flipH="1">
            <a:off x="0" y="522515"/>
            <a:ext cx="12192000" cy="54473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3"/>
          <p:cNvSpPr/>
          <p:nvPr/>
        </p:nvSpPr>
        <p:spPr>
          <a:xfrm>
            <a:off x="2183877" y="4101286"/>
            <a:ext cx="1917364" cy="115042"/>
          </a:xfrm>
          <a:custGeom>
            <a:avLst/>
            <a:gdLst/>
            <a:ahLst/>
            <a:cxnLst/>
            <a:rect l="l" t="t" r="r" b="b"/>
            <a:pathLst>
              <a:path w="2808419" h="168505" extrusionOk="0">
                <a:moveTo>
                  <a:pt x="0" y="0"/>
                </a:moveTo>
                <a:lnTo>
                  <a:pt x="2808419" y="0"/>
                </a:lnTo>
                <a:lnTo>
                  <a:pt x="2808419" y="168505"/>
                </a:lnTo>
                <a:lnTo>
                  <a:pt x="0" y="16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5" name="Google Shape;135;p43"/>
          <p:cNvSpPr/>
          <p:nvPr/>
        </p:nvSpPr>
        <p:spPr>
          <a:xfrm>
            <a:off x="2348435" y="4465944"/>
            <a:ext cx="1624403" cy="738078"/>
          </a:xfrm>
          <a:custGeom>
            <a:avLst/>
            <a:gdLst/>
            <a:ahLst/>
            <a:cxnLst/>
            <a:rect l="l" t="t" r="r" b="b"/>
            <a:pathLst>
              <a:path w="1624403" h="738078" extrusionOk="0">
                <a:moveTo>
                  <a:pt x="0" y="0"/>
                </a:moveTo>
                <a:lnTo>
                  <a:pt x="1624403" y="0"/>
                </a:lnTo>
                <a:lnTo>
                  <a:pt x="1624403" y="738078"/>
                </a:lnTo>
                <a:lnTo>
                  <a:pt x="0" y="738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36" name="Google Shape;136;p43" descr="Datei:Logo minebeamitsumi.png – Wikipedi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18353" y="3706910"/>
            <a:ext cx="1484569" cy="228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4"/>
          <p:cNvSpPr/>
          <p:nvPr/>
        </p:nvSpPr>
        <p:spPr>
          <a:xfrm>
            <a:off x="351002" y="1066970"/>
            <a:ext cx="11489999" cy="5532121"/>
          </a:xfrm>
          <a:prstGeom prst="rect">
            <a:avLst/>
          </a:prstGeom>
          <a:noFill/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4"/>
          <p:cNvSpPr/>
          <p:nvPr/>
        </p:nvSpPr>
        <p:spPr>
          <a:xfrm>
            <a:off x="556406" y="1236616"/>
            <a:ext cx="11082316" cy="5255624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4"/>
          <p:cNvSpPr txBox="1">
            <a:spLocks noGrp="1"/>
          </p:cNvSpPr>
          <p:nvPr>
            <p:ph type="sldNum" idx="12"/>
          </p:nvPr>
        </p:nvSpPr>
        <p:spPr>
          <a:xfrm>
            <a:off x="9448800" y="64922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body" idx="1"/>
          </p:nvPr>
        </p:nvSpPr>
        <p:spPr>
          <a:xfrm>
            <a:off x="795339" y="1401763"/>
            <a:ext cx="10674351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175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42" name="Google Shape;142;p44"/>
          <p:cNvCxnSpPr/>
          <p:nvPr/>
        </p:nvCxnSpPr>
        <p:spPr>
          <a:xfrm>
            <a:off x="556408" y="494564"/>
            <a:ext cx="2393" cy="453341"/>
          </a:xfrm>
          <a:prstGeom prst="straightConnector1">
            <a:avLst/>
          </a:prstGeom>
          <a:solidFill>
            <a:schemeClr val="accent1"/>
          </a:solidFill>
          <a:ln w="57150" cap="flat" cmpd="sng">
            <a:solidFill>
              <a:srgbClr val="005B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44"/>
          <p:cNvSpPr txBox="1">
            <a:spLocks noGrp="1"/>
          </p:cNvSpPr>
          <p:nvPr>
            <p:ph type="body" idx="2"/>
          </p:nvPr>
        </p:nvSpPr>
        <p:spPr>
          <a:xfrm>
            <a:off x="637771" y="494563"/>
            <a:ext cx="11190156" cy="45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5BAC"/>
              </a:buClr>
              <a:buSzPts val="2400"/>
              <a:buFont typeface="Arial"/>
              <a:buNone/>
              <a:defRPr sz="3200" b="0" i="0" u="none" strike="noStrike" cap="none">
                <a:solidFill>
                  <a:srgbClr val="005BA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351002" y="1066970"/>
            <a:ext cx="11489999" cy="5532121"/>
          </a:xfrm>
          <a:prstGeom prst="rect">
            <a:avLst/>
          </a:prstGeom>
          <a:noFill/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4"/>
          <p:cNvSpPr/>
          <p:nvPr/>
        </p:nvSpPr>
        <p:spPr>
          <a:xfrm>
            <a:off x="556406" y="1236616"/>
            <a:ext cx="11082316" cy="5255624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44"/>
          <p:cNvCxnSpPr/>
          <p:nvPr/>
        </p:nvCxnSpPr>
        <p:spPr>
          <a:xfrm>
            <a:off x="556408" y="494564"/>
            <a:ext cx="2393" cy="453341"/>
          </a:xfrm>
          <a:prstGeom prst="straightConnector1">
            <a:avLst/>
          </a:prstGeom>
          <a:solidFill>
            <a:schemeClr val="accent1"/>
          </a:solidFill>
          <a:ln w="57150" cap="flat" cmpd="sng">
            <a:solidFill>
              <a:srgbClr val="005BA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02510" y="53096"/>
            <a:ext cx="2258961" cy="481895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Objective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0" y="578338"/>
            <a:ext cx="12191999" cy="5767754"/>
          </a:xfrm>
        </p:spPr>
        <p:txBody>
          <a:bodyPr>
            <a:noAutofit/>
          </a:bodyPr>
          <a:lstStyle/>
          <a:p>
            <a:endParaRPr lang="en-IN" sz="1800" b="1" dirty="0"/>
          </a:p>
          <a:p>
            <a:pPr marL="228600" indent="0"/>
            <a:endParaRPr lang="en-IN" sz="1800" b="1" dirty="0" smtClean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80975" y="4491378"/>
            <a:ext cx="120110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60624" y="665031"/>
            <a:ext cx="8760053" cy="2708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b="1" dirty="0"/>
              <a:t>PEAK-System stack: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dirty="0"/>
              <a:t>Hardware: PCAN-USB (or PCAN-USB FD) for CAN, plus PLIN-USB for LIN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dirty="0"/>
              <a:t>Software: PCAN-Explorer + PLIN-View Pro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dirty="0"/>
              <a:t>Automation: PCAN-Basic API + PLIN API </a:t>
            </a:r>
            <a:r>
              <a:rPr lang="en-IN" dirty="0" smtClean="0"/>
              <a:t>(we </a:t>
            </a:r>
            <a:r>
              <a:rPr lang="en-IN" dirty="0"/>
              <a:t>can script test sequences and verdict logic)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Much </a:t>
            </a:r>
            <a:r>
              <a:rPr lang="en-IN" dirty="0"/>
              <a:t>cheaper than </a:t>
            </a:r>
            <a:r>
              <a:rPr lang="en-IN" dirty="0" err="1"/>
              <a:t>CANoe</a:t>
            </a:r>
            <a:r>
              <a:rPr lang="en-IN" dirty="0"/>
              <a:t> licenses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dirty="0"/>
              <a:t>Stable USB interfaces for production benches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dirty="0"/>
              <a:t>Good API support for automated EOL </a:t>
            </a:r>
            <a:r>
              <a:rPr lang="en-IN" dirty="0" smtClean="0"/>
              <a:t>testing</a:t>
            </a:r>
            <a:endParaRPr lang="en-IN" dirty="0"/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IN" dirty="0"/>
              <a:t>Easier to deploy on multiple stations</a:t>
            </a: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-1" y="3283758"/>
            <a:ext cx="8760053" cy="2708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b="1" dirty="0" smtClean="0"/>
              <a:t>EOL Requirements:</a:t>
            </a:r>
            <a:endParaRPr lang="en-IN" b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Reliable CAN and LIN communication at line tact time.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Automated pass/fail execution and report export.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Low setup effort for multiple stations.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Stable long-run operation in factory environment.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Low total cost of ownership (hardware + software + maintenance).</a:t>
            </a:r>
          </a:p>
        </p:txBody>
      </p:sp>
    </p:spTree>
    <p:extLst>
      <p:ext uri="{BB962C8B-B14F-4D97-AF65-F5344CB8AC3E}">
        <p14:creationId xmlns:p14="http://schemas.microsoft.com/office/powerpoint/2010/main" val="227456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12615" y="93614"/>
            <a:ext cx="5795314" cy="48189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Comparison view for </a:t>
            </a:r>
            <a:r>
              <a:rPr lang="en-US" dirty="0" smtClean="0"/>
              <a:t>decision </a:t>
            </a:r>
            <a:r>
              <a:rPr lang="en-US" dirty="0"/>
              <a:t>(EOL PCB testing: CAN + LIN)</a:t>
            </a:r>
            <a:r>
              <a:rPr lang="en-IN" dirty="0" smtClean="0"/>
              <a:t>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0" y="578338"/>
            <a:ext cx="12191999" cy="5767754"/>
          </a:xfrm>
        </p:spPr>
        <p:txBody>
          <a:bodyPr>
            <a:noAutofit/>
          </a:bodyPr>
          <a:lstStyle/>
          <a:p>
            <a:endParaRPr lang="en-IN" sz="1800" b="1" dirty="0"/>
          </a:p>
          <a:p>
            <a:pPr marL="228600" indent="0"/>
            <a:endParaRPr lang="en-IN" sz="1800" b="1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368747"/>
              </p:ext>
            </p:extLst>
          </p:nvPr>
        </p:nvGraphicFramePr>
        <p:xfrm>
          <a:off x="231968" y="726771"/>
          <a:ext cx="10515600" cy="32308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0979731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367452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126789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33877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Criteria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A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effectLst/>
                        </a:rPr>
                        <a:t>Kvaser</a:t>
                      </a:r>
                      <a:r>
                        <a:rPr lang="en-IN" dirty="0">
                          <a:effectLst/>
                        </a:rPr>
                        <a:t> Hybrid 2xCAN/LIN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A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PEAK PCAN-USB Pro FD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0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1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01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Verdict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01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9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Core fit for EOL (CAN + LIN)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7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Strong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7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Strong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5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1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Tie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D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4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CAN FD readiness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80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Available depending on exact variant/toolchain usage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80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1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1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Native CAN FD support focus in product line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301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Slight edge: PEAK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01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670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LIN support for production use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F01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1F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1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Good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F01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1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Good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7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Tie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8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0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1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46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Automation/API integration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0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1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Very good (CANlib ecosystem)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0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1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1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1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Very good (PCAN-Basic + LIN APIs)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01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1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1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Tie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401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501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1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08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Ease of multi-station rollout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9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Good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9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Very good (commonly cost-efficient replication)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1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Edge: PEAK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40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01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863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Software/tooling cost impact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8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Moderate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8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1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1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Usually lower overall bench cost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01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2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2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Edge: PEAK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502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01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142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Risk of migration from </a:t>
                      </a:r>
                      <a:r>
                        <a:rPr lang="en-US" dirty="0" err="1">
                          <a:effectLst/>
                        </a:rPr>
                        <a:t>CANoe</a:t>
                      </a:r>
                      <a:endParaRPr lang="en-US" dirty="0">
                        <a:effectLst/>
                      </a:endParaRP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30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1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Low-medium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30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Low-medium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B0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2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Tie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40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025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966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Best use case</a:t>
                      </a:r>
                    </a:p>
                  </a:txBody>
                  <a:tcPr marL="38100" marR="38100" marT="25400" marB="25400" anchor="ctr">
                    <a:lnL>
                      <a:noFill/>
                    </a:lnL>
                    <a:lnR w="6350" cap="flat" cmpd="sng" algn="ctr">
                      <a:solidFill>
                        <a:srgbClr val="40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If existing </a:t>
                      </a:r>
                      <a:r>
                        <a:rPr lang="en-US" dirty="0" err="1">
                          <a:effectLst/>
                        </a:rPr>
                        <a:t>Kvaser</a:t>
                      </a:r>
                      <a:r>
                        <a:rPr lang="en-US" dirty="0">
                          <a:effectLst/>
                        </a:rPr>
                        <a:t> ecosystem is already validated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401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If cost-optimized rollout is priority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802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Context-based</a:t>
                      </a: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0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02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920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17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12615" y="93614"/>
            <a:ext cx="2016468" cy="481895"/>
          </a:xfrm>
        </p:spPr>
        <p:txBody>
          <a:bodyPr>
            <a:normAutofit fontScale="55000" lnSpcReduction="20000"/>
          </a:bodyPr>
          <a:lstStyle/>
          <a:p>
            <a:r>
              <a:rPr lang="en-IN" dirty="0" smtClean="0"/>
              <a:t>Design with PEAK</a:t>
            </a:r>
            <a:r>
              <a:rPr lang="en-IN" dirty="0" smtClean="0"/>
              <a:t>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1141" y="655781"/>
            <a:ext cx="11094047" cy="682981"/>
          </a:xfrm>
        </p:spPr>
        <p:txBody>
          <a:bodyPr>
            <a:noAutofit/>
          </a:bodyPr>
          <a:lstStyle/>
          <a:p>
            <a:r>
              <a:rPr lang="en-US" sz="1200" dirty="0" smtClean="0"/>
              <a:t>PEAK </a:t>
            </a:r>
            <a:r>
              <a:rPr lang="en-US" sz="1200" dirty="0"/>
              <a:t>PCAN-USB Pro FD as the bench-side bus interface between the test PC and the </a:t>
            </a:r>
            <a:r>
              <a:rPr lang="en-US" sz="1200" dirty="0" smtClean="0"/>
              <a:t>DUT (Device Under Test). </a:t>
            </a:r>
            <a:r>
              <a:rPr lang="en-US" sz="1200" dirty="0"/>
              <a:t>The PC runs </a:t>
            </a:r>
            <a:r>
              <a:rPr lang="en-US" sz="1200" dirty="0" smtClean="0"/>
              <a:t>existing </a:t>
            </a:r>
            <a:r>
              <a:rPr lang="en-US" sz="1200" dirty="0"/>
              <a:t>GUI, </a:t>
            </a:r>
            <a:r>
              <a:rPr lang="en-US" sz="1200" dirty="0" smtClean="0"/>
              <a:t>automation</a:t>
            </a:r>
          </a:p>
          <a:p>
            <a:r>
              <a:rPr lang="en-US" sz="1200" dirty="0" smtClean="0"/>
              <a:t>logic</a:t>
            </a:r>
            <a:r>
              <a:rPr lang="en-US" sz="1200" dirty="0"/>
              <a:t>, and report generation. </a:t>
            </a:r>
            <a:r>
              <a:rPr lang="en-US" sz="1200" dirty="0" smtClean="0"/>
              <a:t>PEAK </a:t>
            </a:r>
            <a:r>
              <a:rPr lang="en-US" sz="1200" dirty="0"/>
              <a:t>is used only for bus communication, stimulation, and reception on CAN/LIN.</a:t>
            </a:r>
            <a:endParaRPr lang="en-IN" sz="1200" b="1" dirty="0"/>
          </a:p>
        </p:txBody>
      </p:sp>
      <p:sp>
        <p:nvSpPr>
          <p:cNvPr id="4" name="Rectangle 3"/>
          <p:cNvSpPr/>
          <p:nvPr/>
        </p:nvSpPr>
        <p:spPr>
          <a:xfrm>
            <a:off x="2743200" y="1419033"/>
            <a:ext cx="4258780" cy="151108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026108" y="1914892"/>
            <a:ext cx="1561048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5087298" y="1914892"/>
            <a:ext cx="1631774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228469" y="1419033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 smtClean="0"/>
              <a:t>Test PC / Laptop</a:t>
            </a:r>
            <a:endParaRPr lang="en-IN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3200400" y="1935309"/>
            <a:ext cx="1091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J-Link/T32 </a:t>
            </a:r>
            <a:r>
              <a:rPr lang="en-IN" sz="800" dirty="0" smtClean="0"/>
              <a:t>Service</a:t>
            </a:r>
          </a:p>
          <a:p>
            <a:r>
              <a:rPr lang="en-IN" sz="800" dirty="0" smtClean="0"/>
              <a:t>- flash firmware</a:t>
            </a:r>
          </a:p>
          <a:p>
            <a:r>
              <a:rPr lang="en-IN" sz="800" dirty="0" smtClean="0"/>
              <a:t>- reset </a:t>
            </a:r>
            <a:r>
              <a:rPr lang="en-IN" sz="800" dirty="0"/>
              <a:t>/ </a:t>
            </a:r>
            <a:r>
              <a:rPr lang="en-IN" sz="800" dirty="0" smtClean="0"/>
              <a:t>run</a:t>
            </a:r>
          </a:p>
          <a:p>
            <a:r>
              <a:rPr lang="en-IN" sz="800" dirty="0" smtClean="0"/>
              <a:t>- read </a:t>
            </a:r>
            <a:r>
              <a:rPr lang="en-IN" sz="800" dirty="0"/>
              <a:t>test </a:t>
            </a:r>
            <a:r>
              <a:rPr lang="en-IN" sz="800" dirty="0" err="1" smtClean="0"/>
              <a:t>vars</a:t>
            </a:r>
            <a:endParaRPr lang="en-IN" sz="800" dirty="0" smtClean="0"/>
          </a:p>
          <a:p>
            <a:r>
              <a:rPr lang="en-IN" sz="800" dirty="0" smtClean="0"/>
              <a:t>- write </a:t>
            </a:r>
            <a:r>
              <a:rPr lang="en-IN" sz="800" dirty="0"/>
              <a:t>test </a:t>
            </a:r>
            <a:r>
              <a:rPr lang="en-IN" sz="800" dirty="0" err="1"/>
              <a:t>vars</a:t>
            </a:r>
            <a:endParaRPr lang="en-IN" sz="800" dirty="0" smtClean="0"/>
          </a:p>
          <a:p>
            <a:pPr marL="171450" indent="-171450">
              <a:buFontTx/>
              <a:buChar char="-"/>
            </a:pPr>
            <a:endParaRPr lang="en-IN" sz="800" dirty="0"/>
          </a:p>
        </p:txBody>
      </p:sp>
      <p:sp>
        <p:nvSpPr>
          <p:cNvPr id="12" name="TextBox 11"/>
          <p:cNvSpPr txBox="1"/>
          <p:nvPr/>
        </p:nvSpPr>
        <p:spPr>
          <a:xfrm>
            <a:off x="5223699" y="1956593"/>
            <a:ext cx="12983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smtClean="0"/>
              <a:t>PEAK Bus Service</a:t>
            </a:r>
          </a:p>
          <a:p>
            <a:pPr marL="171450" indent="-171450">
              <a:buFontTx/>
              <a:buChar char="-"/>
            </a:pPr>
            <a:r>
              <a:rPr lang="en-IN" sz="800" dirty="0" smtClean="0"/>
              <a:t>CAN </a:t>
            </a:r>
            <a:r>
              <a:rPr lang="en-IN" sz="800" dirty="0" err="1" smtClean="0"/>
              <a:t>Tx</a:t>
            </a:r>
            <a:r>
              <a:rPr lang="en-IN" sz="800" dirty="0" smtClean="0"/>
              <a:t> / Rx</a:t>
            </a:r>
          </a:p>
          <a:p>
            <a:pPr marL="171450" indent="-171450">
              <a:buFontTx/>
              <a:buChar char="-"/>
            </a:pPr>
            <a:r>
              <a:rPr lang="en-IN" sz="800" dirty="0" smtClean="0"/>
              <a:t>LIN </a:t>
            </a:r>
            <a:r>
              <a:rPr lang="en-IN" sz="800" dirty="0" err="1" smtClean="0"/>
              <a:t>Tx</a:t>
            </a:r>
            <a:r>
              <a:rPr lang="en-IN" sz="800" dirty="0" smtClean="0"/>
              <a:t> / Rx</a:t>
            </a:r>
          </a:p>
          <a:p>
            <a:pPr marL="171450" indent="-171450">
              <a:buFontTx/>
              <a:buChar char="-"/>
            </a:pPr>
            <a:r>
              <a:rPr lang="en-IN" sz="800" dirty="0"/>
              <a:t>timing </a:t>
            </a:r>
            <a:r>
              <a:rPr lang="en-IN" sz="800" dirty="0" smtClean="0"/>
              <a:t>check</a:t>
            </a:r>
          </a:p>
          <a:p>
            <a:pPr marL="171450" indent="-171450">
              <a:buFontTx/>
              <a:buChar char="-"/>
            </a:pPr>
            <a:r>
              <a:rPr lang="en-IN" sz="800" dirty="0"/>
              <a:t>payload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161" y="1665254"/>
            <a:ext cx="14686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SmartBU automation runner</a:t>
            </a:r>
            <a:endParaRPr lang="en-IN" sz="800" dirty="0"/>
          </a:p>
        </p:txBody>
      </p:sp>
      <p:sp>
        <p:nvSpPr>
          <p:cNvPr id="14" name="Rectangle 13"/>
          <p:cNvSpPr/>
          <p:nvPr/>
        </p:nvSpPr>
        <p:spPr>
          <a:xfrm>
            <a:off x="2725519" y="3313866"/>
            <a:ext cx="1581255" cy="464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395859" y="3309637"/>
            <a:ext cx="1581255" cy="464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3048842" y="3425981"/>
            <a:ext cx="7577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smtClean="0"/>
              <a:t>J-Link /T32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5524289" y="3425981"/>
            <a:ext cx="13867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PEAK PCAN-USB Pro FD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284210"/>
            <a:ext cx="4233913" cy="530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4228469" y="4380099"/>
            <a:ext cx="1240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DUT: SmartBU </a:t>
            </a:r>
            <a:r>
              <a:rPr lang="en-IN" sz="800" dirty="0" smtClean="0"/>
              <a:t>PCB</a:t>
            </a:r>
          </a:p>
          <a:p>
            <a:r>
              <a:rPr lang="en-IN" sz="800" dirty="0"/>
              <a:t>Device Under Test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82270" y="2931740"/>
            <a:ext cx="194500" cy="35702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Down Arrow 20"/>
          <p:cNvSpPr/>
          <p:nvPr/>
        </p:nvSpPr>
        <p:spPr>
          <a:xfrm>
            <a:off x="6089236" y="2927458"/>
            <a:ext cx="194500" cy="35702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own Arrow 21"/>
          <p:cNvSpPr/>
          <p:nvPr/>
        </p:nvSpPr>
        <p:spPr>
          <a:xfrm>
            <a:off x="3350755" y="3803748"/>
            <a:ext cx="257529" cy="44900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wn Arrow 22"/>
          <p:cNvSpPr/>
          <p:nvPr/>
        </p:nvSpPr>
        <p:spPr>
          <a:xfrm>
            <a:off x="6079192" y="3799572"/>
            <a:ext cx="257529" cy="44900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3516146" y="2961203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USB</a:t>
            </a:r>
            <a:endParaRPr lang="en-IN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6186486" y="2955640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USB</a:t>
            </a:r>
            <a:endParaRPr lang="en-IN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3490498" y="3888441"/>
            <a:ext cx="4475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JTAG</a:t>
            </a:r>
            <a:endParaRPr lang="en-IN" sz="800" dirty="0"/>
          </a:p>
        </p:txBody>
      </p:sp>
      <p:sp>
        <p:nvSpPr>
          <p:cNvPr id="27" name="TextBox 26"/>
          <p:cNvSpPr txBox="1"/>
          <p:nvPr/>
        </p:nvSpPr>
        <p:spPr>
          <a:xfrm>
            <a:off x="6248766" y="3870882"/>
            <a:ext cx="7030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smtClean="0"/>
              <a:t>CAN/LIN</a:t>
            </a:r>
            <a:endParaRPr lang="en-IN" sz="800" dirty="0"/>
          </a:p>
        </p:txBody>
      </p:sp>
      <p:sp>
        <p:nvSpPr>
          <p:cNvPr id="28" name="TextBox 27"/>
          <p:cNvSpPr txBox="1"/>
          <p:nvPr/>
        </p:nvSpPr>
        <p:spPr>
          <a:xfrm>
            <a:off x="7477256" y="1373989"/>
            <a:ext cx="340460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1</a:t>
            </a:r>
            <a:r>
              <a:rPr lang="en-US" sz="1000" b="1" dirty="0" smtClean="0"/>
              <a:t>. Test </a:t>
            </a:r>
            <a:r>
              <a:rPr lang="en-US" sz="1000" b="1" dirty="0"/>
              <a:t>PC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Runs your GUI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Executes automation flow.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Stores logs and PASS/FAIL reports.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smtClean="0"/>
              <a:t>2. J-Link / Trace32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Flashes </a:t>
            </a:r>
            <a:r>
              <a:rPr lang="en-US" sz="1000" dirty="0"/>
              <a:t>firmware into the DUT.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Resets, halts, and runs the DUT.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Reads/writes a limited set of test firmware variables.</a:t>
            </a:r>
          </a:p>
          <a:p>
            <a:r>
              <a:rPr lang="en-US" sz="1000" b="1" dirty="0" smtClean="0"/>
              <a:t>3. PEAK </a:t>
            </a:r>
            <a:r>
              <a:rPr lang="en-US" sz="1000" b="1" dirty="0"/>
              <a:t>PCAN-USB Pro FD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Replaces </a:t>
            </a:r>
            <a:r>
              <a:rPr lang="en-US" sz="1000" dirty="0" err="1"/>
              <a:t>CANoe</a:t>
            </a:r>
            <a:r>
              <a:rPr lang="en-US" sz="1000" dirty="0"/>
              <a:t> for production communication testing.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Sends and receives CAN and LIN frames.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Verifies actual bus behavior of the DUT.</a:t>
            </a:r>
          </a:p>
          <a:p>
            <a:r>
              <a:rPr lang="en-US" sz="1000" b="1" dirty="0" smtClean="0"/>
              <a:t>4. DUT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The SmartBU PCB being tested on the EOL bench.</a:t>
            </a:r>
          </a:p>
        </p:txBody>
      </p:sp>
    </p:spTree>
    <p:extLst>
      <p:ext uri="{BB962C8B-B14F-4D97-AF65-F5344CB8AC3E}">
        <p14:creationId xmlns:p14="http://schemas.microsoft.com/office/powerpoint/2010/main" val="373007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12615" y="93614"/>
            <a:ext cx="2016468" cy="481895"/>
          </a:xfrm>
        </p:spPr>
        <p:txBody>
          <a:bodyPr>
            <a:normAutofit fontScale="62500" lnSpcReduction="20000"/>
          </a:bodyPr>
          <a:lstStyle/>
          <a:p>
            <a:r>
              <a:rPr lang="en-IN" dirty="0" smtClean="0"/>
              <a:t>Design KVASER</a:t>
            </a:r>
            <a:r>
              <a:rPr lang="en-IN" dirty="0" smtClean="0"/>
              <a:t>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1141" y="655781"/>
            <a:ext cx="11094047" cy="682981"/>
          </a:xfrm>
        </p:spPr>
        <p:txBody>
          <a:bodyPr>
            <a:noAutofit/>
          </a:bodyPr>
          <a:lstStyle/>
          <a:p>
            <a:r>
              <a:rPr lang="en-US" sz="1200" dirty="0" smtClean="0"/>
              <a:t>PEAK </a:t>
            </a:r>
            <a:r>
              <a:rPr lang="en-US" sz="1200" dirty="0"/>
              <a:t>PCAN-USB Pro FD as the bench-side bus interface between the test PC and the </a:t>
            </a:r>
            <a:r>
              <a:rPr lang="en-US" sz="1200" dirty="0" smtClean="0"/>
              <a:t>DUT (Device Under Test). </a:t>
            </a:r>
            <a:r>
              <a:rPr lang="en-US" sz="1200" dirty="0"/>
              <a:t>The PC runs </a:t>
            </a:r>
            <a:r>
              <a:rPr lang="en-US" sz="1200" dirty="0" smtClean="0"/>
              <a:t>existing </a:t>
            </a:r>
            <a:r>
              <a:rPr lang="en-US" sz="1200" dirty="0"/>
              <a:t>GUI, </a:t>
            </a:r>
            <a:r>
              <a:rPr lang="en-US" sz="1200" dirty="0" smtClean="0"/>
              <a:t>automation</a:t>
            </a:r>
          </a:p>
          <a:p>
            <a:r>
              <a:rPr lang="en-US" sz="1200" dirty="0" smtClean="0"/>
              <a:t>logic</a:t>
            </a:r>
            <a:r>
              <a:rPr lang="en-US" sz="1200" dirty="0"/>
              <a:t>, and report generation. </a:t>
            </a:r>
            <a:r>
              <a:rPr lang="en-US" sz="1200" dirty="0" smtClean="0"/>
              <a:t>KEVASER</a:t>
            </a:r>
            <a:r>
              <a:rPr lang="en-US" sz="1200" dirty="0" smtClean="0"/>
              <a:t> </a:t>
            </a:r>
            <a:r>
              <a:rPr lang="en-US" sz="1200" dirty="0"/>
              <a:t>is used only for bus communication, stimulation, and reception on CAN/LIN.</a:t>
            </a:r>
            <a:endParaRPr lang="en-IN" sz="1200" b="1" dirty="0"/>
          </a:p>
        </p:txBody>
      </p:sp>
      <p:sp>
        <p:nvSpPr>
          <p:cNvPr id="4" name="Rectangle 3"/>
          <p:cNvSpPr/>
          <p:nvPr/>
        </p:nvSpPr>
        <p:spPr>
          <a:xfrm>
            <a:off x="2743200" y="1419033"/>
            <a:ext cx="4258780" cy="151108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026108" y="1914892"/>
            <a:ext cx="1561048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5087298" y="1914892"/>
            <a:ext cx="1631774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228469" y="1419033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 smtClean="0"/>
              <a:t>Test PC / Laptop</a:t>
            </a:r>
            <a:endParaRPr lang="en-IN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3200400" y="1935309"/>
            <a:ext cx="1091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J-Link/T32 </a:t>
            </a:r>
            <a:r>
              <a:rPr lang="en-IN" sz="800" dirty="0" smtClean="0"/>
              <a:t>Service</a:t>
            </a:r>
          </a:p>
          <a:p>
            <a:r>
              <a:rPr lang="en-IN" sz="800" dirty="0" smtClean="0"/>
              <a:t>- flash firmware</a:t>
            </a:r>
          </a:p>
          <a:p>
            <a:r>
              <a:rPr lang="en-IN" sz="800" dirty="0" smtClean="0"/>
              <a:t>- reset </a:t>
            </a:r>
            <a:r>
              <a:rPr lang="en-IN" sz="800" dirty="0"/>
              <a:t>/ </a:t>
            </a:r>
            <a:r>
              <a:rPr lang="en-IN" sz="800" dirty="0" smtClean="0"/>
              <a:t>run</a:t>
            </a:r>
          </a:p>
          <a:p>
            <a:r>
              <a:rPr lang="en-IN" sz="800" dirty="0" smtClean="0"/>
              <a:t>- read </a:t>
            </a:r>
            <a:r>
              <a:rPr lang="en-IN" sz="800" dirty="0"/>
              <a:t>test </a:t>
            </a:r>
            <a:r>
              <a:rPr lang="en-IN" sz="800" dirty="0" err="1" smtClean="0"/>
              <a:t>vars</a:t>
            </a:r>
            <a:endParaRPr lang="en-IN" sz="800" dirty="0" smtClean="0"/>
          </a:p>
          <a:p>
            <a:r>
              <a:rPr lang="en-IN" sz="800" dirty="0" smtClean="0"/>
              <a:t>- write </a:t>
            </a:r>
            <a:r>
              <a:rPr lang="en-IN" sz="800" dirty="0"/>
              <a:t>test </a:t>
            </a:r>
            <a:r>
              <a:rPr lang="en-IN" sz="800" dirty="0" err="1"/>
              <a:t>vars</a:t>
            </a:r>
            <a:endParaRPr lang="en-IN" sz="800" dirty="0" smtClean="0"/>
          </a:p>
          <a:p>
            <a:pPr marL="171450" indent="-171450">
              <a:buFontTx/>
              <a:buChar char="-"/>
            </a:pPr>
            <a:endParaRPr lang="en-IN" sz="800" dirty="0"/>
          </a:p>
        </p:txBody>
      </p:sp>
      <p:sp>
        <p:nvSpPr>
          <p:cNvPr id="12" name="TextBox 11"/>
          <p:cNvSpPr txBox="1"/>
          <p:nvPr/>
        </p:nvSpPr>
        <p:spPr>
          <a:xfrm>
            <a:off x="5137817" y="1956593"/>
            <a:ext cx="1384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/>
              <a:t>Kvaser</a:t>
            </a:r>
            <a:r>
              <a:rPr lang="en-IN" sz="800" dirty="0"/>
              <a:t> Hybrid </a:t>
            </a:r>
            <a:r>
              <a:rPr lang="en-IN" sz="800" dirty="0" smtClean="0"/>
              <a:t>2xCAN/LIN</a:t>
            </a:r>
          </a:p>
          <a:p>
            <a:r>
              <a:rPr lang="en-IN" sz="800" dirty="0" smtClean="0"/>
              <a:t>-CAN </a:t>
            </a:r>
            <a:r>
              <a:rPr lang="en-IN" sz="800" dirty="0" err="1" smtClean="0"/>
              <a:t>Tx</a:t>
            </a:r>
            <a:r>
              <a:rPr lang="en-IN" sz="800" dirty="0" smtClean="0"/>
              <a:t> / Rx</a:t>
            </a:r>
          </a:p>
          <a:p>
            <a:r>
              <a:rPr lang="en-IN" sz="800" dirty="0" smtClean="0"/>
              <a:t>-LIN </a:t>
            </a:r>
            <a:r>
              <a:rPr lang="en-IN" sz="800" dirty="0" err="1" smtClean="0"/>
              <a:t>Tx</a:t>
            </a:r>
            <a:r>
              <a:rPr lang="en-IN" sz="800" dirty="0" smtClean="0"/>
              <a:t> / Rx</a:t>
            </a:r>
          </a:p>
          <a:p>
            <a:r>
              <a:rPr lang="en-IN" sz="800" dirty="0" smtClean="0"/>
              <a:t>-timing check</a:t>
            </a:r>
          </a:p>
          <a:p>
            <a:r>
              <a:rPr lang="en-IN" sz="800" dirty="0" smtClean="0"/>
              <a:t>-payload validation</a:t>
            </a:r>
            <a:endParaRPr lang="en-IN" sz="800" dirty="0"/>
          </a:p>
        </p:txBody>
      </p:sp>
      <p:sp>
        <p:nvSpPr>
          <p:cNvPr id="13" name="TextBox 12"/>
          <p:cNvSpPr txBox="1"/>
          <p:nvPr/>
        </p:nvSpPr>
        <p:spPr>
          <a:xfrm>
            <a:off x="4064161" y="1665254"/>
            <a:ext cx="14686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SmartBU automation runner</a:t>
            </a:r>
            <a:endParaRPr lang="en-IN" sz="800" dirty="0"/>
          </a:p>
        </p:txBody>
      </p:sp>
      <p:sp>
        <p:nvSpPr>
          <p:cNvPr id="14" name="Rectangle 13"/>
          <p:cNvSpPr/>
          <p:nvPr/>
        </p:nvSpPr>
        <p:spPr>
          <a:xfrm>
            <a:off x="2725519" y="3313866"/>
            <a:ext cx="1581255" cy="464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395859" y="3309637"/>
            <a:ext cx="1581255" cy="4647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3048842" y="3425981"/>
            <a:ext cx="7577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smtClean="0"/>
              <a:t>J-Link /T32</a:t>
            </a:r>
            <a:endParaRPr lang="en-IN" sz="800" dirty="0"/>
          </a:p>
        </p:txBody>
      </p:sp>
      <p:sp>
        <p:nvSpPr>
          <p:cNvPr id="17" name="TextBox 16"/>
          <p:cNvSpPr txBox="1"/>
          <p:nvPr/>
        </p:nvSpPr>
        <p:spPr>
          <a:xfrm>
            <a:off x="5535207" y="3342325"/>
            <a:ext cx="1386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/>
              <a:t>Kvaser</a:t>
            </a:r>
            <a:r>
              <a:rPr lang="en-IN" sz="800" dirty="0"/>
              <a:t> </a:t>
            </a:r>
            <a:r>
              <a:rPr lang="en-IN" sz="800" dirty="0" err="1"/>
              <a:t>CANlib</a:t>
            </a:r>
            <a:r>
              <a:rPr lang="en-IN" sz="800" dirty="0"/>
              <a:t>/</a:t>
            </a:r>
            <a:r>
              <a:rPr lang="en-IN" sz="800" dirty="0" err="1"/>
              <a:t>LINlib</a:t>
            </a:r>
            <a:r>
              <a:rPr lang="en-IN" sz="800" dirty="0"/>
              <a:t> integration</a:t>
            </a:r>
            <a:endParaRPr lang="en-IN" sz="800" dirty="0"/>
          </a:p>
        </p:txBody>
      </p:sp>
      <p:sp>
        <p:nvSpPr>
          <p:cNvPr id="18" name="Rectangle 17"/>
          <p:cNvSpPr/>
          <p:nvPr/>
        </p:nvSpPr>
        <p:spPr>
          <a:xfrm>
            <a:off x="2743200" y="4284210"/>
            <a:ext cx="4233913" cy="530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4228469" y="4380099"/>
            <a:ext cx="1240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DUT: SmartBU </a:t>
            </a:r>
            <a:r>
              <a:rPr lang="en-IN" sz="800" dirty="0" smtClean="0"/>
              <a:t>PCB</a:t>
            </a:r>
          </a:p>
          <a:p>
            <a:r>
              <a:rPr lang="en-IN" sz="800" dirty="0"/>
              <a:t>Device Under Test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82270" y="2931740"/>
            <a:ext cx="194500" cy="35702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Down Arrow 20"/>
          <p:cNvSpPr/>
          <p:nvPr/>
        </p:nvSpPr>
        <p:spPr>
          <a:xfrm>
            <a:off x="6089236" y="2927458"/>
            <a:ext cx="194500" cy="35702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own Arrow 21"/>
          <p:cNvSpPr/>
          <p:nvPr/>
        </p:nvSpPr>
        <p:spPr>
          <a:xfrm>
            <a:off x="3350755" y="3803748"/>
            <a:ext cx="257529" cy="44900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wn Arrow 22"/>
          <p:cNvSpPr/>
          <p:nvPr/>
        </p:nvSpPr>
        <p:spPr>
          <a:xfrm>
            <a:off x="6079192" y="3799572"/>
            <a:ext cx="257529" cy="44900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3516146" y="2961203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USB</a:t>
            </a:r>
            <a:endParaRPr lang="en-IN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6186486" y="2955640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USB</a:t>
            </a:r>
            <a:endParaRPr lang="en-IN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3490498" y="3888441"/>
            <a:ext cx="4475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smtClean="0"/>
              <a:t>JTAG</a:t>
            </a:r>
            <a:endParaRPr lang="en-IN" sz="800" dirty="0"/>
          </a:p>
        </p:txBody>
      </p:sp>
      <p:sp>
        <p:nvSpPr>
          <p:cNvPr id="27" name="TextBox 26"/>
          <p:cNvSpPr txBox="1"/>
          <p:nvPr/>
        </p:nvSpPr>
        <p:spPr>
          <a:xfrm>
            <a:off x="6248766" y="3870882"/>
            <a:ext cx="7030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smtClean="0"/>
              <a:t>CAN/LIN</a:t>
            </a:r>
            <a:endParaRPr lang="en-IN" sz="800" dirty="0"/>
          </a:p>
        </p:txBody>
      </p:sp>
      <p:sp>
        <p:nvSpPr>
          <p:cNvPr id="28" name="TextBox 27"/>
          <p:cNvSpPr txBox="1"/>
          <p:nvPr/>
        </p:nvSpPr>
        <p:spPr>
          <a:xfrm>
            <a:off x="7477256" y="1373989"/>
            <a:ext cx="340460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1</a:t>
            </a:r>
            <a:r>
              <a:rPr lang="en-US" sz="1000" b="1" dirty="0" smtClean="0"/>
              <a:t>. Test </a:t>
            </a:r>
            <a:r>
              <a:rPr lang="en-US" sz="1000" b="1" dirty="0"/>
              <a:t>PC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Runs your GUI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Executes automation flow.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Stores logs and PASS/FAIL reports.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 smtClean="0"/>
              <a:t>2. J-Link / Trace32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Flashes </a:t>
            </a:r>
            <a:r>
              <a:rPr lang="en-US" sz="1000" dirty="0"/>
              <a:t>firmware into the DUT.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Resets, halts, and runs the DUT.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Reads/writes a limited set of test firmware variables.</a:t>
            </a:r>
          </a:p>
          <a:p>
            <a:r>
              <a:rPr lang="en-US" sz="1000" b="1" dirty="0" smtClean="0"/>
              <a:t>3. </a:t>
            </a:r>
            <a:r>
              <a:rPr lang="en-IN" sz="1000" b="1" dirty="0" err="1"/>
              <a:t>Kvaser</a:t>
            </a:r>
            <a:r>
              <a:rPr lang="en-IN" sz="1000" b="1" dirty="0"/>
              <a:t> </a:t>
            </a:r>
            <a:r>
              <a:rPr lang="en-IN" sz="1000" b="1" dirty="0" err="1"/>
              <a:t>CANlib</a:t>
            </a:r>
            <a:r>
              <a:rPr lang="en-IN" sz="1000" b="1" dirty="0"/>
              <a:t>/</a:t>
            </a:r>
            <a:r>
              <a:rPr lang="en-IN" sz="1000" b="1" dirty="0" err="1"/>
              <a:t>LINlib</a:t>
            </a:r>
            <a:r>
              <a:rPr lang="en-IN" sz="1000" b="1" dirty="0"/>
              <a:t> integration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Replaces </a:t>
            </a:r>
            <a:r>
              <a:rPr lang="en-US" sz="1000" dirty="0" err="1"/>
              <a:t>CANoe</a:t>
            </a:r>
            <a:r>
              <a:rPr lang="en-US" sz="1000" dirty="0"/>
              <a:t> for production communication testing.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Sends and receives CAN and LIN frames.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Verifies actual bus behavior of the DUT.</a:t>
            </a:r>
          </a:p>
          <a:p>
            <a:r>
              <a:rPr lang="en-US" sz="1000" b="1" dirty="0" smtClean="0"/>
              <a:t>4. DUT</a:t>
            </a:r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The SmartBU PCB being tested on the EOL bench.</a:t>
            </a:r>
          </a:p>
        </p:txBody>
      </p:sp>
    </p:spTree>
    <p:extLst>
      <p:ext uri="{BB962C8B-B14F-4D97-AF65-F5344CB8AC3E}">
        <p14:creationId xmlns:p14="http://schemas.microsoft.com/office/powerpoint/2010/main" val="339057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9">
      <a:dk1>
        <a:srgbClr val="262626"/>
      </a:dk1>
      <a:lt1>
        <a:srgbClr val="FFFFFF"/>
      </a:lt1>
      <a:dk2>
        <a:srgbClr val="373545"/>
      </a:dk2>
      <a:lt2>
        <a:srgbClr val="DCD8DC"/>
      </a:lt2>
      <a:accent1>
        <a:srgbClr val="004EA8"/>
      </a:accent1>
      <a:accent2>
        <a:srgbClr val="C00D1E"/>
      </a:accent2>
      <a:accent3>
        <a:srgbClr val="AFD3FF"/>
      </a:accent3>
      <a:accent4>
        <a:srgbClr val="71B1FF"/>
      </a:accent4>
      <a:accent5>
        <a:srgbClr val="C6C6C6"/>
      </a:accent5>
      <a:accent6>
        <a:srgbClr val="002D64"/>
      </a:accent6>
      <a:hlink>
        <a:srgbClr val="004EA8"/>
      </a:hlink>
      <a:folHlink>
        <a:srgbClr val="004EA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646</Words>
  <Application>Microsoft Office PowerPoint</Application>
  <PresentationFormat>Widescreen</PresentationFormat>
  <Paragraphs>126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Helvetica Neue</vt:lpstr>
      <vt:lpstr>Calibri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Alina VACARU</dc:creator>
  <cp:lastModifiedBy>Charan Singh</cp:lastModifiedBy>
  <cp:revision>74</cp:revision>
  <dcterms:created xsi:type="dcterms:W3CDTF">2023-11-15T15:16:36Z</dcterms:created>
  <dcterms:modified xsi:type="dcterms:W3CDTF">2026-04-06T11:06:08Z</dcterms:modified>
</cp:coreProperties>
</file>