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5156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200" b="1">
                <a:solidFill>
                  <a:srgbClr val="162B40"/>
                </a:solidFill>
              </a:defRPr>
            </a:pPr>
            <a:r>
              <a:t>Project Datewise Status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" y="1965960"/>
            <a:ext cx="8961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1F2937"/>
                </a:solidFill>
              </a:defRPr>
            </a:pPr>
            <a:r>
              <a:t>Presentation summary prepared from the status screenshot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3246120"/>
            <a:ext cx="242316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008080"/>
                </a:solidFill>
              </a:defRPr>
            </a:pPr>
            <a:r>
              <a:t>11</a:t>
            </a:r>
          </a:p>
          <a:p>
            <a:pPr algn="ctr">
              <a:defRPr sz="1000">
                <a:solidFill>
                  <a:srgbClr val="1F2937"/>
                </a:solidFill>
              </a:defRPr>
            </a:pPr>
            <a:r>
              <a:t>Projects / tracks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66160" y="3246120"/>
            <a:ext cx="242316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008080"/>
                </a:solidFill>
              </a:defRPr>
            </a:pPr>
            <a:r>
              <a:t>04 Jun</a:t>
            </a:r>
          </a:p>
          <a:p>
            <a:pPr algn="ctr">
              <a:defRPr sz="1000">
                <a:solidFill>
                  <a:srgbClr val="1F2937"/>
                </a:solidFill>
              </a:defRPr>
            </a:pPr>
            <a:r>
              <a:t>Latest feedback date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55079" y="3246120"/>
            <a:ext cx="242316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008080"/>
                </a:solidFill>
              </a:defRPr>
            </a:pPr>
            <a:r>
              <a:t>06 Jun</a:t>
            </a:r>
          </a:p>
          <a:p>
            <a:pPr algn="ctr">
              <a:defRPr sz="1000">
                <a:solidFill>
                  <a:srgbClr val="1F2937"/>
                </a:solidFill>
              </a:defRPr>
            </a:pPr>
            <a:r>
              <a:t>JA00 SWIT target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3999" y="3246120"/>
            <a:ext cx="242316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008080"/>
                </a:solidFill>
              </a:defRPr>
            </a:pPr>
            <a:r>
              <a:t>23 Jun</a:t>
            </a:r>
          </a:p>
          <a:p>
            <a:pPr algn="ctr">
              <a:defRPr sz="1000">
                <a:solidFill>
                  <a:srgbClr val="1F2937"/>
                </a:solidFill>
              </a:defRPr>
            </a:pPr>
            <a:r>
              <a:t>JLR_NFC release-test hold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85216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1F2937"/>
                </a:solidFill>
              </a:defRPr>
            </a:pPr>
            <a:r>
              <a:t>Focus: testing milestones, feedback closure, integration readiness, hardware progress, and open planning items.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748B"/>
                </a:solidFill>
              </a:defRPr>
            </a:pPr>
            <a:r>
              <a:t>Project datewise status | 04 June 2026 | Slide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62B40"/>
                </a:solidFill>
              </a:defRPr>
            </a:pPr>
            <a: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064" y="841248"/>
            <a:ext cx="10972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1F2937"/>
                </a:solidFill>
              </a:defRPr>
            </a:pPr>
            <a:r>
              <a:t>High-level message for management review</a:t>
            </a:r>
          </a:p>
        </p:txBody>
      </p:sp>
      <p:sp>
        <p:nvSpPr>
          <p:cNvPr id="5" name="Oval 4"/>
          <p:cNvSpPr/>
          <p:nvPr/>
        </p:nvSpPr>
        <p:spPr>
          <a:xfrm>
            <a:off x="685800" y="1380744"/>
            <a:ext cx="256032" cy="256032"/>
          </a:xfrm>
          <a:prstGeom prst="ellipse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8992" y="1325880"/>
            <a:ext cx="10332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500">
                <a:solidFill>
                  <a:srgbClr val="162B40"/>
                </a:solidFill>
              </a:defRPr>
            </a:pPr>
            <a:r>
              <a:t>Near-term testing</a:t>
            </a:r>
          </a:p>
          <a:p>
            <a:pPr>
              <a:defRPr sz="1200">
                <a:solidFill>
                  <a:srgbClr val="1F2937"/>
                </a:solidFill>
              </a:defRPr>
            </a:pPr>
            <a:r>
              <a:t>JA00 SWIT completes on 6 June and SWRT starts on 8 June.</a:t>
            </a:r>
          </a:p>
        </p:txBody>
      </p:sp>
      <p:sp>
        <p:nvSpPr>
          <p:cNvPr id="7" name="Oval 6"/>
          <p:cNvSpPr/>
          <p:nvPr/>
        </p:nvSpPr>
        <p:spPr>
          <a:xfrm>
            <a:off x="685800" y="2249424"/>
            <a:ext cx="256032" cy="256032"/>
          </a:xfrm>
          <a:prstGeom prst="ellipse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2" y="2194560"/>
            <a:ext cx="10332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500">
                <a:solidFill>
                  <a:srgbClr val="162B40"/>
                </a:solidFill>
              </a:defRPr>
            </a:pPr>
            <a:r>
              <a:t>Feedback status</a:t>
            </a:r>
          </a:p>
          <a:p>
            <a:pPr>
              <a:defRPr sz="1200">
                <a:solidFill>
                  <a:srgbClr val="1F2937"/>
                </a:solidFill>
              </a:defRPr>
            </a:pPr>
            <a:r>
              <a:t>Steering Switch feedback is closed, with new feedback received on 4 June.</a:t>
            </a:r>
          </a:p>
        </p:txBody>
      </p:sp>
      <p:sp>
        <p:nvSpPr>
          <p:cNvPr id="9" name="Oval 8"/>
          <p:cNvSpPr/>
          <p:nvPr/>
        </p:nvSpPr>
        <p:spPr>
          <a:xfrm>
            <a:off x="685800" y="3118103"/>
            <a:ext cx="256032" cy="256032"/>
          </a:xfrm>
          <a:prstGeom prst="ellipse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78992" y="3063239"/>
            <a:ext cx="10332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500">
                <a:solidFill>
                  <a:srgbClr val="162B40"/>
                </a:solidFill>
              </a:defRPr>
            </a:pPr>
            <a:r>
              <a:t>Design and compliance</a:t>
            </a:r>
          </a:p>
          <a:p>
            <a:pPr>
              <a:defRPr sz="1200">
                <a:solidFill>
                  <a:srgbClr val="1F2937"/>
                </a:solidFill>
              </a:defRPr>
            </a:pPr>
            <a:r>
              <a:t>JLR_NFC SWDD, ASPICE readiness, and traceability activities are progressing.</a:t>
            </a:r>
          </a:p>
        </p:txBody>
      </p:sp>
      <p:sp>
        <p:nvSpPr>
          <p:cNvPr id="11" name="Oval 10"/>
          <p:cNvSpPr/>
          <p:nvPr/>
        </p:nvSpPr>
        <p:spPr>
          <a:xfrm>
            <a:off x="685800" y="3986784"/>
            <a:ext cx="256032" cy="256032"/>
          </a:xfrm>
          <a:prstGeom prst="ellipse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78992" y="3931920"/>
            <a:ext cx="10332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500">
                <a:solidFill>
                  <a:srgbClr val="162B40"/>
                </a:solidFill>
              </a:defRPr>
            </a:pPr>
            <a:r>
              <a:t>Integration</a:t>
            </a:r>
          </a:p>
          <a:p>
            <a:pPr>
              <a:defRPr sz="1200">
                <a:solidFill>
                  <a:srgbClr val="1F2937"/>
                </a:solidFill>
              </a:defRPr>
            </a:pPr>
            <a:r>
              <a:t>E-Mirror and pinching detection are moving toward single-application vehicle execution.</a:t>
            </a:r>
          </a:p>
        </p:txBody>
      </p:sp>
      <p:sp>
        <p:nvSpPr>
          <p:cNvPr id="13" name="Oval 12"/>
          <p:cNvSpPr/>
          <p:nvPr/>
        </p:nvSpPr>
        <p:spPr>
          <a:xfrm>
            <a:off x="685800" y="4855464"/>
            <a:ext cx="256032" cy="256032"/>
          </a:xfrm>
          <a:prstGeom prst="ellipse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78992" y="4800600"/>
            <a:ext cx="10332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500">
                <a:solidFill>
                  <a:srgbClr val="162B40"/>
                </a:solidFill>
              </a:defRPr>
            </a:pPr>
            <a:r>
              <a:t>Hardware</a:t>
            </a:r>
          </a:p>
          <a:p>
            <a:pPr>
              <a:defRPr sz="1200">
                <a:solidFill>
                  <a:srgbClr val="1F2937"/>
                </a:solidFill>
              </a:defRPr>
            </a:pPr>
            <a:r>
              <a:t>RRVT hardware and SmartBU fixture/PCB tests are active, with one PCB heating issue observed.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748B"/>
                </a:solidFill>
              </a:defRPr>
            </a:pPr>
            <a:r>
              <a:t>Project datewise status | 04 June 2026 | Slide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62B40"/>
                </a:solidFill>
              </a:defRPr>
            </a:pPr>
            <a:r>
              <a:t>Testing and Requirements Tracks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064" y="841248"/>
            <a:ext cx="10972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1F2937"/>
                </a:solidFill>
              </a:defRPr>
            </a:pPr>
            <a:r>
              <a:t>Detailed status items grouped from the screenshot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234440"/>
            <a:ext cx="5257800" cy="137160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58952" y="1344168"/>
            <a:ext cx="492861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400">
                <a:solidFill>
                  <a:srgbClr val="162B40"/>
                </a:solidFill>
              </a:defRPr>
            </a:pPr>
            <a:r>
              <a:t>JA00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51960" y="1335024"/>
            <a:ext cx="1417320" cy="301752"/>
          </a:xfrm>
          <a:prstGeom prst="round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In Progress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709928"/>
            <a:ext cx="4937760" cy="8046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300"/>
              </a:spcAft>
              <a:defRPr sz="1050">
                <a:solidFill>
                  <a:srgbClr val="1F2937"/>
                </a:solidFill>
              </a:defRPr>
            </a:pPr>
            <a:r>
              <a:t>SWIT testing will be completed on 6th June.</a:t>
            </a:r>
          </a:p>
          <a:p>
            <a:pPr>
              <a:spcAft>
                <a:spcPts val="300"/>
              </a:spcAft>
              <a:defRPr sz="1050">
                <a:solidFill>
                  <a:srgbClr val="1F2937"/>
                </a:solidFill>
              </a:defRPr>
            </a:pPr>
            <a:r>
              <a:t>SWRT testing will start on 8th June.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234440"/>
            <a:ext cx="5257800" cy="1060704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73952" y="1344168"/>
            <a:ext cx="492861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400">
                <a:solidFill>
                  <a:srgbClr val="162B40"/>
                </a:solidFill>
              </a:defRPr>
            </a:pPr>
            <a:r>
              <a:t>MBSE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966960" y="1335024"/>
            <a:ext cx="1417320" cy="301752"/>
          </a:xfrm>
          <a:prstGeom prst="round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In Progress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1709928"/>
            <a:ext cx="4937760" cy="49377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300"/>
              </a:spcAft>
              <a:defRPr sz="1050">
                <a:solidFill>
                  <a:srgbClr val="1F2937"/>
                </a:solidFill>
              </a:defRPr>
            </a:pPr>
            <a:r>
              <a:t>Team is creating EA models for PLG functional requirements.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2862072"/>
            <a:ext cx="5257800" cy="137160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8952" y="2971800"/>
            <a:ext cx="492861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400">
                <a:solidFill>
                  <a:srgbClr val="162B40"/>
                </a:solidFill>
              </a:defRPr>
            </a:pPr>
            <a:r>
              <a:t>DigiKey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51960" y="2962656"/>
            <a:ext cx="1417320" cy="301752"/>
          </a:xfrm>
          <a:prstGeom prst="round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In Progress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3337560"/>
            <a:ext cx="4937760" cy="8046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300"/>
              </a:spcAft>
              <a:defRPr sz="1050">
                <a:solidFill>
                  <a:srgbClr val="1F2937"/>
                </a:solidFill>
              </a:defRPr>
            </a:pPr>
            <a:r>
              <a:t>Positioning algorithm improving.</a:t>
            </a:r>
          </a:p>
          <a:p>
            <a:pPr>
              <a:spcAft>
                <a:spcPts val="300"/>
              </a:spcAft>
              <a:defRPr sz="1050">
                <a:solidFill>
                  <a:srgbClr val="1F2937"/>
                </a:solidFill>
              </a:defRPr>
            </a:pPr>
            <a:r>
              <a:t>Updating PC application using Python script.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2551176"/>
            <a:ext cx="5257800" cy="1060704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73952" y="2660904"/>
            <a:ext cx="492861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400">
                <a:solidFill>
                  <a:srgbClr val="162B40"/>
                </a:solidFill>
              </a:defRPr>
            </a:pPr>
            <a:r>
              <a:t>Steering Switch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966960" y="2651760"/>
            <a:ext cx="1417320" cy="301752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Completed / New Feedback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3026664"/>
            <a:ext cx="4937760" cy="49377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300"/>
              </a:spcAft>
              <a:defRPr sz="1050">
                <a:solidFill>
                  <a:srgbClr val="1F2937"/>
                </a:solidFill>
              </a:defRPr>
            </a:pPr>
            <a:r>
              <a:t>All feedback is completed. New feedback received on 4th June.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" y="4489704"/>
            <a:ext cx="5257800" cy="214884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58952" y="4599432"/>
            <a:ext cx="492861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400">
                <a:solidFill>
                  <a:srgbClr val="162B40"/>
                </a:solidFill>
              </a:defRPr>
            </a:pPr>
            <a:r>
              <a:t>JLR_NFC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51960" y="4590288"/>
            <a:ext cx="1417320" cy="301752"/>
          </a:xfrm>
          <a:prstGeom prst="round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Planned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4965192"/>
            <a:ext cx="4937760" cy="158191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300"/>
              </a:spcAft>
              <a:defRPr sz="1050">
                <a:solidFill>
                  <a:srgbClr val="1F2937"/>
                </a:solidFill>
              </a:defRPr>
            </a:pPr>
            <a:r>
              <a:t>System architecture and system requirement analysis with SW test-case traceability is maintained.</a:t>
            </a:r>
          </a:p>
          <a:p>
            <a:pPr>
              <a:spcAft>
                <a:spcPts val="300"/>
              </a:spcAft>
              <a:defRPr sz="1050">
                <a:solidFill>
                  <a:srgbClr val="1F2937"/>
                </a:solidFill>
              </a:defRPr>
            </a:pPr>
            <a:r>
              <a:t>No release test till 23rd June.</a:t>
            </a:r>
          </a:p>
          <a:p>
            <a:pPr>
              <a:spcAft>
                <a:spcPts val="300"/>
              </a:spcAft>
              <a:defRPr sz="1050">
                <a:solidFill>
                  <a:srgbClr val="1F2937"/>
                </a:solidFill>
              </a:defRPr>
            </a:pPr>
            <a:r>
              <a:t>SW detailed design review in enterprise architecture.</a:t>
            </a:r>
          </a:p>
          <a:p>
            <a:pPr>
              <a:spcAft>
                <a:spcPts val="300"/>
              </a:spcAft>
              <a:defRPr sz="1050">
                <a:solidFill>
                  <a:srgbClr val="1F2937"/>
                </a:solidFill>
              </a:defRPr>
            </a:pPr>
            <a:r>
              <a:t>ASPICE assessment is planned for mid-August.</a:t>
            </a:r>
          </a:p>
          <a:p>
            <a:pPr>
              <a:spcAft>
                <a:spcPts val="300"/>
              </a:spcAft>
              <a:defRPr sz="1050">
                <a:solidFill>
                  <a:srgbClr val="1F2937"/>
                </a:solidFill>
              </a:defRPr>
            </a:pPr>
            <a:r>
              <a:t>SW unit test cases improved based on updated SWDD.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748B"/>
                </a:solidFill>
              </a:defRPr>
            </a:pPr>
            <a:r>
              <a:t>Project datewise status | 04 June 2026 | Slide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62B40"/>
                </a:solidFill>
              </a:defRPr>
            </a:pPr>
            <a:r>
              <a:t>Development and Integration Tracks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064" y="841248"/>
            <a:ext cx="10972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1F2937"/>
                </a:solidFill>
              </a:defRPr>
            </a:pPr>
            <a:r>
              <a:t>Detailed status items grouped from the screenshot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234440"/>
            <a:ext cx="5257800" cy="1682495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58952" y="1344168"/>
            <a:ext cx="492861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400">
                <a:solidFill>
                  <a:srgbClr val="162B40"/>
                </a:solidFill>
              </a:defRPr>
            </a:pPr>
            <a:r>
              <a:t>BMW Dev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51960" y="1335024"/>
            <a:ext cx="1417320" cy="301752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Mixed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709928"/>
            <a:ext cx="4937760" cy="1115567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300"/>
              </a:spcAft>
              <a:defRPr sz="1050">
                <a:solidFill>
                  <a:srgbClr val="1F2937"/>
                </a:solidFill>
              </a:defRPr>
            </a:pPr>
            <a:r>
              <a:t>Jashan is improving NFC detection on RR handle and fixing no-detect issue at high temperature PR.</a:t>
            </a:r>
          </a:p>
          <a:p>
            <a:pPr>
              <a:spcAft>
                <a:spcPts val="300"/>
              </a:spcAft>
              <a:defRPr sz="1050">
                <a:solidFill>
                  <a:srgbClr val="1F2937"/>
                </a:solidFill>
              </a:defRPr>
            </a:pPr>
            <a:r>
              <a:t>Yash fixed MISRA fixes for StoOpsum and CapaAppMunich; merge pending for CapaAppMunich.</a:t>
            </a:r>
          </a:p>
          <a:p>
            <a:pPr>
              <a:spcAft>
                <a:spcPts val="300"/>
              </a:spcAft>
              <a:defRPr sz="1050">
                <a:solidFill>
                  <a:srgbClr val="1F2937"/>
                </a:solidFill>
              </a:defRPr>
            </a:pPr>
            <a:r>
              <a:t>VoltM and TempM detailed design review feedback is pending.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234440"/>
            <a:ext cx="5257800" cy="1901952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73952" y="1344168"/>
            <a:ext cx="492861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400">
                <a:solidFill>
                  <a:srgbClr val="162B40"/>
                </a:solidFill>
              </a:defRPr>
            </a:pPr>
            <a:r>
              <a:t>RRVT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966960" y="1335024"/>
            <a:ext cx="1417320" cy="301752"/>
          </a:xfrm>
          <a:prstGeom prst="round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In Progress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1709928"/>
            <a:ext cx="4937760" cy="133502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300"/>
              </a:spcAft>
              <a:defRPr sz="1050">
                <a:solidFill>
                  <a:srgbClr val="1F2937"/>
                </a:solidFill>
              </a:defRPr>
            </a:pPr>
            <a:r>
              <a:t>Hardware activities ongoing.</a:t>
            </a:r>
          </a:p>
          <a:p>
            <a:pPr>
              <a:spcAft>
                <a:spcPts val="300"/>
              </a:spcAft>
              <a:defRPr sz="1050">
                <a:solidFill>
                  <a:srgbClr val="1F2937"/>
                </a:solidFill>
              </a:defRPr>
            </a:pPr>
            <a:r>
              <a:t>PCB design for RRVT.</a:t>
            </a:r>
          </a:p>
          <a:p>
            <a:pPr>
              <a:spcAft>
                <a:spcPts val="300"/>
              </a:spcAft>
              <a:defRPr sz="1050">
                <a:solidFill>
                  <a:srgbClr val="1F2937"/>
                </a:solidFill>
              </a:defRPr>
            </a:pPr>
            <a:r>
              <a:t>RRVT card connections.</a:t>
            </a:r>
          </a:p>
          <a:p>
            <a:pPr>
              <a:spcAft>
                <a:spcPts val="300"/>
              </a:spcAft>
              <a:defRPr sz="1050">
                <a:solidFill>
                  <a:srgbClr val="1F2937"/>
                </a:solidFill>
              </a:defRPr>
            </a:pPr>
            <a:r>
              <a:t>Needle bed work with mechanical team for RR needle bed.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3172967"/>
            <a:ext cx="5257800" cy="1682495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8952" y="3282695"/>
            <a:ext cx="492861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400">
                <a:solidFill>
                  <a:srgbClr val="162B40"/>
                </a:solidFill>
              </a:defRPr>
            </a:pPr>
            <a:r>
              <a:t>Seamless Entry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51960" y="3273551"/>
            <a:ext cx="1417320" cy="301752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Feedback Awaited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3648455"/>
            <a:ext cx="4937760" cy="1115567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300"/>
              </a:spcAft>
              <a:defRPr sz="1050">
                <a:solidFill>
                  <a:srgbClr val="1F2937"/>
                </a:solidFill>
              </a:defRPr>
            </a:pPr>
            <a:r>
              <a:t>New exit intent detection in Pinching_detection_1_2 feedback is present.</a:t>
            </a:r>
          </a:p>
          <a:p>
            <a:pPr>
              <a:spcAft>
                <a:spcPts val="300"/>
              </a:spcAft>
              <a:defRPr sz="1050">
                <a:solidFill>
                  <a:srgbClr val="1F2937"/>
                </a:solidFill>
              </a:defRPr>
            </a:pPr>
            <a:r>
              <a:t>Detection and 'Hand on thigh' detection are not functioning properly.</a:t>
            </a:r>
          </a:p>
          <a:p>
            <a:pPr>
              <a:spcAft>
                <a:spcPts val="300"/>
              </a:spcAft>
              <a:defRPr sz="1050">
                <a:solidFill>
                  <a:srgbClr val="1F2937"/>
                </a:solidFill>
              </a:defRPr>
            </a:pPr>
            <a:r>
              <a:t>Gurpratap made code changes, prepared a test video, and feedback is awaited.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3392424"/>
            <a:ext cx="5257800" cy="137160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73952" y="3502152"/>
            <a:ext cx="492861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400">
                <a:solidFill>
                  <a:srgbClr val="162B40"/>
                </a:solidFill>
              </a:defRPr>
            </a:pPr>
            <a:r>
              <a:t>E-Mirror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966960" y="3493008"/>
            <a:ext cx="1417320" cy="301752"/>
          </a:xfrm>
          <a:prstGeom prst="round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In Progress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3867912"/>
            <a:ext cx="4937760" cy="8046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300"/>
              </a:spcAft>
              <a:defRPr sz="1050">
                <a:solidFill>
                  <a:srgbClr val="1F2937"/>
                </a:solidFill>
              </a:defRPr>
            </a:pPr>
            <a:r>
              <a:t>Mode switching between Gesture and Rearward Confirmation feedback is OK.</a:t>
            </a:r>
          </a:p>
          <a:p>
            <a:pPr>
              <a:spcAft>
                <a:spcPts val="300"/>
              </a:spcAft>
              <a:defRPr sz="1050">
                <a:solidFill>
                  <a:srgbClr val="1F2937"/>
                </a:solidFill>
              </a:defRPr>
            </a:pPr>
            <a:r>
              <a:t>Pinching detection and e-mirror application are being integrated into a single application to run on the real vehicle.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748B"/>
                </a:solidFill>
              </a:defRPr>
            </a:pPr>
            <a:r>
              <a:t>Project datewise status | 04 June 2026 | Slide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62B40"/>
                </a:solidFill>
              </a:defRPr>
            </a:pPr>
            <a:r>
              <a:t>Hardware, Validation, and Team Planning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064" y="841248"/>
            <a:ext cx="10972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1F2937"/>
                </a:solidFill>
              </a:defRPr>
            </a:pPr>
            <a:r>
              <a:t>Detailed status items grouped from the screenshot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234440"/>
            <a:ext cx="5257800" cy="205740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58952" y="1344168"/>
            <a:ext cx="492861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400">
                <a:solidFill>
                  <a:srgbClr val="162B40"/>
                </a:solidFill>
              </a:defRPr>
            </a:pPr>
            <a:r>
              <a:t>SmartBU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51960" y="1335024"/>
            <a:ext cx="1417320" cy="301752"/>
          </a:xfrm>
          <a:prstGeom prst="round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In Progress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709928"/>
            <a:ext cx="4937760" cy="14904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300"/>
              </a:spcAft>
              <a:defRPr sz="1050">
                <a:solidFill>
                  <a:srgbClr val="1F2937"/>
                </a:solidFill>
              </a:defRPr>
            </a:pPr>
            <a:r>
              <a:t>Both fixture NFC Right side and NON-NFC Left side tested on Rev3.01.</a:t>
            </a:r>
          </a:p>
          <a:p>
            <a:pPr>
              <a:spcAft>
                <a:spcPts val="300"/>
              </a:spcAft>
              <a:defRPr sz="1050">
                <a:solidFill>
                  <a:srgbClr val="1F2937"/>
                </a:solidFill>
              </a:defRPr>
            </a:pPr>
            <a:r>
              <a:t>19 PCB2 tested; only one PCB gets hot in EOS test.</a:t>
            </a:r>
          </a:p>
          <a:p>
            <a:pPr>
              <a:spcAft>
                <a:spcPts val="300"/>
              </a:spcAft>
              <a:defRPr sz="1050">
                <a:solidFill>
                  <a:srgbClr val="1F2937"/>
                </a:solidFill>
              </a:defRPr>
            </a:pPr>
            <a:r>
              <a:t>Tested 100pF and 20pF capacitors using automatic switch test; reports and videos captured for evidence.</a:t>
            </a:r>
          </a:p>
          <a:p>
            <a:pPr>
              <a:spcAft>
                <a:spcPts val="300"/>
              </a:spcAft>
              <a:defRPr sz="1050">
                <a:solidFill>
                  <a:srgbClr val="1F2937"/>
                </a:solidFill>
              </a:defRPr>
            </a:pPr>
            <a:r>
              <a:t>Plan to test PCB1 with fixtures today.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3547872"/>
            <a:ext cx="5257800" cy="1682495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3657600"/>
            <a:ext cx="492861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400">
                <a:solidFill>
                  <a:srgbClr val="162B40"/>
                </a:solidFill>
              </a:defRPr>
            </a:pPr>
            <a:r>
              <a:t>Welfare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51960" y="3648456"/>
            <a:ext cx="1417320" cy="301752"/>
          </a:xfrm>
          <a:prstGeom prst="round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Planning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023360"/>
            <a:ext cx="4937760" cy="1115567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300"/>
              </a:spcAft>
              <a:defRPr sz="1050">
                <a:solidFill>
                  <a:srgbClr val="1F2937"/>
                </a:solidFill>
              </a:defRPr>
            </a:pPr>
            <a:r>
              <a:t>Planning for another cricket match on Saturday.</a:t>
            </a:r>
          </a:p>
          <a:p>
            <a:pPr>
              <a:spcAft>
                <a:spcPts val="300"/>
              </a:spcAft>
              <a:defRPr sz="1050">
                <a:solidFill>
                  <a:srgbClr val="1F2937"/>
                </a:solidFill>
              </a:defRPr>
            </a:pPr>
            <a:r>
              <a:t>Get-together party needs planning after 6 months.</a:t>
            </a:r>
          </a:p>
          <a:p>
            <a:pPr>
              <a:spcAft>
                <a:spcPts val="300"/>
              </a:spcAft>
              <a:defRPr sz="1050">
                <a:solidFill>
                  <a:srgbClr val="1F2937"/>
                </a:solidFill>
              </a:defRPr>
            </a:pPr>
            <a:r>
              <a:t>Reward engineers who consistently show more effort and strong timing.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748B"/>
                </a:solidFill>
              </a:defRPr>
            </a:pPr>
            <a:r>
              <a:t>Project datewise status | 04 June 2026 | Slide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62B40"/>
                </a:solidFill>
              </a:defRPr>
            </a:pPr>
            <a:r>
              <a:t>Next Actions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064" y="841248"/>
            <a:ext cx="10972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1F2937"/>
                </a:solidFill>
              </a:defRPr>
            </a:pPr>
            <a:r>
              <a:t>Suggested talking points and follow-ups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F2937"/>
                </a:solidFill>
              </a:defRPr>
            </a:pPr>
            <a:r>
              <a:rPr b="1"/>
              <a:t>JA00: Track SWIT closure by 6 June and prepare SWRT start readiness for 8 June.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84248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F2937"/>
                </a:solidFill>
              </a:defRPr>
            </a:pPr>
            <a:r>
              <a:rPr b="1"/>
              <a:t>JLR_NFC: Confirm release-test hold till 23 June and ASPICE preparation timeline.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734056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F2937"/>
                </a:solidFill>
              </a:defRPr>
            </a:pPr>
            <a:r>
              <a:rPr b="1"/>
              <a:t>BMW Dev: Close CapaAppMunich merge and complete VoltM/TempM detailed-design feedback.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483864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F2937"/>
                </a:solidFill>
              </a:defRPr>
            </a:pPr>
            <a:r>
              <a:rPr b="1"/>
              <a:t>Seamless Entry: Review test video feedback for exit-intent and hand-on-thigh detection.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233672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F2937"/>
                </a:solidFill>
              </a:defRPr>
            </a:pPr>
            <a:r>
              <a:rPr b="1"/>
              <a:t>SmartBU: Investigate the PCB heating observation and complete PCB1 fixture testing.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983479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F2937"/>
                </a:solidFill>
              </a:defRPr>
            </a:pPr>
            <a:r>
              <a:rPr b="1"/>
              <a:t>Welfare: Finalize cricket match and get-together planning owners/date.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748B"/>
                </a:solidFill>
              </a:defRPr>
            </a:pPr>
            <a:r>
              <a:t>Project datewise status | 04 June 2026 | Slide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62B40"/>
                </a:solidFill>
              </a:defRPr>
            </a:pPr>
            <a:r>
              <a:t>Presenter Notes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064" y="841248"/>
            <a:ext cx="10972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1F2937"/>
                </a:solidFill>
              </a:defRPr>
            </a:pPr>
            <a:r>
              <a:t>Use this slide as backup or remove before presenting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25880"/>
            <a:ext cx="10789920" cy="201168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435608"/>
            <a:ext cx="1046073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400">
                <a:solidFill>
                  <a:srgbClr val="162B40"/>
                </a:solidFill>
              </a:defRPr>
            </a:pPr>
            <a:r>
              <a:t>Source and Assumptions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801368"/>
            <a:ext cx="10469880" cy="144475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300"/>
              </a:spcAft>
              <a:defRPr sz="1050">
                <a:solidFill>
                  <a:srgbClr val="1F2937"/>
                </a:solidFill>
              </a:defRPr>
            </a:pPr>
            <a:r>
              <a:t>The deck is prepared from the visible text in the screenshot shared by the user.</a:t>
            </a:r>
          </a:p>
          <a:p>
            <a:pPr>
              <a:spcAft>
                <a:spcPts val="300"/>
              </a:spcAft>
              <a:defRPr sz="1050">
                <a:solidFill>
                  <a:srgbClr val="1F2937"/>
                </a:solidFill>
              </a:defRPr>
            </a:pPr>
            <a:r>
              <a:t>Items partly cut off in the screenshot were not expanded beyond what was readable.</a:t>
            </a:r>
          </a:p>
          <a:p>
            <a:pPr>
              <a:spcAft>
                <a:spcPts val="300"/>
              </a:spcAft>
              <a:defRPr sz="1050">
                <a:solidFill>
                  <a:srgbClr val="1F2937"/>
                </a:solidFill>
              </a:defRPr>
            </a:pPr>
            <a:r>
              <a:t>Recommended presentation flow: summary, testing tracks, development/integration tracks, hardware/planning, next actions.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748B"/>
                </a:solidFill>
              </a:defRPr>
            </a:pPr>
            <a:r>
              <a:t>Project datewise status | 04 June 2026 | Slide 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