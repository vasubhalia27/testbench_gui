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509" r:id="rId5"/>
    <p:sldId id="508" r:id="rId6"/>
    <p:sldId id="260" r:id="rId7"/>
    <p:sldId id="495" r:id="rId8"/>
    <p:sldId id="263" r:id="rId9"/>
  </p:sldIdLst>
  <p:sldSz cx="12192000" cy="6858000"/>
  <p:notesSz cx="6738938" cy="986948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30">
          <p15:clr>
            <a:srgbClr val="A4A3A4"/>
          </p15:clr>
        </p15:guide>
        <p15:guide id="2" pos="2143">
          <p15:clr>
            <a:srgbClr val="A4A3A4"/>
          </p15:clr>
        </p15:guide>
        <p15:guide id="3" orient="horz" pos="3108">
          <p15:clr>
            <a:srgbClr val="A4A3A4"/>
          </p15:clr>
        </p15:guide>
        <p15:guide id="4" pos="2122">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tchvjtF56JHLxTh1UQGSo4GNB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DD7A83-4E89-4636-ABC7-2F98FFF4DE42}">
  <a:tblStyle styleId="{A6DD7A83-4E89-4636-ABC7-2F98FFF4DE4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9FFA240-3357-424F-B38C-3EF4CDB24324}" styleName="Table_1">
    <a:wholeTbl>
      <a:tcTxStyle b="off" i="off">
        <a:font>
          <a:latin typeface="Meiryo UI"/>
          <a:ea typeface="Meiryo UI"/>
          <a:cs typeface="Meiryo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9FA"/>
          </a:solidFill>
        </a:fill>
      </a:tcStyle>
    </a:wholeTbl>
    <a:band1H>
      <a:tcTxStyle/>
      <a:tcStyle>
        <a:tcBdr/>
        <a:fill>
          <a:solidFill>
            <a:srgbClr val="E7F3F4"/>
          </a:solidFill>
        </a:fill>
      </a:tcStyle>
    </a:band1H>
    <a:band2H>
      <a:tcTxStyle/>
      <a:tcStyle>
        <a:tcBdr/>
      </a:tcStyle>
    </a:band2H>
    <a:band1V>
      <a:tcTxStyle/>
      <a:tcStyle>
        <a:tcBdr/>
        <a:fill>
          <a:solidFill>
            <a:srgbClr val="E7F3F4"/>
          </a:solidFill>
        </a:fill>
      </a:tcStyle>
    </a:band1V>
    <a:band2V>
      <a:tcTxStyle/>
      <a:tcStyle>
        <a:tcBdr/>
      </a:tcStyle>
    </a:band2V>
    <a:lastCol>
      <a:tcTxStyle b="on" i="off">
        <a:font>
          <a:latin typeface="Meiryo UI"/>
          <a:ea typeface="Meiryo UI"/>
          <a:cs typeface="Meiryo UI"/>
        </a:font>
        <a:schemeClr val="lt1"/>
      </a:tcTxStyle>
      <a:tcStyle>
        <a:tcBdr/>
        <a:fill>
          <a:solidFill>
            <a:schemeClr val="accent1"/>
          </a:solidFill>
        </a:fill>
      </a:tcStyle>
    </a:lastCol>
    <a:firstCol>
      <a:tcTxStyle b="on" i="off">
        <a:font>
          <a:latin typeface="Meiryo UI"/>
          <a:ea typeface="Meiryo UI"/>
          <a:cs typeface="Meiryo UI"/>
        </a:font>
        <a:schemeClr val="lt1"/>
      </a:tcTxStyle>
      <a:tcStyle>
        <a:tcBdr/>
        <a:fill>
          <a:solidFill>
            <a:schemeClr val="accent1"/>
          </a:solidFill>
        </a:fill>
      </a:tcStyle>
    </a:firstCol>
    <a:lastRow>
      <a:tcTxStyle b="on" i="off">
        <a:font>
          <a:latin typeface="Meiryo UI"/>
          <a:ea typeface="Meiryo UI"/>
          <a:cs typeface="Meiryo U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Meiryo UI"/>
          <a:ea typeface="Meiryo UI"/>
          <a:cs typeface="Meiryo U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BE4D810F-5761-443F-9930-DA57DD775853}" styleName="Table_2">
    <a:wholeTbl>
      <a:tcTxStyle b="off" i="off">
        <a:font>
          <a:latin typeface="Meiryo UI"/>
          <a:ea typeface="Meiryo UI"/>
          <a:cs typeface="Meiryo U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F3F9FA"/>
          </a:solidFill>
        </a:fill>
      </a:tcStyle>
    </a:band1H>
    <a:band2H>
      <a:tcTxStyle/>
      <a:tcStyle>
        <a:tcBdr/>
      </a:tcStyle>
    </a:band2H>
    <a:band1V>
      <a:tcTxStyle/>
      <a:tcStyle>
        <a:tcBdr/>
        <a:fill>
          <a:solidFill>
            <a:srgbClr val="F3F9FA"/>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Meiryo UI"/>
          <a:ea typeface="Meiryo UI"/>
          <a:cs typeface="Meiryo UI"/>
        </a:font>
        <a:schemeClr val="lt1"/>
      </a:tcTxStyle>
      <a:tcStyle>
        <a:tcBdr/>
        <a:fill>
          <a:solidFill>
            <a:schemeClr val="accent1"/>
          </a:solidFill>
        </a:fill>
      </a:tcStyle>
    </a:firstRow>
    <a:neCell>
      <a:tcTxStyle/>
      <a:tcStyle>
        <a:tcBdr/>
      </a:tcStyle>
    </a:neCell>
    <a:nwCell>
      <a:tcTxStyle/>
      <a:tcStyle>
        <a:tcBdr/>
      </a:tcStyle>
    </a:nwCell>
  </a:tblStyle>
  <a:tblStyle styleId="{86F23511-ADCD-4624-AB69-F43ED49CFFFE}" styleName="Table_3">
    <a:wholeTbl>
      <a:tcTxStyle b="off" i="off">
        <a:font>
          <a:latin typeface="Meiryo UI"/>
          <a:ea typeface="Meiryo UI"/>
          <a:cs typeface="Meiryo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F"/>
          </a:solidFill>
        </a:fill>
      </a:tcStyle>
    </a:wholeTbl>
    <a:band1H>
      <a:tcTxStyle/>
      <a:tcStyle>
        <a:tcBdr/>
        <a:fill>
          <a:solidFill>
            <a:srgbClr val="CCCCDD"/>
          </a:solidFill>
        </a:fill>
      </a:tcStyle>
    </a:band1H>
    <a:band2H>
      <a:tcTxStyle/>
      <a:tcStyle>
        <a:tcBdr/>
      </a:tcStyle>
    </a:band2H>
    <a:band1V>
      <a:tcTxStyle/>
      <a:tcStyle>
        <a:tcBdr/>
        <a:fill>
          <a:solidFill>
            <a:srgbClr val="CCCCDD"/>
          </a:solidFill>
        </a:fill>
      </a:tcStyle>
    </a:band1V>
    <a:band2V>
      <a:tcTxStyle/>
      <a:tcStyle>
        <a:tcBdr/>
      </a:tcStyle>
    </a:band2V>
    <a:lastCol>
      <a:tcTxStyle b="on" i="off">
        <a:font>
          <a:latin typeface="Meiryo UI"/>
          <a:ea typeface="Meiryo UI"/>
          <a:cs typeface="Meiryo UI"/>
        </a:font>
        <a:schemeClr val="lt1"/>
      </a:tcTxStyle>
      <a:tcStyle>
        <a:tcBdr/>
        <a:fill>
          <a:solidFill>
            <a:schemeClr val="accent2"/>
          </a:solidFill>
        </a:fill>
      </a:tcStyle>
    </a:lastCol>
    <a:firstCol>
      <a:tcTxStyle b="on" i="off">
        <a:font>
          <a:latin typeface="Meiryo UI"/>
          <a:ea typeface="Meiryo UI"/>
          <a:cs typeface="Meiryo UI"/>
        </a:font>
        <a:schemeClr val="lt1"/>
      </a:tcTxStyle>
      <a:tcStyle>
        <a:tcBdr/>
        <a:fill>
          <a:solidFill>
            <a:schemeClr val="accent2"/>
          </a:solidFill>
        </a:fill>
      </a:tcStyle>
    </a:firstCol>
    <a:lastRow>
      <a:tcTxStyle b="on" i="off">
        <a:font>
          <a:latin typeface="Meiryo UI"/>
          <a:ea typeface="Meiryo UI"/>
          <a:cs typeface="Meiryo U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Meiryo UI"/>
          <a:ea typeface="Meiryo UI"/>
          <a:cs typeface="Meiryo U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69" d="100"/>
          <a:sy n="69" d="100"/>
        </p:scale>
        <p:origin x="756" y="60"/>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30"/>
        <p:guide pos="2143"/>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1"/>
            <a:ext cx="2920789" cy="493872"/>
          </a:xfrm>
          <a:prstGeom prst="rect">
            <a:avLst/>
          </a:prstGeom>
          <a:noFill/>
          <a:ln>
            <a:noFill/>
          </a:ln>
        </p:spPr>
        <p:txBody>
          <a:bodyPr spcFirstLastPara="1" wrap="square" lIns="91450" tIns="45725" rIns="91450" bIns="457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6561" y="1"/>
            <a:ext cx="2920788" cy="493872"/>
          </a:xfrm>
          <a:prstGeom prst="rect">
            <a:avLst/>
          </a:prstGeom>
          <a:noFill/>
          <a:ln>
            <a:noFill/>
          </a:ln>
        </p:spPr>
        <p:txBody>
          <a:bodyPr spcFirstLastPara="1" wrap="square" lIns="91450" tIns="45725" rIns="91450" bIns="457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6" name="Google Shape;6;n"/>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1: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24" name="Google Shape;24;p1: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0" lvl="0" indent="0" algn="l" rtl="0">
              <a:spcBef>
                <a:spcPts val="0"/>
              </a:spcBef>
              <a:spcAft>
                <a:spcPts val="0"/>
              </a:spcAft>
              <a:buNone/>
            </a:pPr>
            <a:endParaRPr/>
          </a:p>
        </p:txBody>
      </p:sp>
      <p:sp>
        <p:nvSpPr>
          <p:cNvPr id="25" name="Google Shape;25;p1:notes"/>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p>
            <a:pPr marL="0" lvl="0" indent="0" algn="l" rtl="0">
              <a:spcBef>
                <a:spcPts val="0"/>
              </a:spcBef>
              <a:spcAft>
                <a:spcPts val="0"/>
              </a:spcAft>
              <a:buNone/>
            </a:pPr>
            <a:endParaRPr/>
          </a:p>
        </p:txBody>
      </p:sp>
      <p:sp>
        <p:nvSpPr>
          <p:cNvPr id="26" name="Google Shape;26;p1: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r" rtl="0">
              <a:spcBef>
                <a:spcPts val="0"/>
              </a:spcBef>
              <a:spcAft>
                <a:spcPts val="0"/>
              </a:spcAft>
              <a:buNone/>
            </a:pPr>
            <a:fld id="{00000000-1234-1234-1234-123412341234}" type="slidenum">
              <a:rPr lang="pt-BR"/>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txBox="1">
            <a:spLocks noGrp="1"/>
          </p:cNvSpPr>
          <p:nvPr>
            <p:ph type="body" idx="1"/>
          </p:nvPr>
        </p:nvSpPr>
        <p:spPr>
          <a:xfrm>
            <a:off x="673418" y="4687808"/>
            <a:ext cx="5392104" cy="4441667"/>
          </a:xfrm>
          <a:prstGeom prst="rect">
            <a:avLst/>
          </a:prstGeom>
        </p:spPr>
        <p:txBody>
          <a:bodyPr spcFirstLastPara="1" wrap="square" lIns="91450" tIns="45725" rIns="91450" bIns="45725" anchor="t" anchorCtr="0">
            <a:noAutofit/>
          </a:bodyPr>
          <a:lstStyle/>
          <a:p>
            <a:pPr marL="0" lvl="0" indent="0" algn="l" rtl="0">
              <a:spcBef>
                <a:spcPts val="0"/>
              </a:spcBef>
              <a:spcAft>
                <a:spcPts val="0"/>
              </a:spcAft>
              <a:buNone/>
            </a:pPr>
            <a:endParaRPr dirty="0"/>
          </a:p>
        </p:txBody>
      </p:sp>
      <p:sp>
        <p:nvSpPr>
          <p:cNvPr id="38" name="Google Shape;38;p2: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73418" y="4687808"/>
            <a:ext cx="5392104" cy="4441667"/>
          </a:xfrm>
          <a:prstGeom prst="rect">
            <a:avLst/>
          </a:prstGeom>
        </p:spPr>
        <p:txBody>
          <a:bodyPr spcFirstLastPara="1" wrap="square" lIns="91450" tIns="45725" rIns="91450" bIns="45725"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3: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49" name="Google Shape;49;p13: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457200" marR="0" lvl="0" indent="-228600" algn="l" rtl="0">
              <a:lnSpc>
                <a:spcPct val="100000"/>
              </a:lnSpc>
              <a:spcBef>
                <a:spcPts val="0"/>
              </a:spcBef>
              <a:spcAft>
                <a:spcPts val="0"/>
              </a:spcAft>
              <a:buSzPts val="1400"/>
              <a:buNone/>
            </a:pPr>
            <a:endParaRPr/>
          </a:p>
          <a:p>
            <a:pPr marL="457200" marR="0" lvl="0" indent="-228600" algn="l" rtl="0">
              <a:lnSpc>
                <a:spcPct val="100000"/>
              </a:lnSpc>
              <a:spcBef>
                <a:spcPts val="0"/>
              </a:spcBef>
              <a:spcAft>
                <a:spcPts val="0"/>
              </a:spcAft>
              <a:buSzPts val="1400"/>
              <a:buNone/>
            </a:pPr>
            <a:endParaRPr/>
          </a:p>
        </p:txBody>
      </p:sp>
      <p:sp>
        <p:nvSpPr>
          <p:cNvPr id="50" name="Google Shape;50;p13: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l" rtl="0">
              <a:lnSpc>
                <a:spcPct val="100000"/>
              </a:lnSpc>
              <a:spcBef>
                <a:spcPts val="0"/>
              </a:spcBef>
              <a:spcAft>
                <a:spcPts val="0"/>
              </a:spcAft>
              <a:buNone/>
            </a:pPr>
            <a:fld id="{00000000-1234-1234-1234-123412341234}" type="slidenum">
              <a:rPr lang="pt-B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5: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83" name="Google Shape;83;p5: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457200" marR="0" lvl="0" indent="-228600" algn="l" rtl="0">
              <a:lnSpc>
                <a:spcPct val="100000"/>
              </a:lnSpc>
              <a:spcBef>
                <a:spcPts val="0"/>
              </a:spcBef>
              <a:spcAft>
                <a:spcPts val="0"/>
              </a:spcAft>
              <a:buClr>
                <a:schemeClr val="dk1"/>
              </a:buClr>
              <a:buSzPts val="1400"/>
              <a:buFont typeface="Calibri"/>
              <a:buNone/>
            </a:pPr>
            <a:endParaRPr/>
          </a:p>
        </p:txBody>
      </p:sp>
      <p:sp>
        <p:nvSpPr>
          <p:cNvPr id="84" name="Google Shape;84;p5:notes"/>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p>
            <a:pPr marL="0" marR="0" lvl="0" indent="0" algn="l" rtl="0">
              <a:lnSpc>
                <a:spcPct val="100000"/>
              </a:lnSpc>
              <a:spcBef>
                <a:spcPts val="0"/>
              </a:spcBef>
              <a:spcAft>
                <a:spcPts val="0"/>
              </a:spcAft>
              <a:buClr>
                <a:schemeClr val="dk1"/>
              </a:buClr>
              <a:buSzPts val="1400"/>
              <a:buFont typeface="Calibri"/>
              <a:buNone/>
            </a:pPr>
            <a:endParaRPr/>
          </a:p>
        </p:txBody>
      </p:sp>
      <p:sp>
        <p:nvSpPr>
          <p:cNvPr id="85" name="Google Shape;85;p5: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l" rtl="0">
              <a:lnSpc>
                <a:spcPct val="100000"/>
              </a:lnSpc>
              <a:spcBef>
                <a:spcPts val="0"/>
              </a:spcBef>
              <a:spcAft>
                <a:spcPts val="0"/>
              </a:spcAft>
              <a:buClr>
                <a:schemeClr val="dk1"/>
              </a:buClr>
              <a:buSzPts val="1400"/>
              <a:buFont typeface="Calibri"/>
              <a:buNone/>
            </a:pPr>
            <a:fld id="{00000000-1234-1234-1234-123412341234}" type="slidenum">
              <a:rPr lang="pt-BR"/>
              <a:pPr marL="0" lvl="0" indent="0" algn="l" rtl="0">
                <a:lnSpc>
                  <a:spcPct val="100000"/>
                </a:lnSpc>
                <a:spcBef>
                  <a:spcPts val="0"/>
                </a:spcBef>
                <a:spcAft>
                  <a:spcPts val="0"/>
                </a:spcAft>
                <a:buClr>
                  <a:schemeClr val="dk1"/>
                </a:buClr>
                <a:buSzPts val="1400"/>
                <a:buFont typeface="Calibri"/>
                <a:buNone/>
              </a:p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a:spLocks noGrp="1" noRot="1" noChangeAspect="1"/>
          </p:cNvSpPr>
          <p:nvPr>
            <p:ph type="sldImg" idx="2"/>
          </p:nvPr>
        </p:nvSpPr>
        <p:spPr>
          <a:xfrm>
            <a:off x="79375" y="739775"/>
            <a:ext cx="6580188"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a:p>
        </p:txBody>
      </p:sp>
      <p:sp>
        <p:nvSpPr>
          <p:cNvPr id="119" name="Google Shape;119;p8:notes"/>
          <p:cNvSpPr txBox="1">
            <a:spLocks noGrp="1"/>
          </p:cNvSpPr>
          <p:nvPr>
            <p:ph type="body" idx="1"/>
          </p:nvPr>
        </p:nvSpPr>
        <p:spPr>
          <a:xfrm>
            <a:off x="673418" y="4687808"/>
            <a:ext cx="5392104" cy="4441667"/>
          </a:xfrm>
          <a:prstGeom prst="rect">
            <a:avLst/>
          </a:prstGeom>
          <a:noFill/>
          <a:ln>
            <a:noFill/>
          </a:ln>
        </p:spPr>
        <p:txBody>
          <a:bodyPr spcFirstLastPara="1" wrap="square" lIns="91450" tIns="45725" rIns="91450" bIns="45725" anchor="t" anchorCtr="0">
            <a:noAutofit/>
          </a:bodyPr>
          <a:lstStyle/>
          <a:p>
            <a:pPr marL="0" lvl="0" indent="0" algn="l" rtl="0">
              <a:spcBef>
                <a:spcPts val="0"/>
              </a:spcBef>
              <a:spcAft>
                <a:spcPts val="0"/>
              </a:spcAft>
              <a:buNone/>
            </a:pPr>
            <a:endParaRPr/>
          </a:p>
        </p:txBody>
      </p:sp>
      <p:sp>
        <p:nvSpPr>
          <p:cNvPr id="120" name="Google Shape;120;p8:notes"/>
          <p:cNvSpPr txBox="1">
            <a:spLocks noGrp="1"/>
          </p:cNvSpPr>
          <p:nvPr>
            <p:ph type="ftr" idx="11"/>
          </p:nvPr>
        </p:nvSpPr>
        <p:spPr>
          <a:xfrm>
            <a:off x="1" y="9374028"/>
            <a:ext cx="2920789" cy="493871"/>
          </a:xfrm>
          <a:prstGeom prst="rect">
            <a:avLst/>
          </a:prstGeom>
          <a:noFill/>
          <a:ln>
            <a:noFill/>
          </a:ln>
        </p:spPr>
        <p:txBody>
          <a:bodyPr spcFirstLastPara="1" wrap="square" lIns="91450" tIns="45725" rIns="91450" bIns="45725" anchor="b" anchorCtr="0">
            <a:noAutofit/>
          </a:bodyPr>
          <a:lstStyle/>
          <a:p>
            <a:pPr marL="0" lvl="0" indent="0" algn="l" rtl="0">
              <a:spcBef>
                <a:spcPts val="0"/>
              </a:spcBef>
              <a:spcAft>
                <a:spcPts val="0"/>
              </a:spcAft>
              <a:buNone/>
            </a:pPr>
            <a:endParaRPr/>
          </a:p>
        </p:txBody>
      </p:sp>
      <p:sp>
        <p:nvSpPr>
          <p:cNvPr id="121" name="Google Shape;121;p8:notes"/>
          <p:cNvSpPr txBox="1">
            <a:spLocks noGrp="1"/>
          </p:cNvSpPr>
          <p:nvPr>
            <p:ph type="sldNum" idx="12"/>
          </p:nvPr>
        </p:nvSpPr>
        <p:spPr>
          <a:xfrm>
            <a:off x="3816561" y="9374028"/>
            <a:ext cx="2920788" cy="493871"/>
          </a:xfrm>
          <a:prstGeom prst="rect">
            <a:avLst/>
          </a:prstGeom>
          <a:noFill/>
          <a:ln>
            <a:noFill/>
          </a:ln>
        </p:spPr>
        <p:txBody>
          <a:bodyPr spcFirstLastPara="1" wrap="square" lIns="91450" tIns="45725" rIns="91450" bIns="45725" anchor="b" anchorCtr="0">
            <a:noAutofit/>
          </a:bodyPr>
          <a:lstStyle/>
          <a:p>
            <a:pPr marL="0" lvl="0" indent="0" algn="r" rtl="0">
              <a:spcBef>
                <a:spcPts val="0"/>
              </a:spcBef>
              <a:spcAft>
                <a:spcPts val="0"/>
              </a:spcAft>
              <a:buNone/>
            </a:pPr>
            <a:fld id="{00000000-1234-1234-1234-123412341234}" type="slidenum">
              <a:rPr lang="pt-BR"/>
              <a:pPr marL="0" lvl="0" indent="0" algn="r" rtl="0">
                <a:spcBef>
                  <a:spcPts val="0"/>
                </a:spcBef>
                <a:spcAft>
                  <a:spcPts val="0"/>
                </a:spcAft>
                <a:buNone/>
              </a:pPr>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15"/>
        <p:cNvGrpSpPr/>
        <p:nvPr/>
      </p:nvGrpSpPr>
      <p:grpSpPr>
        <a:xfrm>
          <a:off x="0" y="0"/>
          <a:ext cx="0" cy="0"/>
          <a:chOff x="0" y="0"/>
          <a:chExt cx="0" cy="0"/>
        </a:xfrm>
      </p:grpSpPr>
      <p:sp>
        <p:nvSpPr>
          <p:cNvPr id="16" name="Google Shape;16;p11"/>
          <p:cNvSpPr txBox="1">
            <a:spLocks noGrp="1"/>
          </p:cNvSpPr>
          <p:nvPr>
            <p:ph type="dt" idx="10"/>
          </p:nvPr>
        </p:nvSpPr>
        <p:spPr>
          <a:xfrm>
            <a:off x="0" y="6381328"/>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タイトルとコンテンツ" type="obj">
  <p:cSld name="OBJECT">
    <p:spTree>
      <p:nvGrpSpPr>
        <p:cNvPr id="1" name="Shape 17"/>
        <p:cNvGrpSpPr/>
        <p:nvPr/>
      </p:nvGrpSpPr>
      <p:grpSpPr>
        <a:xfrm>
          <a:off x="0" y="0"/>
          <a:ext cx="0" cy="0"/>
          <a:chOff x="0" y="0"/>
          <a:chExt cx="0" cy="0"/>
        </a:xfrm>
      </p:grpSpPr>
      <p:sp>
        <p:nvSpPr>
          <p:cNvPr id="18" name="Google Shape;18;p12"/>
          <p:cNvSpPr txBox="1">
            <a:spLocks noGrp="1"/>
          </p:cNvSpPr>
          <p:nvPr>
            <p:ph type="dt" idx="10"/>
          </p:nvPr>
        </p:nvSpPr>
        <p:spPr>
          <a:xfrm>
            <a:off x="0" y="6381328"/>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title"/>
          </p:nvPr>
        </p:nvSpPr>
        <p:spPr>
          <a:xfrm>
            <a:off x="215902" y="115890"/>
            <a:ext cx="10547351" cy="5048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000" b="1" i="1">
                <a:solidFill>
                  <a:srgbClr val="000066"/>
                </a:solidFill>
                <a:latin typeface="Arial"/>
                <a:ea typeface="Arial"/>
                <a:cs typeface="Arial"/>
                <a:sym typeface="Arial"/>
              </a:defRPr>
            </a:lvl1pPr>
            <a:lvl2pPr marR="0" lvl="1" algn="l" rtl="0">
              <a:spcBef>
                <a:spcPts val="0"/>
              </a:spcBef>
              <a:spcAft>
                <a:spcPts val="0"/>
              </a:spcAft>
              <a:buSzPts val="1400"/>
              <a:buNone/>
              <a:defRPr sz="2000" b="1" i="1" u="none" strike="noStrike" cap="none">
                <a:solidFill>
                  <a:srgbClr val="000066"/>
                </a:solidFill>
                <a:latin typeface="Arial"/>
                <a:ea typeface="Arial"/>
                <a:cs typeface="Arial"/>
                <a:sym typeface="Arial"/>
              </a:defRPr>
            </a:lvl2pPr>
            <a:lvl3pPr marR="0" lvl="2" algn="l" rtl="0">
              <a:spcBef>
                <a:spcPts val="0"/>
              </a:spcBef>
              <a:spcAft>
                <a:spcPts val="0"/>
              </a:spcAft>
              <a:buSzPts val="1400"/>
              <a:buNone/>
              <a:defRPr sz="2000" b="1" i="1" u="none" strike="noStrike" cap="none">
                <a:solidFill>
                  <a:srgbClr val="000066"/>
                </a:solidFill>
                <a:latin typeface="Arial"/>
                <a:ea typeface="Arial"/>
                <a:cs typeface="Arial"/>
                <a:sym typeface="Arial"/>
              </a:defRPr>
            </a:lvl3pPr>
            <a:lvl4pPr marR="0" lvl="3" algn="l" rtl="0">
              <a:spcBef>
                <a:spcPts val="0"/>
              </a:spcBef>
              <a:spcAft>
                <a:spcPts val="0"/>
              </a:spcAft>
              <a:buSzPts val="1400"/>
              <a:buNone/>
              <a:defRPr sz="2000" b="1" i="1" u="none" strike="noStrike" cap="none">
                <a:solidFill>
                  <a:srgbClr val="000066"/>
                </a:solidFill>
                <a:latin typeface="Arial"/>
                <a:ea typeface="Arial"/>
                <a:cs typeface="Arial"/>
                <a:sym typeface="Arial"/>
              </a:defRPr>
            </a:lvl4pPr>
            <a:lvl5pPr marR="0" lvl="4" algn="l" rtl="0">
              <a:spcBef>
                <a:spcPts val="0"/>
              </a:spcBef>
              <a:spcAft>
                <a:spcPts val="0"/>
              </a:spcAft>
              <a:buSzPts val="1400"/>
              <a:buNone/>
              <a:defRPr sz="2000" b="1" i="1" u="none" strike="noStrike" cap="none">
                <a:solidFill>
                  <a:srgbClr val="000066"/>
                </a:solidFill>
                <a:latin typeface="Arial"/>
                <a:ea typeface="Arial"/>
                <a:cs typeface="Arial"/>
                <a:sym typeface="Arial"/>
              </a:defRPr>
            </a:lvl5pPr>
            <a:lvl6pPr marR="0" lvl="5" algn="l" rtl="0">
              <a:spcBef>
                <a:spcPts val="0"/>
              </a:spcBef>
              <a:spcAft>
                <a:spcPts val="0"/>
              </a:spcAft>
              <a:buSzPts val="1400"/>
              <a:buNone/>
              <a:defRPr sz="2000" b="1" i="1" u="none" strike="noStrike" cap="none">
                <a:solidFill>
                  <a:srgbClr val="000066"/>
                </a:solidFill>
                <a:latin typeface="Arial"/>
                <a:ea typeface="Arial"/>
                <a:cs typeface="Arial"/>
                <a:sym typeface="Arial"/>
              </a:defRPr>
            </a:lvl6pPr>
            <a:lvl7pPr marR="0" lvl="6" algn="l" rtl="0">
              <a:spcBef>
                <a:spcPts val="0"/>
              </a:spcBef>
              <a:spcAft>
                <a:spcPts val="0"/>
              </a:spcAft>
              <a:buSzPts val="1400"/>
              <a:buNone/>
              <a:defRPr sz="2000" b="1" i="1" u="none" strike="noStrike" cap="none">
                <a:solidFill>
                  <a:srgbClr val="000066"/>
                </a:solidFill>
                <a:latin typeface="Arial"/>
                <a:ea typeface="Arial"/>
                <a:cs typeface="Arial"/>
                <a:sym typeface="Arial"/>
              </a:defRPr>
            </a:lvl7pPr>
            <a:lvl8pPr marR="0" lvl="7" algn="l" rtl="0">
              <a:spcBef>
                <a:spcPts val="0"/>
              </a:spcBef>
              <a:spcAft>
                <a:spcPts val="0"/>
              </a:spcAft>
              <a:buSzPts val="1400"/>
              <a:buNone/>
              <a:defRPr sz="2000" b="1" i="1" u="none" strike="noStrike" cap="none">
                <a:solidFill>
                  <a:srgbClr val="000066"/>
                </a:solidFill>
                <a:latin typeface="Arial"/>
                <a:ea typeface="Arial"/>
                <a:cs typeface="Arial"/>
                <a:sym typeface="Arial"/>
              </a:defRPr>
            </a:lvl8pPr>
            <a:lvl9pPr marR="0" lvl="8" algn="l" rtl="0">
              <a:spcBef>
                <a:spcPts val="0"/>
              </a:spcBef>
              <a:spcAft>
                <a:spcPts val="0"/>
              </a:spcAft>
              <a:buSzPts val="1400"/>
              <a:buNone/>
              <a:defRPr sz="2000" b="1" i="1" u="none" strike="noStrike" cap="none">
                <a:solidFill>
                  <a:srgbClr val="000066"/>
                </a:solidFill>
                <a:latin typeface="Arial"/>
                <a:ea typeface="Arial"/>
                <a:cs typeface="Arial"/>
                <a:sym typeface="Arial"/>
              </a:defRPr>
            </a:lvl9pPr>
          </a:lstStyle>
          <a:p>
            <a:endParaRPr/>
          </a:p>
        </p:txBody>
      </p:sp>
      <p:sp>
        <p:nvSpPr>
          <p:cNvPr id="20" name="Google Shape;20;p12"/>
          <p:cNvSpPr txBox="1">
            <a:spLocks noGrp="1"/>
          </p:cNvSpPr>
          <p:nvPr>
            <p:ph type="body" idx="1"/>
          </p:nvPr>
        </p:nvSpPr>
        <p:spPr>
          <a:xfrm>
            <a:off x="215900" y="765176"/>
            <a:ext cx="11787717" cy="5688013"/>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25000"/>
              </a:lnSpc>
              <a:spcBef>
                <a:spcPts val="360"/>
              </a:spcBef>
              <a:spcAft>
                <a:spcPts val="0"/>
              </a:spcAft>
              <a:buClr>
                <a:srgbClr val="333399"/>
              </a:buClr>
              <a:buSzPts val="1800"/>
              <a:buFont typeface="Noto Sans Symbols"/>
              <a:buChar char="●"/>
              <a:defRPr sz="1800" b="1" i="0" u="none" strike="noStrike" cap="none">
                <a:solidFill>
                  <a:schemeClr val="dk1"/>
                </a:solidFill>
                <a:latin typeface="Arial"/>
                <a:ea typeface="Arial"/>
                <a:cs typeface="Arial"/>
                <a:sym typeface="Arial"/>
              </a:defRPr>
            </a:lvl1pPr>
            <a:lvl2pPr marL="914400" marR="0" lvl="1" indent="-342900" algn="l" rtl="0">
              <a:lnSpc>
                <a:spcPct val="125000"/>
              </a:lnSpc>
              <a:spcBef>
                <a:spcPts val="360"/>
              </a:spcBef>
              <a:spcAft>
                <a:spcPts val="0"/>
              </a:spcAft>
              <a:buClr>
                <a:srgbClr val="333399"/>
              </a:buClr>
              <a:buSzPts val="1800"/>
              <a:buFont typeface="Noto Sans Symbols"/>
              <a:buChar char="✔"/>
              <a:defRPr sz="1800" b="1" i="0" u="none" strike="noStrike" cap="none">
                <a:solidFill>
                  <a:schemeClr val="dk1"/>
                </a:solidFill>
                <a:latin typeface="Arial"/>
                <a:ea typeface="Arial"/>
                <a:cs typeface="Arial"/>
                <a:sym typeface="Arial"/>
              </a:defRPr>
            </a:lvl2pPr>
            <a:lvl3pPr marL="1371600" marR="0" lvl="2" indent="-330200" algn="l" rtl="0">
              <a:lnSpc>
                <a:spcPct val="125000"/>
              </a:lnSpc>
              <a:spcBef>
                <a:spcPts val="320"/>
              </a:spcBef>
              <a:spcAft>
                <a:spcPts val="0"/>
              </a:spcAft>
              <a:buClr>
                <a:srgbClr val="333399"/>
              </a:buClr>
              <a:buSzPts val="1600"/>
              <a:buFont typeface="Noto Sans Symbols"/>
              <a:buChar char="⬥"/>
              <a:defRPr sz="1600" b="1" i="0" u="none" strike="noStrike" cap="none">
                <a:solidFill>
                  <a:schemeClr val="dk1"/>
                </a:solidFill>
                <a:latin typeface="Arial"/>
                <a:ea typeface="Arial"/>
                <a:cs typeface="Arial"/>
                <a:sym typeface="Arial"/>
              </a:defRPr>
            </a:lvl3pPr>
            <a:lvl4pPr marL="1828800" marR="0" lvl="3" indent="-330200" algn="l" rtl="0">
              <a:lnSpc>
                <a:spcPct val="125000"/>
              </a:lnSpc>
              <a:spcBef>
                <a:spcPts val="320"/>
              </a:spcBef>
              <a:spcAft>
                <a:spcPts val="0"/>
              </a:spcAft>
              <a:buClr>
                <a:srgbClr val="333399"/>
              </a:buClr>
              <a:buSzPts val="1600"/>
              <a:buFont typeface="Arial"/>
              <a:buChar char="–"/>
              <a:defRPr sz="1600" b="1" i="0" u="none" strike="noStrike" cap="none">
                <a:solidFill>
                  <a:schemeClr val="dk1"/>
                </a:solidFill>
                <a:latin typeface="Arial"/>
                <a:ea typeface="Arial"/>
                <a:cs typeface="Arial"/>
                <a:sym typeface="Arial"/>
              </a:defRPr>
            </a:lvl4pPr>
            <a:lvl5pPr marL="2286000" marR="0" lvl="4" indent="-330200" algn="l" rtl="0">
              <a:lnSpc>
                <a:spcPct val="125000"/>
              </a:lnSpc>
              <a:spcBef>
                <a:spcPts val="320"/>
              </a:spcBef>
              <a:spcAft>
                <a:spcPts val="0"/>
              </a:spcAft>
              <a:buClr>
                <a:srgbClr val="333399"/>
              </a:buClr>
              <a:buSzPts val="1600"/>
              <a:buFont typeface="Arial"/>
              <a:buChar char="•"/>
              <a:defRPr sz="1600" b="1" i="0" u="none" strike="noStrike" cap="none">
                <a:solidFill>
                  <a:schemeClr val="dk1"/>
                </a:solidFill>
                <a:latin typeface="Arial"/>
                <a:ea typeface="Arial"/>
                <a:cs typeface="Arial"/>
                <a:sym typeface="Arial"/>
              </a:defRPr>
            </a:lvl5pPr>
            <a:lvl6pPr marL="2743200" marR="0" lvl="5"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6pPr>
            <a:lvl7pPr marL="3200400" marR="0" lvl="6"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7pPr>
            <a:lvl8pPr marL="3657600" marR="0" lvl="7"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8pPr>
            <a:lvl9pPr marL="4114800" marR="0" lvl="8" indent="-317500" algn="l" rtl="0">
              <a:spcBef>
                <a:spcPts val="280"/>
              </a:spcBef>
              <a:spcAft>
                <a:spcPts val="0"/>
              </a:spcAft>
              <a:buClr>
                <a:srgbClr val="333399"/>
              </a:buClr>
              <a:buSzPts val="1400"/>
              <a:buFont typeface="Arial"/>
              <a:buChar char="•"/>
              <a:defRPr sz="1400" b="1" i="0" u="none" strike="noStrike" cap="none">
                <a:solidFill>
                  <a:schemeClr val="dk1"/>
                </a:solidFill>
                <a:latin typeface="Arial"/>
                <a:ea typeface="Arial"/>
                <a:cs typeface="Arial"/>
                <a:sym typeface="Arial"/>
              </a:defRPr>
            </a:lvl9pPr>
          </a:lstStyle>
          <a:p>
            <a:endParaRPr/>
          </a:p>
        </p:txBody>
      </p:sp>
      <p:sp>
        <p:nvSpPr>
          <p:cNvPr id="21" name="Google Shape;21;p12"/>
          <p:cNvSpPr txBox="1">
            <a:spLocks noGrp="1"/>
          </p:cNvSpPr>
          <p:nvPr>
            <p:ph type="sldNum" idx="12"/>
          </p:nvPr>
        </p:nvSpPr>
        <p:spPr>
          <a:xfrm>
            <a:off x="10681758" y="6524626"/>
            <a:ext cx="1062567" cy="196851"/>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808080"/>
                </a:solidFill>
                <a:latin typeface="Arial"/>
                <a:ea typeface="Arial"/>
                <a:cs typeface="Arial"/>
                <a:sym typeface="Arial"/>
              </a:defRPr>
            </a:lvl1pPr>
            <a:lvl2pPr marL="0" marR="0" lvl="1" indent="0" algn="l" rtl="0">
              <a:spcBef>
                <a:spcPts val="0"/>
              </a:spcBef>
              <a:buNone/>
              <a:defRPr sz="1800">
                <a:solidFill>
                  <a:srgbClr val="808080"/>
                </a:solidFill>
                <a:latin typeface="Arial"/>
                <a:ea typeface="Arial"/>
                <a:cs typeface="Arial"/>
                <a:sym typeface="Arial"/>
              </a:defRPr>
            </a:lvl2pPr>
            <a:lvl3pPr marL="0" marR="0" lvl="2" indent="0" algn="l" rtl="0">
              <a:spcBef>
                <a:spcPts val="0"/>
              </a:spcBef>
              <a:buNone/>
              <a:defRPr sz="1800">
                <a:solidFill>
                  <a:srgbClr val="808080"/>
                </a:solidFill>
                <a:latin typeface="Arial"/>
                <a:ea typeface="Arial"/>
                <a:cs typeface="Arial"/>
                <a:sym typeface="Arial"/>
              </a:defRPr>
            </a:lvl3pPr>
            <a:lvl4pPr marL="0" marR="0" lvl="3" indent="0" algn="l" rtl="0">
              <a:spcBef>
                <a:spcPts val="0"/>
              </a:spcBef>
              <a:buNone/>
              <a:defRPr sz="1800">
                <a:solidFill>
                  <a:srgbClr val="808080"/>
                </a:solidFill>
                <a:latin typeface="Arial"/>
                <a:ea typeface="Arial"/>
                <a:cs typeface="Arial"/>
                <a:sym typeface="Arial"/>
              </a:defRPr>
            </a:lvl4pPr>
            <a:lvl5pPr marL="0" marR="0" lvl="4" indent="0" algn="l" rtl="0">
              <a:spcBef>
                <a:spcPts val="0"/>
              </a:spcBef>
              <a:buNone/>
              <a:defRPr sz="1800">
                <a:solidFill>
                  <a:srgbClr val="808080"/>
                </a:solidFill>
                <a:latin typeface="Arial"/>
                <a:ea typeface="Arial"/>
                <a:cs typeface="Arial"/>
                <a:sym typeface="Arial"/>
              </a:defRPr>
            </a:lvl5pPr>
            <a:lvl6pPr marL="0" marR="0" lvl="5" indent="0" algn="l" rtl="0">
              <a:spcBef>
                <a:spcPts val="0"/>
              </a:spcBef>
              <a:buNone/>
              <a:defRPr sz="1800">
                <a:solidFill>
                  <a:srgbClr val="808080"/>
                </a:solidFill>
                <a:latin typeface="Arial"/>
                <a:ea typeface="Arial"/>
                <a:cs typeface="Arial"/>
                <a:sym typeface="Arial"/>
              </a:defRPr>
            </a:lvl6pPr>
            <a:lvl7pPr marL="0" marR="0" lvl="6" indent="0" algn="l" rtl="0">
              <a:spcBef>
                <a:spcPts val="0"/>
              </a:spcBef>
              <a:buNone/>
              <a:defRPr sz="1800">
                <a:solidFill>
                  <a:srgbClr val="808080"/>
                </a:solidFill>
                <a:latin typeface="Arial"/>
                <a:ea typeface="Arial"/>
                <a:cs typeface="Arial"/>
                <a:sym typeface="Arial"/>
              </a:defRPr>
            </a:lvl7pPr>
            <a:lvl8pPr marL="0" marR="0" lvl="7" indent="0" algn="l" rtl="0">
              <a:spcBef>
                <a:spcPts val="0"/>
              </a:spcBef>
              <a:buNone/>
              <a:defRPr sz="1800">
                <a:solidFill>
                  <a:srgbClr val="808080"/>
                </a:solidFill>
                <a:latin typeface="Arial"/>
                <a:ea typeface="Arial"/>
                <a:cs typeface="Arial"/>
                <a:sym typeface="Arial"/>
              </a:defRPr>
            </a:lvl8pPr>
            <a:lvl9pPr marL="0" marR="0" lvl="8" indent="0" algn="l" rtl="0">
              <a:spcBef>
                <a:spcPts val="0"/>
              </a:spcBef>
              <a:buNone/>
              <a:defRPr sz="1800">
                <a:solidFill>
                  <a:srgbClr val="80808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pt-BR"/>
              <a:pPr marL="0" lvl="0" indent="0" algn="l" rtl="0">
                <a:spcBef>
                  <a:spcPts val="0"/>
                </a:spcBef>
                <a:spcAft>
                  <a:spcPts val="0"/>
                </a:spcAft>
                <a:buNone/>
              </a:p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0"/>
          <p:cNvCxnSpPr/>
          <p:nvPr/>
        </p:nvCxnSpPr>
        <p:spPr>
          <a:xfrm>
            <a:off x="395819" y="666751"/>
            <a:ext cx="11341100" cy="0"/>
          </a:xfrm>
          <a:prstGeom prst="straightConnector1">
            <a:avLst/>
          </a:prstGeom>
          <a:noFill/>
          <a:ln w="25400" cap="flat" cmpd="sng">
            <a:solidFill>
              <a:srgbClr val="000066"/>
            </a:solidFill>
            <a:prstDash val="solid"/>
            <a:round/>
            <a:headEnd type="none" w="med" len="med"/>
            <a:tailEnd type="none" w="med" len="med"/>
          </a:ln>
        </p:spPr>
      </p:cxnSp>
      <p:cxnSp>
        <p:nvCxnSpPr>
          <p:cNvPr id="11" name="Google Shape;11;p10"/>
          <p:cNvCxnSpPr/>
          <p:nvPr/>
        </p:nvCxnSpPr>
        <p:spPr>
          <a:xfrm>
            <a:off x="395819" y="692151"/>
            <a:ext cx="11341100" cy="0"/>
          </a:xfrm>
          <a:prstGeom prst="straightConnector1">
            <a:avLst/>
          </a:prstGeom>
          <a:noFill/>
          <a:ln w="25400" cap="flat" cmpd="sng">
            <a:solidFill>
              <a:srgbClr val="000066"/>
            </a:solidFill>
            <a:prstDash val="solid"/>
            <a:round/>
            <a:headEnd type="none" w="med" len="med"/>
            <a:tailEnd type="none" w="med" len="med"/>
          </a:ln>
        </p:spPr>
      </p:cxnSp>
      <p:sp>
        <p:nvSpPr>
          <p:cNvPr id="12" name="Google Shape;12;p10"/>
          <p:cNvSpPr/>
          <p:nvPr/>
        </p:nvSpPr>
        <p:spPr>
          <a:xfrm>
            <a:off x="3547447" y="6453336"/>
            <a:ext cx="5376595" cy="332656"/>
          </a:xfrm>
          <a:prstGeom prst="rect">
            <a:avLst/>
          </a:prstGeom>
          <a:solidFill>
            <a:schemeClr val="lt1"/>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pt-BR" sz="1400" b="1" i="0" u="none" strike="noStrike" cap="none">
                <a:solidFill>
                  <a:srgbClr val="484848"/>
                </a:solidFill>
                <a:latin typeface="Arial"/>
                <a:ea typeface="Arial"/>
                <a:cs typeface="Arial"/>
                <a:sym typeface="Arial"/>
              </a:rPr>
              <a:t>MinebeaMitsumi confidential</a:t>
            </a:r>
            <a:endParaRPr sz="1400" b="1" i="0" u="none" strike="noStrike" cap="none">
              <a:solidFill>
                <a:srgbClr val="484848"/>
              </a:solidFill>
              <a:latin typeface="Arial"/>
              <a:ea typeface="Arial"/>
              <a:cs typeface="Arial"/>
              <a:sym typeface="Arial"/>
            </a:endParaRPr>
          </a:p>
        </p:txBody>
      </p:sp>
      <p:sp>
        <p:nvSpPr>
          <p:cNvPr id="13" name="Google Shape;13;p10"/>
          <p:cNvSpPr txBox="1">
            <a:spLocks noGrp="1"/>
          </p:cNvSpPr>
          <p:nvPr>
            <p:ph type="dt" idx="10"/>
          </p:nvPr>
        </p:nvSpPr>
        <p:spPr>
          <a:xfrm>
            <a:off x="0" y="6381328"/>
            <a:ext cx="2540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solidFill>
                  <a:schemeClr val="l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pic>
        <p:nvPicPr>
          <p:cNvPr id="14" name="Google Shape;14;p10"/>
          <p:cNvPicPr preferRelativeResize="0"/>
          <p:nvPr/>
        </p:nvPicPr>
        <p:blipFill rotWithShape="1">
          <a:blip r:embed="rId4">
            <a:alphaModFix/>
          </a:blip>
          <a:srcRect/>
          <a:stretch/>
        </p:blipFill>
        <p:spPr>
          <a:xfrm>
            <a:off x="9456373" y="44626"/>
            <a:ext cx="2639616" cy="31560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title"/>
          </p:nvPr>
        </p:nvSpPr>
        <p:spPr>
          <a:xfrm>
            <a:off x="1524000" y="115889"/>
            <a:ext cx="8574088" cy="504825"/>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pt-BR" sz="2000" b="1" i="1" u="none" strike="noStrike" cap="none">
                <a:solidFill>
                  <a:schemeClr val="accent4"/>
                </a:solidFill>
                <a:latin typeface="Arial"/>
                <a:ea typeface="Arial"/>
                <a:cs typeface="Arial"/>
                <a:sym typeface="Arial"/>
              </a:rPr>
              <a:t>　</a:t>
            </a:r>
            <a:r>
              <a:rPr lang="pt-BR" sz="2000" b="1" i="1" u="none" strike="noStrike" cap="none">
                <a:solidFill>
                  <a:srgbClr val="000066"/>
                </a:solidFill>
                <a:latin typeface="Arial"/>
                <a:ea typeface="Arial"/>
                <a:cs typeface="Arial"/>
                <a:sym typeface="Arial"/>
              </a:rPr>
              <a:t>　</a:t>
            </a:r>
            <a:endParaRPr sz="2000" b="1" i="1">
              <a:solidFill>
                <a:srgbClr val="000066"/>
              </a:solidFill>
              <a:latin typeface="Arial"/>
              <a:ea typeface="Arial"/>
              <a:cs typeface="Arial"/>
              <a:sym typeface="Arial"/>
            </a:endParaRPr>
          </a:p>
        </p:txBody>
      </p:sp>
      <p:sp>
        <p:nvSpPr>
          <p:cNvPr id="29" name="Google Shape;29;p1"/>
          <p:cNvSpPr txBox="1"/>
          <p:nvPr/>
        </p:nvSpPr>
        <p:spPr>
          <a:xfrm>
            <a:off x="1837508" y="716747"/>
            <a:ext cx="8490858" cy="584775"/>
          </a:xfrm>
          <a:prstGeom prst="rect">
            <a:avLst/>
          </a:prstGeom>
          <a:noFill/>
          <a:ln>
            <a:noFill/>
          </a:ln>
        </p:spPr>
        <p:txBody>
          <a:bodyPr spcFirstLastPara="1" wrap="square" lIns="91425" tIns="45700" rIns="91425" bIns="45700" anchor="t" anchorCtr="0">
            <a:spAutoFit/>
          </a:bodyPr>
          <a:lstStyle/>
          <a:p>
            <a:pPr lvl="0" algn="ctr">
              <a:buSzPts val="3200"/>
            </a:pPr>
            <a:r>
              <a:rPr lang="zh-TW" altLang="pt-BR" sz="3200" dirty="0">
                <a:solidFill>
                  <a:schemeClr val="dk1"/>
                </a:solidFill>
              </a:rPr>
              <a:t>設備投資申請</a:t>
            </a:r>
          </a:p>
        </p:txBody>
      </p:sp>
      <p:sp>
        <p:nvSpPr>
          <p:cNvPr id="30" name="Google Shape;30;p1"/>
          <p:cNvSpPr txBox="1"/>
          <p:nvPr/>
        </p:nvSpPr>
        <p:spPr>
          <a:xfrm>
            <a:off x="1733009" y="1724701"/>
            <a:ext cx="8721223" cy="2185173"/>
          </a:xfrm>
          <a:prstGeom prst="rect">
            <a:avLst/>
          </a:prstGeom>
          <a:noFill/>
          <a:ln>
            <a:noFill/>
          </a:ln>
        </p:spPr>
        <p:txBody>
          <a:bodyPr spcFirstLastPara="1" wrap="square" lIns="91425" tIns="45700" rIns="91425" bIns="45700" anchor="t" anchorCtr="0">
            <a:spAutoFit/>
          </a:bodyPr>
          <a:lstStyle/>
          <a:p>
            <a:pPr lvl="0" algn="ctr">
              <a:buSzPts val="3200"/>
            </a:pPr>
            <a:r>
              <a:rPr lang="en-US" sz="3200" dirty="0">
                <a:solidFill>
                  <a:schemeClr val="dk1"/>
                </a:solidFill>
              </a:rPr>
              <a:t>投資内容</a:t>
            </a:r>
            <a:endParaRPr lang="en-US" sz="3200" dirty="0"/>
          </a:p>
          <a:p>
            <a:pPr marL="0" marR="0" lvl="0" indent="0" algn="ctr" rtl="0">
              <a:spcBef>
                <a:spcPts val="0"/>
              </a:spcBef>
              <a:spcAft>
                <a:spcPts val="0"/>
              </a:spcAft>
              <a:buNone/>
            </a:pPr>
            <a:endParaRPr sz="3200" b="0" i="0" u="none" strike="noStrike" cap="none" dirty="0">
              <a:solidFill>
                <a:schemeClr val="dk1"/>
              </a:solidFill>
              <a:latin typeface="Arial"/>
              <a:ea typeface="Arial"/>
              <a:cs typeface="Arial"/>
              <a:sym typeface="Arial"/>
            </a:endParaRPr>
          </a:p>
          <a:p>
            <a:pPr marL="0" marR="0" lvl="0" indent="0" algn="ctr" rtl="0">
              <a:spcBef>
                <a:spcPts val="0"/>
              </a:spcBef>
              <a:spcAft>
                <a:spcPts val="0"/>
              </a:spcAft>
              <a:buNone/>
            </a:pPr>
            <a:endParaRPr sz="800" b="0" i="0" u="none" strike="noStrike" cap="none" dirty="0">
              <a:solidFill>
                <a:schemeClr val="dk1"/>
              </a:solidFill>
              <a:latin typeface="Arial"/>
              <a:ea typeface="Arial"/>
              <a:cs typeface="Arial"/>
              <a:sym typeface="Arial"/>
            </a:endParaRPr>
          </a:p>
          <a:p>
            <a:pPr algn="ctr"/>
            <a:r>
              <a:rPr lang="en-US" altLang="ja-JP" sz="3200" dirty="0">
                <a:latin typeface="Meiryo UI" panose="020B0604030504040204" pitchFamily="50" charset="-128"/>
                <a:ea typeface="Meiryo UI" panose="020B0604030504040204" pitchFamily="50" charset="-128"/>
              </a:rPr>
              <a:t>[Renewal] </a:t>
            </a:r>
            <a:r>
              <a:rPr lang="pt-BR" altLang="ja-JP" sz="3200" dirty="0"/>
              <a:t>N</a:t>
            </a:r>
            <a:r>
              <a:rPr lang="pt-BR" sz="3200" dirty="0"/>
              <a:t>itrogen Generation System </a:t>
            </a:r>
          </a:p>
          <a:p>
            <a:pPr algn="ctr"/>
            <a:r>
              <a:rPr lang="pt-BR" sz="3200" dirty="0"/>
              <a:t>1unit : MAE Assets</a:t>
            </a:r>
          </a:p>
        </p:txBody>
      </p:sp>
      <p:sp>
        <p:nvSpPr>
          <p:cNvPr id="31" name="Google Shape;31;p1"/>
          <p:cNvSpPr txBox="1"/>
          <p:nvPr/>
        </p:nvSpPr>
        <p:spPr>
          <a:xfrm>
            <a:off x="2105104" y="5586307"/>
            <a:ext cx="814012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800"/>
              <a:buFont typeface="Noto Sans Symbols"/>
              <a:buNone/>
            </a:pPr>
            <a:r>
              <a:rPr lang="pt-BR" sz="2800" b="0" i="0" u="none" strike="noStrike" cap="none" dirty="0">
                <a:solidFill>
                  <a:schemeClr val="dk1"/>
                </a:solidFill>
                <a:latin typeface="Arial"/>
                <a:ea typeface="Arial"/>
                <a:cs typeface="Arial"/>
                <a:sym typeface="Arial"/>
              </a:rPr>
              <a:t>Minebea AccessSolution South America Ltda.</a:t>
            </a:r>
            <a:endParaRPr sz="2800" b="0" i="0" u="none" strike="noStrike" cap="none" dirty="0">
              <a:solidFill>
                <a:schemeClr val="dk1"/>
              </a:solidFill>
              <a:latin typeface="Arial"/>
              <a:ea typeface="Arial"/>
              <a:cs typeface="Arial"/>
              <a:sym typeface="Arial"/>
            </a:endParaRPr>
          </a:p>
        </p:txBody>
      </p:sp>
      <p:sp>
        <p:nvSpPr>
          <p:cNvPr id="32" name="Google Shape;32;p1" descr="data:image/png;base64,iVBORw0KGgoAAAANSUhEUgAAALoAAAB4CAYAAABFLuhOAAAAAXNSR0IArs4c6QAAIABJREFUeF5svfeXbdlRJhjX5k1vn3flnSSQQwhBq5sWwyzoppuG1Qame1avNX/PrJlfGAaGhRwyoBaDaZqeRq6kQrZKJVeqUqmsyrx6Jl/6vHn9rM/EPief9ETxXmbevPecfWJHfPHFF7Eb23fuzMbjcfBPoxGz6SwajQb/HTP/Wz/FC8q/9HJ8PcPL/G+8ooHv8Pv5+tmp98nvVz/Xa+t/6p+ja8Bn/NQffTC/jc/wLZRPrn5n5svRPZXb4K+cfuOf9THVS3Sv+iC8p+4B94v7Pv2neie/7NQr8D3+dn0Z7r6Wn3nTXla+fe0zyz9xjbie5l3Pqvoyr0cL59spv3/XM8Zn+CJ1OdU66/fx87yW6p5lB/U/WiO+vNyz7Idrh0eD37jrAejx2s74L9jCXXZpWy1Xl59hg2i3W9H45lNPzQ4Oj6LZTGNq0rD01rkIuAotgIxbf7fydxpY1IYNEhcxi4YfEi4Kt8JNRCPzDefFerPwhrnRqs+AIXFN8jP9dV7XdDqNZrNZbhxf86W43KmvfzYt15ILVt8Y+p3q4eJr3R8Mxt+fynho1LNpzPgzPBRebNlk5ZH43sqWLptQr9U6NGKC1/FCc8Pqs3Phc/Pm38VssNz2Jbr2pr7E2zSnMZ1Mo9FseG2w5LpuPeM0knRSp58rPgNrij+tRjOmlRXYqc343rmxG9E6ZXj5/rShRiO0vs2IBt5J15QXKwc2i1ZL76Hl1o3x6nytfMb5Nf5dntnpzYzX4FNatEW/X6MZS4tL0fjmk9+ZHR4fVTfROG3oumBfXN3wsSC5k5otviZvint5Nqn8+l3GUG6gfH/GC9QiaIHwh+/nXWn71fdxtdMpFyINvRmNwCfmNWmD+Q+MKf9Z24DlM2qfV16Id6PTnkU4ynnb4cLkfbwPxpNJ2eiKgjK6GdaueOXaRuFmkfHl5sgNkxsvjQCfnetVjMgeMDc6195RlfEF728Hoa91PTD03OT1zZ03wudsW2vbuMK/U38mrRaeNfZqZRf19zv93npDbY60ES+cHSrv1QuRG1LPZhKtZqvcC5+3X6vP0H/p9GUtdrI0dNnuMgz9W9/+zuzg8FAXbaOqFjS9S3oHPawmPhwewobaaLYq+ygGBUOUtywPzYufBsoHJcQUEz+o+iaY1kI3nZi/hids1bxwfh9mk7cvj5vGnh5Z71H3lLq2aUzTmPkZ+DqXzZ6ldof4Gbx6saA0bEKGjIV5JViH9FT6G5+l0JNQSF/juuiN/VkyZKytvJwcP3xoI6b2fnoWMxp6k89Qm6fy3Pm7eG66pnror/87PTk+rtloGU6cjuK8lpkjOB9KGq1DijehbCNNChEd99Xiup724Hr/ynvnsmInCYKViO5og+ePN8/7wVJyTeFw+WzSEBq0k6WFxWh86+mnZwcHx6fCRN1qccNV6NSH1uFCgby+X13wXUCr9oZ1o6f38zXRRxpy4OG1idlsmDakNHZ8v9WUd0gPWHy24Qy8QYL1u407Lwevwb3gb0QI/HsymURuMDwsGnUNDev6J/x+GlRGBryOESXdov11fn6uY/F4NlBFAEGKfF/d2yTa7bYMJkE97r3VwlYM2jWNDkFnKu9n54Jci14c19uQC6BBlA1R3wy64mLovu6Eo/n9vO6CtOg94XENFXBNgQ2iFavnLY2mNkiJDLhfR4t8HojKxQlybca81/yTTjNtiOuJPWT4iujTBBI0RMMNw04WFxai8c2nvzs7OgR0yd2nkEQPZ9xdGWezLMbdXprYyB6l2hh+5I7yijbVTs/QLeOA97VH5EMHrqv8I6O8nrh2uqGSjI0+WIsIj20jzJ9Vhie4o//w0pr3M9CZTCe8bxiEvEYzJtgE9jqCRHofubz0yoYztT1eN+y7DVnWCevCpkGeMQ3aAowko8wEn9uioWolsCYwSP2uMDnMI6NdRpPTRoz3pJGk97UjvhtuNOk9hYexxvgfPh8bH+vA9+CmEoTQehvCMOLwgkrqmE5Sn2Pjr0V4XY7Wls96hnXIDF35Tz5T3Gcd1sGo8xGUfZloEs6YUE33sry0GI1vfvs7s8PDI3mJU4lZ3kTdQwGL62t5dXsK7ExmumlEP9ujI4ww7Nisy46nJ9fD4CavZdVcDN3z6YSwBnWQNML4tJ51aJKbNz0lfgZDDhpvGl8avx7iWIksrqcFkJCbtf6+1Qap1qz6uTbY6a/ze5VxTfU5zGX00IQE9LQmo7GMC8kePaVjX0v5idYIP/faIyHN5L24rRqJYWOlDft3xHRU3hwwAfAnDR3OQ1A1DU6QJX8L3rJAHzqORtBzp9OEdy8OtPLW+fwTvmEDMpdgfqif4utkaXjNNvRTaMKwtw65AOloR15LBLOlpaVoPPn092b7BwenDBg4McMWP6TsQuPAzN75M+10PrBkG2zMP4XNnSiV96tyxPK78jrIxLUwTDBPeUkZfUl8Ge6VgMmY5NmLx/VCTyaiUBVVp6EEsvJ8lWEKQ1dessKowsz5eRWWv/t9kp3J79fsrhiJMDc+S/SQItSE94brB+UrL4qvAUnsExuIANUzKfisISPlNdrTGp2LPbmLoUqIgDCfjqWKoknpKseh98bzmOJ6cC1aOzjHuiMgbCGtkA8MjqtyjgnNYLQKhloDIQFBDu5+M3D8DDNAfGw1UqMYvAK/fh9WDtvkV8p18DsrS8vReOo7MPTD6lnUWI808gzhSWMBWzGs2csUXDUdF8bh9MP1RSIcFvquES14YhhOuWHdqGg9LzaTn9rlGdfXb5y/n0abnqAksjDMcYWzmfDJawqjy9vnNWT4SKiUm1LYudqZ3Ay1z82LlEHqYeFDmCTVNiANnH5Em3M8Gken3RFsS/ZnNqOh8yEzyvl94G1nYCJMt/l9RBvqadNbFzvz9zLZ84OfcI1n0Wm19Zn8P72WPHct0c9/F3xup6fPcVQp0ESsmbyJ4ZLoBj1Av/ep5Dzhj6+NNKSTAPI0jiaZN1V5glk6vy8TaDuGsZmvvKGVZXv0o+OjinXws0xMxizZ+EyYqFl4ZFBQyVbkzWSiluEkcWqzBf5TlGNZSHofPzQl5k6cgBb1OiSHuZPpEUydNb2gac8JibgFTzEo+HoSU1N9vB7FZtFw9KazoMe30eOnuIK89urvjFpOF4oRm0VJuNKsIBxjAw3Sn1WsSdd1fHQcvYV5YWM/IDxU3beuM1mudDwysqxL4JE4X9BdxQwJKnnzdvEQeE+8n7z+pMAyrn8tAmdyl79YRXPtntM5AYwLXlyJLl/BhNOv5TedlOZmIJNSQRr9Tm4KpSFidnRPcISFUiybwfmJNybvyUwcbcQxJe1sWdDluywYKawgyVAYydCghT5NzGsRdDPj8SQ6nY5Da0WN1ReKMAPOyZ6G7AotbBaNqd5/DO+KsGgqjeFyKujCBWailgmY6QPbF4wiryeTpTQcQZr0qsjkTRsiDPMnMEDAgQkNnX+mWdiRscFwZAyAGtp45Q/hh4sTpr3kwGr5itxkBR+w4b3hionyloRNsR4jQpc0HHny3PAI0TTArMrCrm3I+RzlUVvlecrQca/NAgemDcBC4GpbjHaSEl7j5VowLUljRvBqEfB7enbKpatIQnuyYwFjyciTZIPfIDeaNpIvIdfYBENu8kIO1PKDhMz8XKINZvku+oUKRsDoSEaF+05fJC4qPfupm+LDAGbDL1W7c4KHUU8k09066w9wxBmenXEXIoUX7vDmD0tMBw8taz/NJmAj6DUy9GrBMpQLHuBaMzIUflx1IIALU3q4Fz8Ih2V5fC2a3r+CLuXa7H3lDJKNuWu1CsvjpBoQj+9ZedNpYO0U9glpxmNSi3njBR6y0mtrKBXYrCAITqJQog0N3G6JAmlFGTJeVTkiGZecqGGM+Xa6AjsXvJ6QyTZyd/5lXFJVTGvcuJyOIqfuu6JR8T6ieG0bfH97+LpDqS0pMf5dmF0QLKnU0/BrGRhdHv1YhYoWCSbzog4ZWXGr7VIaMx8qIpUNvRRnTlchsxQLY0XSIaenMIrwykfEL6rwl3qGesJSZ2Jwk8m5pgHLyOyQafjV4tYNtM6GkCZzBfa0kVZMU74+Gaa6CZNjN1zRPaiamn8KFiVnrIeZCWgmStg7Les8Ji4kTJBTzJTsMalyLaPKhU7LFvh5dBKpG0m8Dk5bVVuuWVJy5t5pYDPlKbrWJrltIVTpnqp0k1kp34dJaM2Q9TxV2CqFx5ohnsL5M/yu8rCEZndvGhIKyfQ4wjFHqhl+OuD6+gPCqRqK8CgsjHtZWaahf4+VUa5V4WVVOs3lSkapumCsP2g6cLxiDGaTiWsXVcbORE9cnbC9HQ88cXpg4iuE0DrOy8RoCj+Hizdv64iQrEPdaCscnV7Y1wXPzSRZd5MFGf6btiGqTt4b0EbXVopFd1Vs5Xm0VnVsq/cVNMrfzfDJLWBKEO8uiKhIJLw90frYowuKqTqJMKyIJOdwt4GlZ5OtJ3S00ZF3185L+KnrF6TRfVRSBvrbrJCbbSmGZO2MOP4Z4SqdDJkSrXVGH8EqXllJsnndXO+kEAUcE9z/FByiLVaJLa/DkCodoK61Ev3B0Hmf+Cwuoe5tCcnot75dYXSVW/1zhgcLc1xupSxnWhHxdQouPWKd59QF1cI93hqMR41G0QK4Qsq8TXyOkhh5/Pwj3UgqLGU8qe3Ijaq/9Vtp1DAqGpp9W2bwibvF9CT0qSBIYr86hqx7kPr301vLeJIyrK6BuBoehxcIDj0LHjT9ws5gPUajkfOeKqmrb+qyHrSxmpiOZUEC4VM4ub4ZtFES6jADK+IvEAaZtJLbziKZEAwrrynyIuQoupOkmE17uqhEg6/9J29awQ49ED9hJ9cl/zF8qcsWtCntsclcIAJV+RffzowUrpebOZqxTEOHRz86LlUz/dC7L1khe20arvFyWYQirKq0LTXbrIyU4USQImk60p7wuGZcFHGy0ihvK/GTDdzelgZfgwx1L/2zvHx6VF6zsSBf591xKtHLhLkYQ7Iz8qj5WYnRq0ihRBU3JCcq9kd/cL2AEVNvTntSF1hwO3UYBE8JfF4P+XX2qRAFNVFcqVQmlVd3EHeF/FMVxvTDZL/s5Wj8ZksQ5ew125AY1PLwhJwJOxMiFWNFJHN0QgTQ+gvmlGdR2MeSlicOO3X/9YTTpm24pdwqP7NOnIhRaiR0+QExeuoO6hfJHcKdnbvQBQ7jNNxE5cEryJJrnJ4twx1lvTVDyzQv/5bdFY2gvHLN8LNQQcOZzEg9kY35GbqTNES8R3r0+vfqYFqbIzeqKFMENCW5SfuJliuQy5j79KYGdJHGRpFRD0+wxUW1hIg2noQ8E2wKF5Dw2c1GWwmlPVh9rYuHJlMzccEF95C5TsV6JDPDdagxFfmcEzKIBJK3TLaHUKEu5bd2JLG4UI/gUUWSJDnhe4d2aDqNbrd7mr1L2pGEjxWfdjxZuU1pQNpFxQTWKqUsLHqd8JGpc9ENE15TAvDUt38w2zs4iFarLc+a+CollPBETCxOe7T6AxabBpyZksnkAeWdp1nMgLcrXk7vQAx/Sv5TvTOLOK7c8YGY9ya7g+qhk8n6eyY3rjBnKS8586oRoIoAWUqvqqslUtWSn9NVWOHn3DQFpycxWoxV3ivpTO2ZhEdiREpOwEKa/KHuJYVkyF8qXF59LnKOLAnKD+uPoiU3CcUwoWSyTtXdxTFXG8Avs5SjAQ6+KBNNOZaN4vwnYawvvg5TjDK47ncnjkWoZdo2C5AS8Oi9C01J6rTOolRwTp9XZ9tMLMIJFc69FSvg0Z96+vusjJL45+LVKMZTeCqx1Ezht6gYqySspCBFvpu5kC6APzcPLWfnZDUZnbIJ5OOVgLhjibS73AsT1NlYRoD3qdGWVVKqBSgRqiSaCRuUDWRFsp474PcGg0Hs7uzE1pkzxRPV8XldF5SUJSOX1Y7KWYyFYfB8hsllW5TmjasnCdyeJX9VixOe1RNJuwcXmPysYOnMAfArWQ+QiKsOfyyj4fqlUZbo4K3C17PuIahBH1ZXZRY2pKJ6teZNyjayWp651anP0YeV5gtFIOwWQaYUOZvb0fP2NYiCVKRVkmuHA7PNXMGIgNbjHgk8g5XllWh866nvzo6Oj+Uh+IHAT3S1ZTHqSRnZgjqHxjevIMwp4/JuwwKLtkzMas4aCZmwhRRxbjJIXpWL7ASVeZYhRmqxcY11VSEjRE2YVr/u/H4a5f7+XiwuLRRqU/oWkeuoov7k1Z9Er9eLM2fPnGoKoxeu43yvBf5qthqkadMYaQDWqIM1UeFMUY725I2gFrKqHQ8PjlClJc/Gy+LmRiQT5ajKrv04E7D07BULIRLcVQAbE32+nUwaYQVfsqyuiiYTQXPr/CRK1DPxzGeZjlGGrjdX5Ucsi9kTVaEYfQoEuTsx9WvZhJO6eXP53HSNWmXdDGHSF9WGFgRTN5N0OTT0J7/9/dnhUd8MS3r0TCsyJMoD1Q3nlEG7UJJhP38r6atUotFwnVAK6yrhAQ7Ho2tVayej9lNRUicDGiceI1qqczL61PS6dRGTPstX5SR2MhlJsckCTCNGrMwqJxmNVblstaWtrsvr60Ze31iKPoo60rc4ohAyaelJEbpcX7FR2fihhgSKuYpeUY0DXDOG4zEryanT1T1VHHadzVKCqKokl5FuUm2FNIJWJQ9Ir17lZ/o9+r6smiYx0WwXsiKpPX1uSxsjHQ2LA05ojf3rNHVGUtlMUtl+hmbH5KkrufgsIMyr8g++2qwLdTE1iCZnoha+lZVi6CfF/Ytflaflwy7lZRVgpihAJJ7M0FYrT1dGXmsj4+Kmp6kSvLKNYBxMfIxFLOyaNGD8FQTIRJURz3ClDlUyzNYZmdxY3ErmvpkQO4rk5hiNUIlUPoINxDUgnIChy2PWN1Jee/6diSoNzFQZcwxgFq5hLfUuxTW9tzx7NqFAdDZBnZQPTmuitjwnPGIQUwTG94fx2fU72ZXXtHNN+OGgL6O3vpw419y+NU2sBUQKvuRMhLOB+LUWjOx+P1F+0rInND3dgmcZsrXz8vj1TidHjlqRKTdfZcgVVKon0lhbMk78XVE4vG0umz5jZWUZevTvz46O+26dqpRv6Z35plYMwrUl1QRjqAu39HpLX50QqRgjo6lz13d7fsITP5XEkaoyVtReiQal+16VxlNe3JtTC5GVWDMheiVDKxspIDIz7qeaz5VhMh8Tedfy3plUKusuQjaUs1Q5qhKm9OZ8JaBYbpCMZoYoJT+gclKoURIAe/is/uqNzGlbr448oCVvCUiHv6HPrDxyLc/i++H6pIbE8k1C3UjpR5nwn5IFVNiePY4t6GPc6ZT4nusH2ULy8NpVqSBU8UsIIf/UqT/CpqySuxpbh1BK1nUf6qeuktB8XdUJJmEb6rgqPKrQln/Io3/z28/Mjo+PS/KXF1PfNbwo3qArh6bNctcRJojZsgtBAcRoI8XktAeLfgqE0S6l96G16NeZLNFBVZpxbjJwsubySxdUiSpuxcPvQCjGDhm8byWgKrAjYQWTYzEc6lGX0dS5chm7qqtlgUmhVPShUipdvAqgYoUk/bXRuSil9MfVSLfScVOyqmqQk564dm9caxYdhO35TCjWSS8mj56b3A+iqn7aW6rVzCpEJnfZYW8MncQAHZyhGEg6S3rriV81VcDxiA0PNgQbea5ZboKMwGnovM4kHHyNcoRK0Fj9NDZnhpCvrdUG6MPNaOEK2pwqULFsgi5P/9ASgGpnVsDeHKVFPxkL+RAt5M8HTu9tiWTi0/puziQwUZuMIj2Vu4OcKCkZd3KYmTQ6f4xJmR+YMszNlguYCZ4euiADE0jLckVv25JYnUyjVYLIfMClcdUB5HtxrbkBJmNxw4xv/D6ihBJybEBKfh2NCGkm0xjbaPh6CMGskc9pBjLgWSC6ZL8rin+Z23HERiOi02hGt92K7sJCzC8uBDryM+oy+VMK+FPFFuVUhhfpj2pYmPs2q46ZMFIlmaIvJ6dWTdZrK6XygeaPjEo1tsQ4uGhlin1ZYZgwpvL82ixspKBOKKGIN6WfLf1qobT5hQtd+nd6/NU0dCSj2WxsQYVbm9TClQ+DRlrzMpk9y/DSo5syoq0qeaBxOXGsk/71imS1carEMQ0SRiHDrsKgHGp6UYupYCjjsQwGOJciqikND5+P76HRAbqc4XAUo8mYctjZeBzj8SjGU6kGIT2eTKYxHA9jMhzHdDyJ8XTsTqaI48OjGA+HMRkN+X7A94NQNZM0LRmWGRNnbjR8LqIRPKihA64N9wxDHU/Uuc5rpazBs1Amkk3TdJFTmLVYaHVjfmUpLl6+GFevXYpz586SIapLoXOlCpwx1UNeG7As2aLs4rEeSaDPUwDMeIibbxUJA5uwLRVOR0MPXSq1euqNVrsiDWEjSPhyk7k8rw1o/F3yQSectD0lnDS7tD17fJcxiSYMnARZpZKTnKEZsbqymh79uFA+qV9IEosyVwYkC6yS0DcV8dN0nkM1mh0KZlYhhA+r1quZTEoyJammY95ofUXB4QAh02mcHA9i+9bNuPHm9bizcyf6J4PoDwYRMEYY63gao9EwZuNZDKYyMEoJJvKko/FIsGqmjUDaDlVWtu1l0ufoNGV5lBMJRAfOAsW1/Z0dEwgqCHHTTWfRbnfj3PkLKt/jfYmMtHaENmwqTiLQUlqwKTBoYAppQqsxIhYxMaewRJaVSktwW412tDut2Npaj2vXLsU9167F5uZatDodJ2NVApdGQnux102XpHY1yXtxn1mRJNljibIghAwK3+fcl4aKU+l06hg8Nyc3Qin4QJviPoAsTjLR1x8l2Cm9rk0UcPJMFMyeEjWOiFSoTV5wAiqhmRqE8OZrazVDLzuS6+1BQLn9eCUO47zA3AaneWtHEhoOpZhp6Py73sup34NsdzJzlc+42eiEhjSdjeiF+8fHsb29Ha++9JN48cVX4satW/yeEr9GjBAtWpLcwmO1SAk2YqyyonyUpZ9owDU6kSfhYtRFScKbWA+U5aHvaKJRwhW67Tvbcevmm0rsCqWlR9Wd68Wli5ejEW3nK4AiObUsp4rBa4tIh30hGsCIVAhpxaTZiBaTWK1Lwfi0UG08cdxtF6FAR+K9I5aXl+PKpctx9vxanNvcjI1zZ6Kbmpki5RDQAH9ysL8f/ZO+IkYDCSdUjdR3cLPiHtudbrTaHVKtxOksGOUGMlzItDaNuBitMLsihKrTaWdZJOJWynEVvBCtJWELYZMiOZNSsyi0z5qMN22rliRWhSb0jK5Rpvvs7BCiLhsE27A8giA9rTCgNBVM2jw/pIIPVSWzxCYzLir+CAer7c6VrFJosUTVr1FbG1rM+nH9zdfjlZdfiVdffjluvbUdJ6MRDXuMLnnc9ARabngiNBh49JyNRmrBNmUC48mQGwtJCjwK/kdNCh8CII12vvIMibGAw7EJGTunM/LsYGOQuB8fH/LBtdptwiIwNKnRhqYjpk2xOvgf9mCtmkjpMlSA0H+0xRzhfufn59k7ChPstKFzQUJrBak5B/weoQ8iADh3PCfmYcgPcM1g9+DlxrG1vBL/7Nd/Na7ec4lrX+hAeOxoxN6tnfibv/6vsbevxng+UxoV1qkT3XYnFnrdWJjvxfLaaqyub8TZM2djdWM11tfWojXXoSRDYgbRiz8l+Mo5nqhSFgbFzSY1KCJEQrdRw6aKbgmNMjIkbagK/mkmpmwiwy/9LujFVUgAnvXsxWpcAotYTsCEuxTkckJUMgpCUknxVdhcpEz2/WVC6MSGmAzGPKW3A85Fuf1g/yB2bt+O7Zs34rU334rt7b04ONyLk5ORChxOLppt8bdoUjD6J7uCJe+QlYBhooteOBu6mOP+IcdHwNCRNE4nwtuANeOJPCqwvTa2OG392yG1VuTSytN0hANJVaZMIX9BEKj+2MQqnaKmKompp1e1O8D4kii3Ox1CIWwcGD42Fb6GJ2+0sVHMdHAeTFJc8n6T6YjFtw/80nvi5975WGGSsN64P0Cw5773THz1q0/FyCoFsaRVQ0dyOTJiFZjm5jqxtLQYZ89txT2XrsSVe67F6uZ6dLtzWpPEIAkhBKw9mu/0gKT6JIAqb7OxG1uX2Ze28sTpOTEhOzwT0auuVkEhVXansbq6Bo/+zOzgqF8ZUm06jhiKSttTenBNNyoCq8kXFyX8PaYxMRkcATNPYjgYMvkbwKiPj2JwMoijw4PY2z+Mw53duLO3FwcHh9E/QpI3RtCm1+OIBT4AeGwnLQjrxrX44RgJ42QUg8GQxYrRaMDPRLJINgRYfIx3VMKMa1MRwgkLY0Pq7m3FbL8T1SSaKp9iluk92IiVzqReK2MvrJBjhuCYqMDC7DjRqwpeWMt6pVeyWVwHjA0GD2gEo5qbm49Wey6A0ZsdRBPTpMSKE2Ln6XgcW+srcWZzlXnEcKx7QQRCdNrd3onDo0GpPp8eHCrEDOfRZCNzpWEnpRiTWGzPxdbWmbj/gXvj/ocfiI0zZ6LXm5NLInZOg5Oxs6hTG3Kqn1eK1yqZzbXib4ky9QwhIgtvnlTBifaW4znNBFVAhh4dhq65Lqp8KRmVErFAF/cejofH0T88iiESvuEwBifHcTIYRB/G2z+Ok+OTODg8iMPj4zg8Oozx8SBOBsPoH/VjMBrxWfcnMEzgSk2AEvRoMbxz2lcLcKMaLAEDR5UOD5C54WQao/EwRicncbh/yGvAq8FwKHFFNVELSL0IvB8rnYo+5NbdPiamRzSW4K/57TTMUuypunHYr+nScG6A9NNgbRA1ZCZ1PXotIjOc5pTZWnUw9172gVqEljrz/B08UOQN8O6ddjdWVtait9iziEm8Mzh/XONwOIj9vd04OembgRJU47iPiNjY2Iz5hXkzO7UkuHaNbbItmlbG6N5oxigm1CVhJZB2b22uxdseeSwefMejcfbsGeL5atJbNqF2QVK9AAAgAElEQVTn7EetBecvWoKdbE1qnE7Jcc20VKyc3g9RVHAYzBXWM1vzEtJkPuABRk/B0I80BYA4i7ZSNfnC/A527sSN62/FM08/HS++8kqMJhHj0SRGCP305qDgxpp7BxhBDK1ynxr0NWKa9RmX4jMk4nUtZMil+gUDAd5TYoTsnoxHTLmh9vf2YzA4wvgBwhSGY3pHhWTqKzKBcWVSFFaKygR4sncJobzVwBQDhf+CC22bgmn6jQyRGaPrVKveX/daIiEDRDUZoVxHjSfN74l31xZRFmb8WaBS2T7RmOge9boWmZfFxcVYWFiOue58dDqalzkYDuLNN1+L4cmgapkrzQ/NWF9fj9W1tWhDou1iXCHqTOGReHAtggkwrpASdE864y1OoteZizNnz8Yjb38oHn704Vhf3zB7wyHOZbZlHUfn3apKfZeIMGFQbQKwPIibQowLlfflMNYq2c1IiU2zpJ7RZ2bwwFUBhuWREmIP79yIP//kx+LN67fjpD+OERoJAFMIiCi6IKzggyErl10oKdpVdS2fy9RdNvAUbI5mPmAmhC+C4SEZAxWljnckk/v7u3G8fyDqMOQ5eaWmDat8QUkRK3LUNWfxWBVLJHvktu119XmKLizZcz9KC5ONDCxemazle6SUuVRp9ekgf3IDMxo6iijv0qiJu42dX1MMVSF64fmMLt5klgYQPKkFVxVb08v43Ha7E73eAjtq5no9OoDDg70YDgb2yIrYdEfE3L2Ym5sjPJJaMvMKTeclIMDaWLQHk1Xiz/qxbQDefiLoOx5Ht9uOhx64L973gV+Kq9euSlriVDPjdM6CUY3A91+rdJ6Of8LdorHznSoYpNc60WBzt9LaogWKRqytEro8Ozs4AotQTc2lobvD5tmnnohPfOKz0QeTALaAzT1SHBK9+XkgWZoCc7Br28ZkqadgieanSFOhATvZac4CBo1Mr4GhS3kWcXxwFNt7t2IyHCYgICdOSDKW1oRe1zAD06eGwOQ2RmyEoskhnFAxhjseew1N3aVMb/KejLrasOipqaGvaQoJ702DFZhjNsmFFP3cYq0ca2y8Ca+UA4oUtuXbOFa5qDOrJF/VeH2N6KIxFDl8SUFAW83v0mzF/MICkzBgel17UJXZAVvUCOoAQct2IGTj58s8EptL+91WotsE06N15AEDdhYcyEopseAgE/3RhM/q7e94NH7jt34zNrfOiM2KBvM0COdgH7QR4usKh9eHKdUlo4m9BV+4/U7p6VPAUU0iUNVHbGEj1lQZFb34U2EVbmMyjs/99afjc49/O4aNRrS9A8EDs/Mru/NpH2IhZDTV4HdmyC6V0/iYa+BCjafLBrOKGO/JQfMqzgA2DcYDe5EcwaGSPK4Z3hhlc+hA9P6eF24PgAXNvkV5YsELGkdTBR+VirGzPa/GozP4MAjNlFxVfxKn58g5oXV6HqY3iHhY6Iy/4vcTFlQj92rN02morjILmNh8GV1Mh+amYNSqOmwKB1Vrakaf5hw8/NJatOc6GlVKaUXej4XxtXbEOmzKjYU8ioUxcYQ0bB0GACmE1l3TskAGoLI8jsVuK/7Fb/7LeNf73ss8KEdqJDOSVVLeo5GaYI2HWHmabxIFdEzwTakwrQ1NLfDPUSHtT78zi1Xq0al1ObamoD6ebBqz8TA+8cd/GN957pUY0xPowcvIsf+b0SI+yiYCSzlpxHYzFjdBA0EMTxuD5xpTyARVHDYOorfgGKLFJPYP9uJgb18l/dpsDyYqHtlAb027JZ+iEDzGCAYUonBdvMKKJkxIk5SZOXv1pYrdwFuNPXFXkAN8fXbBWHbAz5MSMDUkxOJ0tD6yJUVGXvxM7AVxcgy1JulmhElcqSgy1uZKcjp1YJYKZBjPaJQtZSUKJQsaEfM9ePf1aHfRaKLKYhuGOhkx1zruH5t8kDafs9YpjBKblo4nB6xm8zaIAzEqYqFyVEjqU37x7e+OX/vXvxHLSwt39avWlYlyIISa3NAqxIkUy9K/vABpzp85NS6bOQSjqUEq811msUro8u1nZkfHJ+SUM9tVFQt6kMP4w//9/4hXbuwx1MCIeAHWLZCpIZ6vPKxamBREmXyyMtiIjjEuiD4YNrwESh7YwbSjJjaNpJY379yKw4NdcC1lNrewrDCd8JpBan6/1lnE8M8kVskpdd2sJHoDemFLuAeedhsY7jGLPcL36nOllNVMFNfJWrBcfA2AqprHkyWpSyTygSbdmD+rxG1u1lCJtwogEpCXxl84Am3LSu+TzEWVIKcuSRCn2ezG5sZW9BYW6RSEqiZxeHgYOzu7ZpKU6KnZPFsRq5oCjFDjMJItMl43TATu1/QAeN523HPuYvze//af4uqlS4oEteadlHZU08gsHckqa2J22+KphFWtTl4joQdKVThMy/A4A/CsDDD64ezwUNCltrQ04Du33oz/6//8g7h9MGAlbjYdyUgh1mHLmXYctDqSt+Jn2Hry7OPJyDgpMaboPeJMDMEhI9GMSbQYGXDx+3t7sbu7S3Wf1IB6yDJWe42iLqxpsK3Oo9owQykrh5CYSqcsj+NQWcKcEhd+nrE0YSn462aDBSUlolIWooIIGh55RE6UklGCbcLJGcK5rquLZnQITa9U9huYIqsfySyZBlVFVjOypMDJDmEbXUHjFTLnE6gldNonLtdTadmITqdL3D4/v8ByP+4N1OOtmzc1TIn4+/T7ZIthrh23AFseVX9YWlmMbgcJrZqpQR0fHOxz/X79Q/88/tXv/nYs9nq8h3oxR2uR16j7kFfXmUVOsqRiZWU5axgVPtfaOpJyIwkOixBxY3yjIVHXN5/6wez4+ERS1uxhpGhoFi8/97340498KvojS1enYyr8yLRgfJ2eP5Mb7mIyIR7GQ266yeIEd1lWWOm1bbiSjvPiuq1WHB/tx61bNxVeTUlxOoFLNuSovSER9OsNEnktmg5W6awBt6iNSH1yyR+MgE1HCg77KDt3CCUbkd0yuHJV21jCIoQjBKDlSvuuUJ7eC/i/0giRp+c+8MIZhgDGccVB206G2lSMekj8ddSMy1fiE8Tv0ThKdHMdtvK2p7vjM9VstTqxvrbJyivueTDox4233mIeg7VqteWllWyBD3cTMl2f2IeULOOzFpZWYml+gYwPPmM4GMXB0X4sL8zH7/8vvx/v/cX3sEoL8ReffJnMLHuDnoYkR60PNx1cdsFWhSAxV4QvlgCURJ67xtV3/rsqvhU9+u7+vkY/0mvZa0wn8Y0nPhd//d8eD3YxUlctSIKMttlAx4p2MZAydhy8dGJRNVFb84gCjYfJsNqW3nTWkqHjtZNx7Ny6GRNWOoVPEwNWUCmiCRqOPH3F9QvbadQa/vDcH7MGqiuo/xQakW63Q+Nh4CeDoRDO9yDIVoILjwdBFP7udDvR6qEiCTYoooMIgWtuNKLT6poFmLEqS0PvtKLbgm5FOcRoPGW9YTKexXg4ojGAGTrsH8Zo0JfhANKBsYBgZTKNwXhEKk8NHxpASgrUijzBnyzGVFLXxDsJJ4Vp3XfqSi8KTb3ePCvPg8EJBXLavI1YmJ+PjbNb0et2Y3fvIPr9o1g/czbeePklFuXguSl39kEFS4srOiOIz6vFe8Aph0u9hfjQr3ww/vm//J+i1+uW8YVZAON7gH/vzllurfiVcyaBTrLxvcyGtPMUxHYOY+yeULHAb7KGkkGzMvqNJ38w20eocccKM+mZJK9/+5k/i69998WYQbVmpWDVkDyqtBxZLOGJYFr84clRDIZQH+qkCVBPMD5qS6xW21jfik53jpBgd3s7+seH9JCqXIJNmVFgVMJGjTguXDk9An7HLI6/puiKrWOALk0mmFgwhG9surlON9bX8ZDmKVzqzi/E/Hwv2t1WzHU7/A9eD1iT+QPwp89OgvEr6lQYWZjWUgh2SOmYGsVGbSY6BSQkUxj/OI76RxSJCSfvxfHBQeztHMTh0UkcD45jAM27T8FImTFJS3s/teBlgUpRU390+AE3Y048NqbVfUCV2KFHRbJ/dIQzrBrRbXfj2qUr8dBjb4sr187Fk9/+RhztD2Pr7Nl48utfZYGQMG8kmSyqkdLiyMHA0DmoqAEnMRf3nr8Y/+rf/Zu4cPViUXqK8kuY7FyLxuqklKyOJifVoZiCgU/oI2OWFJ4oTwGDCnwXxqvRkEz3G099b7a/f6jmCsISdc8Mhyfx6T/9g3ju9V20FAi7lSYMFFkU6uXBZWTscm81+YDeeuMVPRCfaqECTtU8AaNb29gk9TUaHMedO7eV+GUBBOo80Iegssr4ZAutamrAXAxSXDZyPHAoLVEanmvNxcLCQiyvLcfWmTUq7xYWUEVciKWlBYulKvkDLgCGzHqAZ/gTsmSl0NBEME+yWXLcLuiAbxZcsYTCs9DZVOF2OUlalC9oLjyKYuMYj4bU22PODmTJN2/e4N+7e/sxPIFyUx1HhI+eg0HzYCeOEnCNxVDo5togl7IhwZjAY6NYNze/QPiJ5Pv27dt8joCGZ7bOsho9HB/T0y+tbvAZ7Ozdpu4f8gtGQsLU7G4SvIGRQyoMQwdEWussxP/8W78R7/rFd3sOoiBuPmNGJ/5xC4UVkGJdrI2vOiw9LkNRV8Iu5YaFjSHzpc1ep3bJunz9W9+ZHRwcFIzO4fuTSRwd7MSf/tEfxI2DERdSs0GBz9w7iXCLzp2YxXA0ihFVg2higIBoFEdHmP4lDTMWFwYAHEfPxy6aZpwMTmJr82wcH+7FaDyQ9sWUFS4YSRm4YFRJYSg8isQmQjPJCiWqgv4ZvHen0Y7ufDfuue9K3HPPPZSXYoYLPY9pJ7JDKCqAjSlnpqb5CaBlBws9ZD4gGlLEcDjkg1USn3471YMuJiVzAqkCJwroVGeU2xH64a2xdtwsdZYlz+QcQ4t/FK/ffCteeeHVuHl9m3BnhrwAIzmUxitieg4Mm0gcMXV2kSAQDGNuDjALkaYdc/PzvBZcw+7tbRbgsLYI88uLy/HWzesxHg2iN78Ui4vYFK3Y3bsTh4cHfI/6sYiaViysnY0YeK+LW2fjf/3P/zkefuzhmDU1kwW5DY70EXI0NZKcOfXsSrzLDFA3YohGz0OXU+hlXauLTunRkxrNfGVtbU2Gvr8PQzcDQM1DM7Zv34j/8ulPxPUbOynJJqtyMjphGR7VL+x4QBO1reVJy/BoOr0iPXHidhomjIaNGWi10ly84+Mj0o0S0yvJI1xop7BMSj54Go768+kckLWSxyF9iclSEWtb6/GORx+Le+67GsvLi2oYqLd5FWrM2IOLpKpfMgpmEoVt6XzlGfU/e4vMR+hlmaXQ4JK9yvbD5IcBz9TaZCWxzxEFRITKE84Bxq8o6PF+3s2oRMPb7+8exMs/eTWefe5H5L8zcukUjoqPZrOH1xpvwTyj3ZEHH01iiFqD29qyzRCGjPVdXFiifODm9q04OTmmc8E69+Z6dES7uzu1Rok0VI/YY0+AJCDLvfn49//+38Uv/5NfZoJbL/zANhAhcZ2EnalM9Zz11MMkRKu8dJbQqhK/6iouZBXHp3k06TyKRwd0wa7MaqMkt+N4+aUfx+Offzyu37wZYzcAj4Z4IAOqGKFUhM6bjA2bfrMQb5qTD15d+PpQ42YaCzZCKzodsOU+x5JW5XAI6NFW6bnd6lp3iJBJn6QMG8yPZiHE/Nx83Hf/PfFz7/r52NpY1zGKORMwD5ElvpHCTx5dG8uHJBejZtHBxaBivPDEhVsWNEguWAudiaM3MYYtwWnYU9cLRjAYPkR64hHhA5SGaPODE5mi3Y9njJq7t0wWjgB5zzPf/2E8/8ILZq9EuWZXVD0wiOVEwtxRT7Crq7gs5CzinhENNS89O4rw/A8PIZ47Mbuh3GZhfiH29ndLjlBGQJMSUtTNBhQcS/67//Z34j3veXfMz8/xGSGJ1wSEnOdpiQWepgfGEnbwWuUUMp+TseeUAfkekRoexWdKt9DRnkyG9yDrAo++tyePzt1NozRAaDTi5muvxn/9+/8e12/cZLMwnNJwcBz9g37s7u+oiJSGbkqH3iX55AaaGwQz5N1kyDA0enFADZ6BJAMhDZX/9mDWVhMh19ReA1iyy89F8gTjA/PxS//k/fHgQ/eXYgh9L+yk2ZRXgkeDdgOfz6lMYopocE2N5yDXbk8rBkBSX2E+VUi5qc3fqncTNq9kN0+54/W7ZK05OJIA62hvrEPqWLB5BGWmIxj8iLw2kj40pPAhsoNIn6mt1ozJcBpv3bwRb15/I966fjOmeZKIdUbKl9QRRsNrdTxzHZPAVGwaMHrUuqOy8srOwkYMT/rqt3VC2+10Y3FpMY6ODtX+l8erIC/COlHnFOyU4madTOKey5fiP/z+f4wHH3qg9HZKSpE4WpX4QhdmVOQZrz89SSztwsDe7XUprNCJLfWcTc4VHUYr0fjaN56eoZ0KHkqGriRAo9okx7x+8634+le/EXe2t+P6G2/Gfv8ojvbROLFHdoY6DOZfecKFHhDeBzRgTcfo4gn451a00VjB5E8sAEMWR5tZ5WeJpqqtwnU8k5L/J+YDOPkDH/gAW8Z4HQ73wOwdNCt05kiDpkcgnmUCmSMzJM/lBucsyGRPEpVrsYpHNlaUwYKhUuJpUMJHlZ4+2QVQswRILAqhMQL36RZDqj513CKbIkZoUhnGdDSm4UM8Uz8OgVGX/Po0xsNp3HjrRjz//MtxMh56LiKatDucLIA/6E467qsZRbptT+518Y3X6w0ryjVnM0oDxIFHswmdBdZyYJ4f60kGx2eNIgIhoV6YXzKZMYzF+bn47X/9O/HBX/0gqVqOuG5KEp0y41PMikkGGTQ2UCofXTgrozZUT1EBkTG3dGsl7KkSUrfSfRWGvrcvysed8QLxPhqRrm4Wh4d9cqpP/I8vxLe///3YPdyPne3b3PVKLsWZV6G6bFyfcmDLt/ILn9GBd61RUywHo43Mu5neNzt9CDdcFfOWXlxYjHe/951x8dK5kjhSftqbi/kuGBWPUKtX042TKzxdHQUjB5BIPGk8LWTiPaoOaRBiPqSBF9TJqJUVOyXeSlAhdiXr4voz6zBmTlIzg4gAqIYTL4DJid0Hg5hOh9UaUzWmz0VmAAPb3d2P6zduxa1bu4Q/yo0ks8ClopMLLhVRMDl5+gPCBVdCs0jk6MV0nHslJQQgFqQhYq0BuL/TJSwCH49rPjk5iU57jl4dg2uxRr/0nvfFv/m3vxMbmxvKeDz7ho6m9lwQ2ZMoSM9dOozkJvjZgkYZCVQLkaFnlKhXdpV7LS+vRuMfv/7t2e7uXrStuAN1xQ8it+baFFrWzC4c7ezEX3zqU/Hjl16Jt27c4GwUDdzBk0Y/pkVWUpLSW3c6vZLsgp7CmrK73nQYx0Og+51ZeysQJinJtOacMt5aaZonL8Qs3veL74tLF8/yc/F78/PL1FcjmdJZOS6ymHfOLJxemI64Cs0yZ/Hdst2KCcmFT0/NB2QjLZ7eaC/pVg03yg2iXngWubTDqo2Ra5zyA7tUYHY4EDRNjEb9mI4H7OoSLNJDBWQZzSbRns1iOJnFm9dvxauvvcF8qt1sa5oADP3okF6ZVC+YFp9owVPm8tkRD1eQooORd8129E9OyLglHk7bgAPqzc1FrzsvoQIax0+OuIhLS8txMhzy2q+cuxD/4fd+Lx75uUeYhTfJvBnGupDVAqngkR7pkXMd1YivQhJlhB6ZUjx3HhWpcnuBvfLo4ucJXZ742pPk0bFnkBgp4OVIMI2aEyOTnm4Wb77xavzNf/mr+M4Pfhj9wYkw69i6bxdveHFTVCnhy/QeCM8snKC8TUNH5o1dCmiBTpkm28M0Q0QwAqEXr2HhyOQieOBHH3s0rt17mV4Gr+nNL8Ti4ko0UeDJQkmCubTL2tdKoK0zpyv3sCF7dO5bU6Ep5spyDL2aMW3KV1WPSdijxDsflv2i1I5u9VYkqEaAZAFMhqwLhXGCLgTNNxkNWNtAVRWMC/oyp2hqc4cEDGUwmsVbt67H66/figY0/ag8U5w3jGUMPDp/PoaDE7Y/HmGSAYpE83Ox2JsXdOT0XKyfVIAwph+98HLs7aOgJKOBQeNeETUAG2HocET4fDShg/bEs8BG6B+dxFynHb/5678ZH/rNX1NluaZ5SbowcXoyV5mEs6DFyCfnA9s4VRSybon1E8/NL7mD+XS81wp49Ce+9hShizD1NIYZmmkcFT5VIiXcPpoN4xtf/lJ86tP/b+wdH0avs8AH24G4BzLX0YAcOwyCVCSKEW0kQhgehNAvykvVrcymm9FFtwsMF+GQHsZUIsr6FpLhc86fOxvvfPc7nMh2aeBIlMTBC1XIoCq+FZevhcyDsZQkUiJMnYpH3pk5SqWjfLF58cTqtFytjaCaZKH8tvXrZAhcAaTm3SFDwkQ3i1gLrw1vVaBhoD5CEYAqSkRVTAZj4/coRgNg+WMmraxnoAGaTdDDeOvNO3Hr9n5MJmpDhFHfd9998eDD98fRwV70jw9ihjEduHzKHJTDZBSVJGMUw9EgXnr19bh5E+pG4OuuporNdFQLnA8aohGRQRkP0fx+csI5MGjt6x/3CWkee/iR+N3f/e24eO0yoY2JspInqX4s/hz3i80Ex7l9+3a89pPX4s6dO7G1tRrveNf7YnFpXjDV1XiyL948xfuYpaKCFXr0VXt0sC7qApmp6uaHAYzHEr55a+E2dPX345N/8sfxre8/HyfDMXsVwbkCE1tZwWZpcMMqo6v5gW1w8FKcauXRDjRMzYoBfcXXosm4VENVWqYoC7u62473f+D9sbjYZWKD3bq0tFopHWtdaAqzzk8d7tkenBu4QAlpJ3zjbpK2Mo543AxMemCKswxLPESVBZuU8cJIfcQ5I4cZJ72/6oDE/Ewq/bFlbIigjV5a8cN8vfcWWS5AEGD44SCGJ/D0x9EfnnD6Af575fWbsbN/RHJh0B/ElatX47G3PxKDk8M4OtiPyehEHAeLN0gUdT0dzMJhISNiNBzE9u5u7O8ekQuHnBunjCMvA1NGPdBcl3ARUJHzePrH3KCLi8tcg36/T4jz6IMPxTve+ba49+o15mXYANiso5MxI8FwMCE6QE6Chvqd3b24/sZ12gw++1c++Evxzz70a9GbhzPN8dVaEtZcXBZh1dSVVUamWSOWYehf+ccnZ+BGadQegFkivFkMrIE4dnjDMeetfPj//pN45oUXYzRqUOOshAo88IlSB/LOqRHGLtV8w9S+0NBTHO+xyXMszS/GycmAlTomJz4ggHh+OouHHnkw7r3nKlmbpeWVWFlepQch9zoGxeSTz9IL20jLM82N5YOu0qQobyh8v8CGPLTLypinWDvBo8yqhDmigUNjdPk7GhunCjApQbJEFTecZy4pFlQl66QurShwu5xHwaU23hRoJrCKYBpMijEioClHkN7u7Marr78Zw6E0/w8/9FBsbEJu0aemBl5dMETFHJ3n6jOPXHyDzBrPDAwXGrB39w/i2edfIP7Gs0PPKZwQ/gYtjCFSR0dycOhsQq51fITNpuaHhflurPSWOHiJdPZQRoncRcdjai0k54UsHI4t4j3vfXf82od+NRZWloQEkj+nT/AR7/xVTTzzilqFOY1lYPQvP/FNibqccDoqVOF67M54nsOjsv/u7s34kz/+aPzopZfoDaBgQ6g7RDEBVBSN2EIr86b4PcIYTpEF9pZYSwYsuWZnbiEWllco7EIhCmESUKZlA4RK7hd+8b3Rm+vEwuJSrK1vaHiOPSVvMDua0kiN45KHlz16UAW6gJx8F726cxJFLz0I5SkVY4KEjvMK81wkTMmyoWfCK8yuEjupOPe1ip3RppLzqLRYCWlywyX/nklWMj8ZeerHOxLje+IYkj54aHjGsUMGPDC21RgYvd+Pw709RgJ4KHpFJvyIdnBTajIW5TmS/r7Voszjuz/4YewfD5hYohGaNG6n5yljjRiOB6wFNFudWFxaicHxMQdUQVu0uLgUbeQOroBL2kwOW0jQDSYoImKNANM67Vk89PCD8dijj0ZvvscJ6JQYIwEejii+O3vpQiwsLcZkNI3b2zfjeP8wVlYX48KVq4SzrIw+8cQ3ZxANwR4UkbPL3VgXlBcyczMIuJ4bb7wSf/aRv4iX37wevZWVON7boYcAL96dmy+vZQILA2536UkgwWVhhedoiibSDY34+d3ufCyvrsfq8mqMB6M4GvQ1MhgU5mQab3/bY3HpyiX2P25sbcV8F/NM1PWforP0wt7Wzj3cW0lMrQcKDiQTSOFwe2H+rZOm8+gZjnuw5xaESPFQDi3SO1YHdQl+ZJOLJBGOGN6MWYhSIgZ2SPIIbR5tgLKDgeHdaZ9MjvVaVJWWejRG541GMRhLh6NE3qdWG27B44MGPDnCLJ4+K8gURzFVUlOMoJ1YJ0iP8bywsfFeP3751bhxaydQIYd2Bvoh0oztuSxhcGQfIPDC/DI3wN7eDp/32uomv2Z3GciFlsahCEJ5igIeT57e5wYYFKg0rSyiyQnDERN2qDViZa4b565eit78YhwdHsUbb7zGHPFdP/e2+NC/+K1YXl+ONUzqgqEDo+ukN90gP5dez83DLj5I3RjxykvPxWc+83exj0IEpmOdAJfpipnQQIAPbMUdK2ZleHKs/s8JCkwq72ttmxx5vIApVPO96HUXiP9Y3YsGpbvA+9Bb/Mr73x+dXjdWN9ZjcWWF3gGGDp00KMcy2sLUZvaa4ro5iYD3ZNCu07+kyMyupDwEIMfp5YwYSpfFOuWpaK44m1atCkqJGTFdIE+6FhavGgGSvqwXojQ5QTgcI0GSeak8vz6DiXP2jTLKVH+4WXOOu1Ws+Ck1JS5QYWNwM5z046R/FGOIytgA47OX/IYkQymrxhS0gYyx1Ypbt3fiuRdeisFAzgDlfUSDbmfeqs+Ik8Exc4e5bo/529HRPiHU8tJS9OYW6BwLaQgAACAASURBVJHxjEkxo3eAqthJzIaTGE6G0TEpgZoISQTWU3S+E3MfM4R4pqDF2912zGHawWzG6QdX770av/Ced8WFy1fIyq2tr0XjK/bo8mj2crJ0VeQYDhWaWbqezeL5Z78ff/nX/xCHJ8M46R+Q9mKRgxeBcWjSt2AhNGtkjio8hXfopNtx9crl6HTR1NCK+d4iaaqVtY1YW9u0YnEW7c5cvPXm6/H0k0/GhcsX4sEH7yfeQgKK8WwJVbL4wcO+fGSIjEgbqeYey4gNMT5VUkmWhp4NgFo6FnHxp0+h47SBmWY4VlBD40F+ClqwwUObPb1uwhIZrRNjNwJnVGFU4kxF0GYWkzlPYtJn/l8RxPfJVsHaZmJS5ijh/FYyD/H7GOV3cnxEKIPnxeNtTOflAcV67hMaOqq0KLH3T0bx3Weei8NjNMhM2FSBfAtGDWPH+w+GJzEY4gC4WayurHPD7O/vM2kF1IH3RTsfCBD1P6hhG6wSDFpa+UzYZzHXmePmHnnuvH8hunPtOLO1SXUl+gtWl5bivgceiIcfe4x0akqVqUd/4qtPzrbv3OFFlX5SY08GRR8bKNtXOPvut74Rn/nb/0HdQ7fZjN3dOyp7M+lSKgBMhy4W8ruDAXcWS9eTcfS6vXjvu34+WmgmRjUWzRHtubhw+VpsbJ2XAMknDmOBn3vm+3Hh0oVYX18lR4tiCEJZKeOb4CZ8cSVVkUl3pDkoRKCe/JM4Gfg5EYIqPmrDq81aqXVNMQkyqKbBZnLgwf0kL71GMnpHjFpSm5tDHH51zlHSe4RM/j4/K4tOte9R8GpmlrPVWaZPTbw75+tVT6yUh7rmZgT2Hg1OYoBiEoR6NDqTCHjmgJiud8M7g+HRGjbjuZdfiddfv0EMDUiCiAxj77R69OqozqJ4hI2wuLBCR4fZmDTqySTW18+wYry/v00nqT5kOQTICACF6GinU3pqThdOtIDKdwfyaFDOjbhw4XysLCzE+cuX4hd+4T1x8dIVrqt6E+T4WDBCMrq7t2dvJDFSLgaLPIAtNNBKvPWtrzwen/37z8fe7VtMMkgvNZpxhCQEFU5UOqfTODw45C7tzc8zwcSAeizg/FwvHn7wHkoA1BLXiLneYpy/dDVWN7Z8kKoO2yIr4DN3MEmX38szUEWoKrTZ7HUstieDlaiu19ADFtWbI5htF94THqvCp9lClAmjoUPt4DFcVyab9P42aKl6BZd0lItmwecksFL+JvXoqJL7zVXTdCwJI5UDeGull8/zOMeOF566kA0j0gW5o4csUEWtku4dD2JyrFY6yq1h6Bivy/2l9xyBIwGlfJInF85ie+cgnvnh83Hc79OQUPLnxC+2IIoBQ+cU1I/QG6E5GZsCX6N1DhVs/Nk/ANYfKBlugyLUaBK2Qpp9oXy4rSYP0dDSwCzMdeLM1kacPX+OByA88tijsb654YiuSW6aNTNTh9GXn/j6bGd338mXZoxrPFtFr5Ffp4BJhc0nPvff4m//4fHY392JhQWECBk3ztTBa6F82755k1W2bg/VMzEj0KCg+2hhYS7uu+didJsdccwRFPhfvHSNQzNpMpjJkkpHN0Vr+L68MT01YEQe6WdJK0vF5lIpwzWkYMWs6p6oIVsCBTc3K8bz9/Nodw4iEo1FD12qrqfnOfIhWCMkQ8kk0+pHa6alZvRBW5ZVaNaNmZ2cKZ6N2qxIs8xlaUJl7CWXqm0Ag5nShMwqs2Go9pTeB4bOotDJSQz6J/ybCkRHEHjT8XQUYzRMTIPc/Awy1FaL+Px7zzwbO3uH9N4wTDgz0IkwQhQOkfD2B0ekmXGgLdru0HeADbGKZwyFpAfPYlMx2SxsjJJ7PDO8J9oOR0O0QkKO3Ykr1+6Ld/78O+Ls+bOxvLQcy6tLLF6xq8gHBvB5Uy4wi3UY+uNPfJ1al/TideVd8VCkHq0MnEb8/V9/Nj73xDc5129xcZ2hCzAEhaR+fxhLiwvRZ+GgyR7MDosPo5ifX2S1bWV5Ka5ePRctN7siFKOz5dzFq2pkNb6XQg4Sguw4ETtQzY6pZm6DP+doC8AetlQpGjCZMbdO/8+d4n5EFkuq3kRx5p4H44Zlzq1hkoqoIE1HpYS0Lqg2C11iq5T2KuJQrUeFY4X3MxG+O0mF99SEYc+TMf2CB4ZmbJ4LlRAqcSxwd7LQSWMa3uhoFssZJrPA2a2EILhXJKbDQZxwErLJAtDJkAl76CogDcdYQCuPHlZ2DzbildfejFd/cp3wB8ZOOQAOMyA1Ir0/ikUgJeZ7OORgTrKDZjPQK8wDE6JB3l3SaE3FZZ4wHvP3lheW+LrDwyNi+jOb6/HQw/fFu9793jh/+Yo6zmgjPmTYRS8+eURwjU6QR3/8K18jvZhneoo/tujdoVhJpE5mwBr/5Z9/Kr7yze+yCQCtcJimunfnFpt92515zfJmczEOkEJyikOtRtFbmKfBb26sxaXzm9Jakx5sxMr6Zpy7cJlhMC9Uwh1ZZyku4SY0SEaeMVvjoG5MYZIfZmrbU/9A42K5TGV1jhrO4yFrkUKGqYl+cqP4LESKqtlC3xPtl9cAQ2BF18egi7lKoZEMTGtYFafSQDnr0Hx9xSyK1lXXVQ7TSE1OHhPpXAERxFoarGd+Ts49pxrVm61KenVwAp4NvO3wROO4QfeCXMCNgwYkTUzNzAmnE+BZHPQH8dyPXwk4Scy/R0QD/w2P3ZnTgQXYI2iXxBUu9BZZR8FEBRT58pngWc8D43c6LDwuLMzza+D6LvQ3LN424uKlS3Hu/PlYWuxRKtLGfHjnIWyktsQXa5tamRzqRYz++BPfoEfn8SbmkEtct8HrpDRtAOy2P//kp+LpZ34cvYUFGvHe9nZMZqPo9kAxdciVIsyxg6jbZhaOEWvYAPAWm5vrcfHcBjNtDjdtNmN963xsnbsY83Mo7Qtf0RM5oaAxcWipp0n9LEOHF+TQS0tQPQabEoIsz3sTkKJKw3einSwO8xQ3M9DKzZ3nurDy6/NJi1ECzw7xICE8EhQR2BUkwXUjGogNGvvscdMhuE9DBlwDjq6Rc3JzuZNkMTXqzQWPzCYKj3XIzZPXmBVo6cXdEshBoYJVpPTYAqh7IWs2BIvWJ78Oh8Rr9Yg9Fps48AjPksg9bt3eixdfeTOOjvqeea92SJ7cgUISRVg497MdkFRvba7HAo6MbHdiY2Mt1tZXOYUB5ESrC5EYbAcaGvy+aizk6KGS7GGOu96fp+J5Aps0L+qUYqTNajrlvHoKLBjB0Hd24NH1TTbTunKY0EUSSswdQbVyGJ/62KfjtVv7lO7GTMeIsAQPrGhRE/vREfJwtMrxAR8+cBQW9uLFzVhfxnEgaljA7tzYuhib5y5QSSfV4CwabbfMmTJUA64xOkccqA2MJJozbeFolYkRRXXt6GaSwo4bhfMdfc57WoarJlWTSNKH6njiCI4ashf37oH+GAYM9sPwAvQkNzDYWXtwPgPRI0VqQG/u2eApHaYUo+hxTPN6/p2ehwdNiTuVzLbG6mQ0JgyzqK2+CerPtrp1JaAUjE3GUkmeiGnhyBKPKmHje3/gTjOI9SJubO/Gyy+/Ef3RiB4Wa0sBHvO2TjnfaWtjI37lgx+I1dVlRV4c9ecm6w4MF8+Pm1KN3Gysb3dJW0J2nS16gp95nqghSjq2PC7dM/X1umawOfpLgC7G6CpkVA0HOexd3kthDpnzpz76sXjj5lEcDZEk7MWMGhY13WKj0KNOQd4vMhlF0sGKWLNLj3TPtXOxvDAnFgKDaprtOHfpWqxt4BQ1vC75QvV0kjZ0AgoaKv8wOfVULMEZjaVQP6jP5mQVU5m6NNWegW78xsWASSR9J5JRB5PRiITzNb3J65BH1GWjNd+rxm74hOfE5yyzpw7Gjp7vWJv5LTpNY8+YKJr9EmTT7zMRpux/omq5aXNOZlD8cFRW9E0vx0hgXF/n+s2A1oaDZkKsbjMKr8ZIWAfm0sc8d7V/chyjIU6zE6zbvnMQr711g6Iv3DOSUdQ5uBfN3V+5dCk+8E9/mecg8YlCV4PRGy0UjgRfcyQ04B+kHYBN0DxxIoAhSU4fSOjDXobkiG3Y/FkjmzTg0QFdvvJ18uhV8cOlcHeSF1oR2Trw3HAQH//j/yeef/UGk6PByEUHhkPQS00q4FBIwLgKZMww3uXFFZ8HNIn77jnP7Jl5QWMac735uHD5nlhd3dRJyPbQFBkxqdTgdxlszvHQZqChI5x5HB6+5s0TQ1vhQ/vW4nJR8oBWz15JGi4ViFVXvz5DPZ7WryfH7mYEGaQ2RHpONHBPkfWxACfzG050WBi2FQ7nzdfCIQjWaBwEKU5DCTZxO4Snp1b+4EMGyPhKZcl8whifTR4WSXFcoA1BlVd1DknhVxuGVDqvEKWqKMHkmsrTEWENGjFG+PvwgJ591oRdNONwMIztWzuxs7fPE1HQzwvnAqw9Nz8X91+7Fg+//TFShYiuZNRagCFtd0JlvuU+V8JX1UUUheXxBV1t+LYV9cVmBUfPH4aer1tbW4nGl74MenG31rBbhVYmWyzcuMGXssuD+LM/+nA8/ewz0eosxOr6esx1OuRNT8aTmAdP2mnHjdvXo98f8LSBDkRYHD2GDpN2PPKAGibsH2NpeS0uXLwSSwsrrIwJK5thcTKqoULmzDmFS4ZMQ2drYY7LqGaO8KApe0QylgKo+p0CuPNQKbecMHDpgFs0L2QiVhyxC6pkhiB14Pg8eC5NW9Wcy2y2FtuRFUt502SFdAXsIbXEgtOCE9/bC6tvsyr151QF7UCcMuGB99n3Kjfqpm8de5gOQZtVPyObhWebXTn6NXrpfN7cfNlHSzgZPC4GjBoo5MMjVMVH0ZiOWbXE9c8vLcf+4Uns3rpDz/7gI4/EyupyzOMgL09UxucA1iSerpMKzKecRdKobew5I0iz1lFbkeRVw5Jqxp8bw3kZ7n0dEoAv2NBp1COdV0nvnsq8WmUQ3z882I6P/NHH4rs//lF02j3OAYEXX1lcoiAISen1N16lEc8tLMXC/GLMpuDOe0x2AGceuu8SDRWHPkEYur62FRcvXiUNlYMl82YTj6UWpB66OP01Z2Y7VOHGtEAOeVkp9RMvRg4cn40NJejL09GjeUoXS/h4nbl1eXgBBXlTn3BTKqU+9Mtzw0sF1EN52FYri+KDlkhLySCksJT0zvLQNPcH2ABz2H4dCjV4qWJeVJyiqbpkkJVha5dqnp33UMbZ6V6YnBuOSFkpo+ftmpJEgQ84ng3dKNuD40YjN9w4mrFdPMTXkH9ASg2DzAGxXH/kMxD18WggRWRxDqYJWzo/FrYBI4aTk6Hb65u+VM6mQwn4HtkKiBZOigbl3al1+eKXv8aCEXc79NxF0KRQmDecGo39vTvxkT/6SHz/xedjbm4xVpY3ArNGu81WHB2DXmzH0SHUkImzmjEbn8Ti0hKFPquLi3HfvReIxzhwv9mOM2cuxJmzl5hh43M4YdVzWzSYpzopWBtAXjk7inKHZ6gSnoOxy1uDRy+wojZIXrAZJ2zIqiX6yqJRvYlII5WVpvhQABdp8Jksl4NBAnxCsikM4bndmp9it6r7Sr16+Sw1F1fjJ7AOMlaqLBGynC8klLICRgpLXzc7mbJF0BGQ92d+WQRShferTatNpxbBqmiUrxXi0aaj7pOz9N2/YFaJLEi1fyWyI1bWLHN1+ziRxLrnaAofSanArdMJLdIhxAEhgTVus+IqxoW0J3M5z/UhDarKdqGSQXJgg4DR21hHMvr12Z07u6WsXrJ2N1lkhM/v79y5HR/+wz+N537yavQWlmJz42ycDA55bDhiGzz2HFWIi5o/CA59POAcbXivtaWluHJ5q/hQVL42z1+Kza3z8sS4WBqDq55eiPTU+Bu9pUqwKq/N++d4B41DznBdjwz4no4k8YQoJ4jaOB7r5mmxqihmKbWa55JhFq1eWPhSYMMxMSzCZHsggYkrnp7VnclzZo6pGMwOJgwzyh5aQyEepYhilTqyXYAyQ5YzZvhdNS8kjSqtt7w9x+MnoUAGS7BLBbKctKs1Y+k/JdmWDVCmTYbME8u8bhSCcXw3V1vMmje5nIwiCufoe6JWYux8PqzZwRv7nNpuoRYFW2ZtzIsE5ob8Iwe+KuLJsampW5hfESDp3CQxNjY2gNHh0XfdHO0kxOF5RChDMq6IbG7fvh4f+eOPx1vbd2JpdZ3nWB4d7JIjh5Hz4XseOWDLZIKTofvkMseDYayuL8WVK2ejyUVGgWE+zl68TK0yT0woRaAqiUrjKtiNTI3Dspus8zViYrJ5oJIRlMzcar9CSWbZvrS7ZWO4rDGhDBmPIgFA2x3bfPkgKX6jN0WHE54sp8540FEt5/GEm+yo1yax0dp7Ey4gqlEhp0PP6CmduPB0O2rQLYMw/DHFUaQCuj7Pik9W3waaFcMcU5KeHRuAE3PzdU5e6dnT2SdkM1TK7cyeWXcsOSsuRRwatb17kh7V9zQpIoty5Ml9jFCjbajCkzTknctGKd1p6URy7J6kIcTG/KvFoyBp6JgLgu8Sexm7qSyrIf9qodMb3r7xWnz8I5+J4xEWf8oCAjNpzopz+dzDkLC7UGKGehFJKf69vrkaFy+ucwfDHOYXF+PCxXtjGQcqGXNpR1ZVTwl5KpaFa5a7uF4dLXSjkhTSjTlRKmlETUWQRpuUm+4P3kCCNhisCzmspiiZ5CwRMxvoltL1VGfx6OAqnY6RdFjpIzXMkY4m5zkaSVuLUq9WZsIJek2zKiUDLjGiRCKiWG0R4F6IzDhmwyc3k67U2BGuadHeWwJHeay9umsMeGsd9pBDnbi9YzJ2n0IaOu63TnFmo4nrFT8r0VQDOdl9jwUUZBIcMUvmqFsYJ0Oweuul8rYqAc3oANjDw7xqxUTYEaHLF7701RkOAtAxhVWBQx0wPqrPQ9/xMDEO+s8+8TdxxJFmmBGIMrXmqU9HwHHQN4tWnF9cjl4Xg+PHsbS0xILT2XMbcfbcKrEstAqLS6s0dDRG69yhij1JuFLK/+QHFaoqKaaxn/n1XAACIJ95VM0ryTCtM5oywVV1UZwvvRtlwqIAk4nQAxIDJRmveW0OTJVwCm2CxI9WDdJZ2MBy8Stvmcc+ZlTQ5tL7WoaR1T+WunNeF3efrhMMkk+m01AfKTKTzcoQrvdUR7w+wxqfmlcmRi8N3p5mkBVgYm93P5UkFddgMVxN8ZqQCRsXpxjWBwsRCJoORog6lWPRydWdWTW6kHURi/eSiVHrXyUDEYwxo+ahpinPRgW28cUvf3V2Z3ePT5plcfOveXYNvZ85Xhr6ay/Fxz76l/HW/i6rchDvBx5wnhuEQtFcJ7rdXvSHA5Z4YUjIvkGFnT2zHltby3Src61OLK1sxIUL16hvkJbcHSW1E8ikWnQHNbUuWhB9PzNxeYnUxTB0s0Lng1gNcXPBmCAa/2d1UQ5bHocFIlNzwrJY1bqE2Zpw4gBTheTTrQ/3oFL54Uxwq8JXGfnH3xV9WDRGVt3xSkw3SheEeeo1NyqqRbMPa/ic8IdVQp1qp2ihe5C0x5vFMImwLBNmbh5lFzkMVTqo1EBZ3FASW0eapG2THrX2qHD4peAnA+WZR+5bEIz0qSkeR1gcFpuhNX6wTkOSjOCAWEtFTCMz+vN7kk9wDj8qo198/B/LSLqcAoAb46y+NDB3n8D4X3/lxfj4Rz4ZL12/EWtr69HrdqKPflCo7tAUHc2Ya6sZA93gUI6hbWphaZnnll44uxnrG0s0fpyKsLZxPs6cv0gBj0J+Jhh5Vo0470IjcshO5VF5szX4wiNGuFjCtfx3kpa2GiY5bApWD3rJXrOU7vmT+QoVhcxIFbsVxZBn0AuSKOSTqs2JZ3nIWO3UPL7Wg4AyGcwJA/L4vmdvgBrpL/himJEYXwVfsSUlOXYxRW6vokQZoWA4KOv7zk9hciekRmk2dvP9/BicK6gKrfh29dZm9NAS+/hDaMt9rHoOOeq2ulx7as+dpMrw1UqYCWbC2ByHrUgvyjA3z93/pjLXIw5FI4t+Jo/+JRs6Ew4PlJfgx8oievjqZItXX3o+Pvzhj8dr129zoOQ81GQ9jCUTMzDoH8Xt2zdIM2J0BQwYzApUaYA5F85vxPr6ks4HanVjHRqXs+ej24EeWQlE0oQ52yVxNn/ODWwBvmIXH3LBeVY3srrp8MaFzBY7c8cI8Bkq06Dr+YkWHwUZde4gqvHYmVqxXVBZC0qv79O2ixczlk4PmfchMVUWrXT9GgFRFfIVQNRcXgUFyxWyqOPRyIW+FNntglgeo6jpuNYxWMekzyaUSDjDHSSOX0Uj9626yMVDlH26B3/XEAjLnwav+3aHk8Q9ipoeF47iE7jwfL6qZhmuFJyeHr9yYHh9QsXMlVQlL4/fzIwOY5YtqiqO576xDnrxS09YpqtfwgPFABsesQjcyQOoqj8/eeHZ+PBHPxWvX38zlpbXozU3r7FwrZaUbeNhHB0fcK4HJJnAlmBfMKICic/FS1uxuop2OJx304utc1djc/OMDnvyf5lsZHHo1M51Q4Y2hNVqTjT1OnsvV9TK7vcGKjy4jz7hzz2jUMmiEEtyx/nzpOKUFFp0RgNyQUkaq1I+zxUjFEIeU9Po+BPYE0rv7zY4fUYFj+R9K/UjcS3GwmEIlD9AHjVpQulzdHCacLgGE5nX97ZMD57R5G6PnlGjPPXkyos+J8dpV+ud60yjdPWYNQbEeBRuSPvp9XmUOSyVXpe6aemNVBmviAj5sqoOkk6OhTr8vo/+lIGLPtZ8F206/HfK0NXwO1JBIFcxB226ORq/+uqPn4mPfOxT8cZbb8XK2pmYX1mL6QhnVV6n5mFhcTEgOuTlo9I3HXOeRw/FoOkkrl09HwtLEOy02fGPQhEOeiXrwUpWVdHKm8zmCCxS4vIMc9kqRsUbF1Y8mBgV4TXyBql9d5WzLKDvVfQdPIKkqcS2tnjhebfS2cMK0iZhX8EfcdAK34RYeBU3kulAz7HhA8el+oGI1ZJ6txiiCzCG8Z5+i/vxab42Am68gr0Fs3D/FIlpWxZYkLvYV16gEF+XrFCdXjT2Ud1CIykSr3OJfXqJLLgySkVEGXCyTTzRrvTwapPTrAscqZ1F6vdTBHXVU21fes9yYITkDPl5ei+8TzUQaT09+h2eHFztToQpPWQtKPUuTmFe+tEz8bFP/EW8efNmbG1dZLf3/vZNGe7CYrS7HQr5AZV6vQVqIjASTKMpZnH5yjm20kFovzC3EOcvXOPx3bh49gbyHCOVfPHvNjJoe2pdo3BX7uhMPkWC5ZF9Dt+paTf2T5xNT5ae0u+ZDxrWJ9gmf5ZGjqYBncHkh8keRrEcZeydXWCaV74JPi81U+lFyWgx5c0RGpmM+jlAj0IFpRLj3FfCnnrnxOr198wGdiuG+P7Fc+uGnJDm/TmC1OQA1fspqcuhT2TlSP17RF+RIFdsSWlIJx2rAbLceIYmWhvN3aShG0sLPipHE6vWpA6nKEa97jpdRKvHtfDpdc2GhqRm579YObFF9Ohf+BKS0b1CbYFDZdgjDstjWSpu+ZUXnotPfPKv4hgjLaaz6B/vcYjNXG+JGmN6L2bsUi0e7u+xC1szz6dx9d6LHBAPahFn1F+8fD+5dBYDeAJGpVDTLnW4Kzs/TzVwA3SW5nPCrdkR/AXcTjbCtKV9m5s67G1rw4+yZS9xeGEyYC7m0rXKmiwFj8y15ao6geRU19oGKBumMoakENFQraU2T4/IyelkbjIxhFLHqAf212TF3le16iYBs3U5/jw0criJmk3aVWZ7ypvXPS8Vji7Xl/OR1ENS7ESfrbNdTxWBWDHzYctemoQ1ckpmgrRwNnZFXXwom5pJIOjc15SzsfqJ0z7MDvE9y8HOojHp+x1VFHjVm8BWui8Yo2vbajHTi6eXK5k8TpN+6dn4q8/8f9HHQ+IwUEzPVekaIxSw5THfRQ3WQ44nW1/d4IgCXMy9953nuZ7w2EuLa3HuwlU2VUuwL76U8CSVayXBSW9eTwjND5MSVLVSf3C3kMhq1wtCiDhEkYt7gdsfklHXyHJaFj2MpHw4owlCM4VGGaMwrzCFuvIzIzIz5LI4L8OLn14uIQm7dUZjzYys4U96foy709Oy3psfVLhxPmD+n+61jrf5XU/k4lnUWEN0Izk8kd+vcd78PNOIvKVkhtxUIjKnik+Mmpb45nfF3yec8NGVeX3+PEmolcCm7JrDNFRG9qhqGy6NHMtq2bMqei78VTodPsOEkfh5nW3hMxcqgS2JXvzSE7M7d3TSGN4TNGEl5FLorpKVabz66nPx2U//Xdw5OmbDKgZabm/fYDMrF7H2EMiGYIrT3HysreB8z7l48P6LlPW20Du4tBHnLl7zuAwd91LXQtCz+RAndqFYe0Hv2XLjgrEgf5ZN1XyeFXZLg8B7J56TkQLD6wHojwVkNgwUgPR6P0yDhuKh/Ft60EaT1LooCUojSDkxfSAjpmbFQ8iF+eT63Bz3KU+JIf/auIKP+QySgUjuWUcfVnSrImo5CEJjvD0HPpmenMrGZ+5m73RmeW+5nroasTGs0BJXW1hE7J9VYzYP8GhFbhpscoixOPk2/T+WpuopmHIQk8ZcqP1Rnl0HlP+MhNTMFMdh5Ekdfm9WYvkmfpImq3CPxdBxanEO3kn9c94oWsQyEUMYe+O1l+Kzn/qbeO7VF+L8hYuxc/sWR46h7SkpvpRVGgHx7Jvl5YVYW12Kq5fOcThlq9ONjc3zcebMRepkMtGkCi2148mRlwNtq2ZjtsnZPhOzcqfWNFUSFul3SDUZwnBD8HseN1xnajS0TgyUpQ+AE+pav/tPbhCXfMjgJERR1Ki8ePW7xP2OnjkvXj2ymmKASxMUrqSnKQtAtbFiwHWQF4yqRF0vRtXznR49j4OXQZXrutvD14RerOpasqBJXnmwsNgfNZykg5BxF7gl4wAAIABJREFUs7HdWiP03bYsjxbbBUcGFY/zDOPrPGuOEZPPEEbrzWQ1rZic9PqiKMsfySLJ2WtIVZWXwFExGf3CF74yu72zc0rIIwLC7EFpJJDeZfv6m/Hnn/hs/PDFH8bm2Uuxt7sdx/0DJmp4SJvr67F5ZtPJhsJwp9mNuQV0dndjgR3iDR6NfubcpdjchGpRzRKkoZx8cvmSasLle1YLnSd/hr+tQnRYtKijFIyI7xViSO/9VJiH2sYFDvdxCdZYIy1jk/AqCxd1U1e080kfSd0lrs4+xrvUgfr9pBA1WQBnthbGo8yhgVHgTCfpejQu0Bg8C2Yp3PJJysmn0yA9hwafhpEVNAwfI1OPABkt6muTVOoENKUVxnR8ZFmQA0A2K8GZuHe3LWqr8vtoj+OmtedBAZK/h/qJHZhnACpiVox6gSqKLpmTZaaiTJwlFW56Ew95hDqJHjkgwdamhox+/gtflgSgVoLm2OFaJU+nOOgB3bl1Iz75kT+LZ196MVY2z0T/aD/6h3tMIjGS7J9+8JfjwqWt6J8cUcSFBtvRkGNRJcH1zfZ6i3Hx4hWeVlHapXBhbXkEJqeFSkoazjeJS6GGfKL3pYIPD8AHjKXnsYeR00l6D03S8kRo48I9ESkmnVUmA1RdSHWokrRmNlSk4RemJn/fSTkUeLQ5NkXraaaUdgqVI7uTNHICUAZGgs6s3uI89T/CzZhR4iYPezJCIOpX9FzE7FjGoZbJUiQis5OqsAIvNaqvHnH47xre/qlNYLZHVUwhNMJcOhK6CNuRnFTOLcbac4IXDbdKyguDZJJLp0VXJ0vncKuMKth1uYm5caGJT+Yni4KlUq6JENiIG+ub0fjc5x+f7ZBetK+phbIsMWfxBB+yv7sdn/zoJ+IHz/8o1jc3OeLhYH+XoR4V0A+8/31x8cIWp7Xi4c3TkNs8NxKUory2tDCa72ElGihFJqE+GIpD6ZXwJnbLayQEMSMkIZjO3NH4ikovk16SNB28KA4nwMztXpcehMd5Y3PUvXGNC66zCekhKsMQJizwvsZDO+GXoKttA6yV9vGsc2NkQwc2KdYbp7lxVIjzFQyHwv2iBZVbjxFNQ5WIg33EjEovWSzTa1XJdFJsA+akAkPBUnVyIYg1ByezStirjVDu2yyXahVNNZr4GbLxo+RogkoaKFWjA2v9BfS4IDXshPRMhOmZLbmAhFvgETwtDXiVU55okoCrU2TseMaSnBjyO/bbBgYYrUfj8zD0XZwGXOHNErpYHZAYSPc/jf7RUXz0wx+PZ559NlZW0fA8jYODPb4GJx+8510/F5cvbnGoTSPacf7yvcTjXPpUHbo7qIObyuoWRxxgBohANh9GbffL0Pj/6Vey01NfJXzAw9d2SDaDnpvjLSL2dnZjaXGR7V7A7jB0Gis2VclHk6bKFKp6P3m4nMVYsR5kOgyN5KXy4MAcJcf6oK7bIz5oqNkAkZiSh+vqJDqcBcTBnRixjBwmiyL24HzYvsQCezIZr42oy2iWzEiexpF5S+ZifI9SarfrTufnVU+GhufDGSqwQFaDkFp88fzsDU1mxBJsGBI5dUdQwhbXSSTCUhxQnUmEQY5SSbhSHBAPcpDDkb6psmGJvYS7JNP9/Fdmd3Z2bD86ZpHGnbPCPTqYoZFzzvvxsT/9aDzz3HOkB7H+e0cw9Ca1L488eF9cvXYmhv1hNNqduHzlAZ5zkw3AkmZKYkBvXtMj46yaPDc+29oEFWTOaRiCftLWYl/A26EgxSUXyC5FJm4WswDYwNQrw/jRtcOiFIaB6jhHJUIyyNwsGUUq+CL8kQ3ERpEVDpa/OcWSsMriwklhY+jmpJBU5TIjhFrVsHk4uzxPbp7XxNocsIq14FtMNaPm7uij+xYU0bPTPVHViM/KG6sVntRAoipu2owkvdWUZN59aSPE2UeqphM3ZwKZjsZjRKin4amCOCNJRTDKA3wRCWjywLKEuHYxpyhc2Js2gYV5HvXNZos6+8TIobxgfQPN0V/48mx7W4aeu17HnVRDLYlH0fgMtnrYj09/5GPx3Wd/FO3uAqfp7uzcJDRZ7i3FtXsuxgMPXOR4s2h24vzV+2O+g7PgXYZuCbpUM1nENJB1SckldfDywvKCFd7MBAM/waRfNjqg48iJWXowhV5jSVqjaDcWLextUimZHoiYNTXRiV9Ju2Y11lJXVzRLxdHqRlF+GXnk2tIzuRJuOCBNhy7Ic+dzRqPCljQwGDOBRDUwvH/MQ68wRkKMkA4iAxZX995pvM3KQRp0bQRevTBUv35FKwuyahy9NonuBTbPNaIXV94l7bw6ourUZD2vUQHIBUGyNVYgZg3Btkc5LpkcFeD4qVwnOTuwX6iek4r1LBiyV55ho6hURfNEABg3XjB63jR3fnbaOCHlYH+Lh3A8yyc//LH43nPP02MvL61E/3ifYxA6jXZcvHw+Ll0+y4lO2OFL65sOx5rcigaMe++9N5ZWlujps6CjSarG667KaYfmNNv00uZXU05ak+gynJbGDFncKQCSIjDPZMmHAS9HLQypNA3SUURp0YhEh2XpWboZMBnsP5X4w212PrWChqriSIqqBJHT8M0EwRNTK2LfRcyaCZ6iGP5DEwsMmrPD2zotIk+6qxtXiT6Jn2valXKv1v3UHHrZVPhepbCs9DG4dt6HhDhlhAafDy7TbE49quTnVcrDginFpZdDt2pEgwcb1SOqzd3Mk6KpIvzpk6axQPmZcjYS2+F7lOn+w+cfrx2RbiNPXXN2HM2Ch7LeunUrbt66EV/83OOxs38Yo+mIsxhROGLDxlid75DcYpeNcRwgjxJBMWnKjhP0iKJ/FMdvPPa2R2NpGeeDokKpsQZUodUoRMKNU8o/GWVia3oa3r/mqgCEZCJV9yqJ2VPqk9gRDy+rwaS9yNSIe0ZPKyt60NoX3tY4O5WOPMpGho9sIFkZVvywQazaU95juakZo7oXLoZRJqWZwUBedNznQVVYGB1KDHYKa5UntGWN6i7IZel1fTPwKu/y/qdp16o4lZElf05hmgewshLh+6nuuaa/cfQ8DQH1OzRWjw0kVLJ8QtVQYXTCSxq+K/XIpSjzNXVwOnQmO8wQp/tVtMH7s2D0OUCXOzvKdPNcUfK1YDHUf4iH9PTXvhZPfP3J6OPkYgwb5S4fx/btt3hdYFxgcJieSpvgufYqy3PcmMN4p9tjN5EKSKvx8+96Z2xsrPPgJ2yYPH9UZQWTuHY/eMi4CUxtzd2qhTSrkl3oDv3ZBc4HlWPuLAorD98jpUvFkR7cVU57LLY6p9v1Y0iGQ8ZaKeXSePVyeSCF7UxifTOZiBaOvqrs0nB8KDDBjZs4BMvkqXDAAhwERoTQ4CREUbhP2FUrnJSInQUZ1x50Xx6Hh3zJnUP1+y2R4hQLk9DM91gq03Y6FKQJjuqqsDWQ/Ct1YOEoWxUtlSAhwM3b1Fmz1sKokeN0RCTF6WdJ4848VHXAU7CxGPrtbRztUu108syec8KkZzaNl3/8bPz9330+9o+HnKWoKuM0btx8g3qW/NPuLnL+9dH+NnsocZIBw7sNHuXebgeH5/ZosGjOePvb3xYXLp4tR/ThAcL7azRc1Usor1jdcEnsMjHjwqnqSZlu6RSv8hnaCmlFGwWqit4YuFeV/PXwSOOxMgW5sSQF9EB2ChltRMPqUN70Jny0OW1L6auXyFoVRyF5S8Gy/FM8bNKF+BtRli2NOoyYXyPSeEa4DFn3CSfEI85dhyjvl8c51dkatw7mqXeCLromK86coIrZ4LeN2Vl7EK4pEJGV6OT6k5lhjk9GoOQoVX+ou8o8ggRWykSVEFrUaD0iVdencXW8lewkw24vOnT3K+Q03S9+4SuzWzzDKIkXeZYsKeNvtU2N4ntPPxVfe+LpuLO3H0iRoC6+c+cmjwZhwoBpAO2eju6YDsrgICY0XlD8CxQi9jkO6cLhuQ899ED8/Dsf46kHiwvLPDAAr8tJAHJCBIO6zmIUktTK4Cr9BTdtNkWc4sVVXWQS6nOS0P6X8EXTXPWH8/zIPimpLQxBLbNXyLbi8FQXjBInPvCUXyDJMkyqZw4pbEp8mzBABw4kZeYT9JpNrjUEctJ7yBhgpGRk7KXFPFlJWqfcvG7JZGV9hJ1UrDPkvBsfR4OS+l0addmJDDGvVW2XWjntX4/acPQgUmBhTh69bPmSeJs751lWmMnpajSgoPuD03EQghY1qmsurpQzKaWATMwVrg/KWkkAvviV2e3b28WAKkFXNY9EEkro0odx4/U34oUfvhAvvvpy7O7uxPbe7dg5ONQ87E4n5js9/ls64SZPSiiUFY2sFV0UUcbjmGt36KUefeyReOht97M5A5XS+bmFgrnESps2LPyqPbSNMj2WvqxmC6YuRF6g0o2UgaAeYprWXcRXfmhlQCc2012FpGrh67jYLtV8e6axlF8AuvAhy8wrnrg48vIM8JBQtcXrknKrU5bT4UhyZp8GwvtnVVQKUM7WZeWy0nzcnbTiaxmfRGjaNMmGqPkmC1/pXHTSdGplZNT4/fqpHfkMSnxyI4QYqFQkOtn3rHuMVM5mEeRJathAFKtYsFyl4uTqfcK8qOpeKx2Mojt5dGD0nTvSuiSOy65/Lh55TykaeZszDIyfxJ3b2/HaKy/GMz/4fty4fSf2j3GUC/TEOJ2szeQV7wlc3cPBqz2JokAXzXXa1EK0aVCNuP+Be+P8+TM87WJlbZPH7eFHgDl8YPCaRYdsMIaKGg0/wVlVIld5PE+oqyIAPo2en7AIh4fp4K/sL0xPnoOK+PCZ3FSjiesJpDxaVTXXhoN5iI7Nh80rdEHG4mHKFXLNf5ZykAbIWZY5gcC7A++FCm92cqAjy9BGq6n7JVt0F96ufw42Gmom0gN5s6LaZu2PjhzQ5iEb5U4iz+3lezM3yiFM3uNlQH9+7RxKV2Zvn+K6vFbF2RIJUiIBW0lYmYae7ZM5bU0evoouFfOSdoHKqLUu29t30m/KJ9YO7OKD5dHooBgVm0aTsUvP0/jxcz+MN15/M3784gvRPz6Jw4ODmIw1Zng8G8fC3FxsbW7wWJf2XJNVPk718oB3HOTF0cLdbiwuLcfi8krMQQlJ9iVxchmjKYMxtUQjyA6aVN158QqLYbwotkJCfJ1KIS00h1/WGjNK+xdPQNPnSnLgf7uyqdOU8btVMlpoQl6jHi2ucBIT9Yf6YZKhqvU0JuS4G6ebO3CcUkFE6lIZDDh2TpQ1bKkf1UgnUcBEcuTm2k27JkWpdVEhSVyn2ymLWMxVaucnohTzpa5P5GauEbpMEYijT3PsJXdyJpRKRbxvHuzgjhZSkRogpc+jYfsZiL4VTOXPaiO2c8YLLsuG/vjs/2/rbJTkqm4gPDY2IQkFgfd/h0DsAGUCIQ/jpILtOP8Ye+1NdX/d0pl1tlLxMjsz995zdPTTkloW9My30R+qEeuHOQjMJDP+LkRFPufFpETadA1U0nCmH//y58vTp08v//nplTfhN59qTPYHnias9VHV4q8+/tjIC03VTEUQk6xm03z48CN3JnnhD5ZVM9Ca528bKtyxnv7IYuauLzl8OLqdVKPzDwvGgw8/uoiLT/HAvC/4+mK+BFnEQkCOsY64YRJuJS/Sj9qMHBq63TUkbEgsErDpeeXP5uHii67rAs60rlAzju2rtFU9AklpPmVP9XzC18c9iatJWxpCXn+6v9sw1EiUZCm3MlbLB3xd2Lp/k7WOi4TDeB3jNTi2u9Jjb2uBBWWfMrAh9e2mM2wMlo6irRo9GzUa1Ga9QyFOWThCT1E8Xgqoy3c/eBCAUsm6kLqDvOFtiRO0lUIfNL18J7F0laaOgyFfXO7Kq59eXf4r/uyM1lPCR03Xb35+7ZV1kGeGVDQHzRD3EXTNq1HhVwq8HgqaSrqZUtWUxV5URqCTEELALI4F7SDA8cnvLE89j7p3dLB+obAId6TCzcQMonjbkaIy7m/sVtZvhdBTqJFN93S6RIeGYnqsylpR3m9VTQIF3xiNaZ98nFu+axkeuYc5aE3pa0T969dGpyDEh5LNMKEzvdGCM5g3LtWhnc8qxrpTp0/M4cBV4YdwctCcVk6mYIu6qSJJ7KFrfLzlLMaCBy2pQ3jtNqYysdWMaPGtMbKC0vOctIWtj4oVdgbc5dYXBupK0NV44YsUr000zyaEcxtH02iC4EIJnUyKXAK9T0LeUlP9/vrmhloN8zCqdgNyWnfE+GFUjQaUJ8RA2tHVjUJuXPJLhN7FrWay8LiQx/yxE9jVB7S2GaZVpGZYAPx62tfk17U516+j4T1uZfoPJRRwONZ03ry+AWZz6QFCZYs3irm/YQXbcVU/2Pdz4PrWtLEcPgSdaRQkyWIZf/wqPihTb0Xv5p0FXgOvTK9s7knu5YwF+h0kfxDAea1xWuc5naUDyRgXxDF3Zf1vMyZkKnegyYEH60oGKjwPBxaCHIUCzwahKTb3eXJiKV0kyMKO4lxsPT61qVBaHAwkrO/0sK6zTHfQi1AvFLcmOC1FWVib3NaGC+OeUf2r+ZA/azDr28urN5oVj1vjEYW2ABJM1aWbQAafyiTxCmChxxBiI99Xmr19mhbuHDQ/q3L2ODLZy22MAPdGK1sj3unJpKmC2njVeDep5KSQPwvOPfmHo6xUC//vf/3z8suPf+37I/FBQRbXkuyQMygxkIe6mh2XxJldQGv86WJNKIZZ73u8+RFiuw81+bG4+K3L2NtMjLW7xut4tg8+LIr0MCvRyRu8omjvavNJ7x9r2PPcJgwpjg4zOKPvXtNPeVB4NL+BK3VUMZqz5kGK8hY7b5cYjGtlCFhXaS2P6s9b+Zj5svZMMvHi2+//dPvyxcsD7io5DZtmsxX3oUOkTEYp2jrxeUtzm3BUCIuIRsWHfuN5lKKk06lS84U3xiKwKIkEuvOHxOBkX9382BqLXY2OECngcId84CrdkuSSOZ8pVkkJaOGlLTuNINb/y6Des/ULoaX73Bo8ySF7GdnoklbWJ2dj8U73/yMwRisob279t6+h4EpT6wL/dTVsTWI965PjAvOOUuhpP3xoCiGGBEguZ7Oxarx2s3C77puMObR7BX9999YVHbYpWt+OyP+BKhEyElV7kFIXlIDZQEa+8sShTFRUuDWWx72j6vSP2zP9vQo4kzFtFGxauwS5vk1b3SUeHQN7W0H/7gdoo68aLkI/Fkaod2+UyudHQt7idgt+/puJDW+Nj7vx10NZqXHRWHQWS5nO+G4S7Phq9ZOFxnTKmBsP6HPzQsL0lKXNqEdH1pWmCnGQjWpyhKTVhzn1id61SQ/ittR8+/ta1xINLI3q6cThQ+/9lr4t5mUHA1RAEhhjtcNPOEKRoOmwOnUdN6iERD/ccYkeDqFzzBXNXiIhPW86b/R91uwVutarv9dQgUvQVrwT/bHn1MB8CtN4lhXuJd/HjQPHxwO22KZZnVLdHi6uU78/BWVCp1K+zXwB9m6FGJfXFi57ra+gJKTcjBHWVH44GP32DwpGX04pSB+gQ6rMPZibs3+uQNSjTPQ72TQJtIRcAi53xa7OzRtX2wll8H+b5enGqf2mcWmEvqa54OSmQjHdLK5raIoxlXnoUvq53NSQQJSc6zYDNElRk0nXT06+BD3JJG3KTEtQzTzRF9bEbU+6/wTQYidQh4tw3pkczSh3sP1lxvU3JFXtDa4rMQdzdMhg41gWLMEIhg3N+wFrqa6tCUcTBEtP7OD7P3+CVlkbGyaMraXnb97pw+892IrFHsZNyvTtCSa9Hov0lHAI5cAB0WA3KTTVNoGSJJbwmmRYl/sEYNwl6KSUuz/sFchcSU1LUrsQGe/+DEH/o1vpTlPWh7EwC0Y0tEjQKSHXj4RY401EQM/kOgRc3C4u5orgq8heAl4qGp1CMHI9leqLIRcd/uvCeVfCXhqbNvk2SEUcDKO5U8UqgMKnCEnHaDfQ9AalxWonLVA2inC3KZtFJ2H2LnXq0cqm2LoJ9bE0GIKkDXOHvivt2rSbAxMEqBjDmifiicJzFWxDmBbcFJhVn/ser8lOeerSQ+/hyGpcaXS/dpXkymdH67f6j3yFS5hTs2YBbmVrrVXiQH0LzSgpWS7MV83u2AUlJwsvxaNZovwELSs1RmqWyA4vtk9BGx7B8nLyeWv54zyfMdqnqkf/9sn3ty9ewuvS+gB9tO6JatHNyeg0MxlKDgD/ahKCIcQIuWkZklA6cfgKQikcwMnDiR1IoyfbDxICnznt0RKtaxki1mDX1UoUFCmoa9ZPH0QbWJvPyA80kLW7sqTBdgtZWdMnqHVxmQMnLIHmp+refbhc+NXezWrH6GP75GijJmegY7hcHiSAdae9DsrM+WTraaBK507QIPY8jLrlQJ+jEPdBH/YIdXSJO7isuYFEvU5tGveB3JY8Y/0tyErztR2ECq9zFh8MNYpkXIVddD0xtMweQQJ6J9ViTTZgRy2DtmTydVvptJ4hKW3F6MhEe1WVi3HpAz9OR2WYsp9rCJB6hlSP/tnl3pMn32Wgbs3NppelnXuCCz+atsCro0UCT5dLo0W01pfpy8x7Tvm2leXSyRBmI6jp9QJxSlERTj2THH2vsm98yKlbX0yawLQUEWq1a4ktaIs1whGUyj1QYZdcKlcgZrF6MFE4oaWOQPszKQAzU0ECSfx8itGWO/zAm1Wo1maMPClBOjmMAEvDK4NGv2ehrY/PGiqY3WFcULflLwpK0xHYUSp9hvrq6Nbo0lgxqulzrz7gfQf7cdfirJhxeDoFG4+P2hUfVNOUrCZeZAdosffSNXCNTQLVQsaT2NNBLUgQi9+RjAxJRhF5D1PNqbs33cXX3zy5/ZsmRwc7pY2O6cKeFP32jTfHrooRmODqQkBMQImQK+rHv3cLLcU+sFNeJRZI4RMldEyKhSoL7wNlfxv82MITl6QFpMHLJq5wiX5br6JN8PPbZZIUtFPfG/tb8H0oot1lKitUBzwpljA3Z0zzxWpLw4gRtA3OEiBmegi+JAcGvsUmu6hHcZ39QakGYWpw7rSw+RrZIwf0sQjeWKfsEfXB3ZPw8quZPjGJzOkBbSIIFAdIsKHJIlUnHn8qgFv5ChrPPsFtYN744rmhK7d444GiXNn78ChqSIE1tS3STp6z4rMiyhHLXpAuILagZBnnsEpCD/W5WAC++vqb27/bR88JdM9EppBZqJmhaWMsIZb/bUqVHAh/TugLCzTFRqFndrLoaO3y2PAzkRFX4y7W61HhN2RpjUNnTLZ9/dBMEEOZCSQp5fWVa6K72D5bKZvtCBi/R+iOJ8ClUbta+YOHgQVFq6biqtBETEICEas4nEgF67BBXYXDdNTFyk0OhKaUJVS9yiRTosk5QEmAZfOKNsTQTOBX14juofZ4I7VyL5uV7H26ySETJq9QlrGpOTbV7kkoSoOiCHG5AlWgkFQ3aTcm5b1R13WZqs1RQBHYWGCcPYTe2XLnCEItnaDC+yZO8lhky0bCdnJ4oDM8Gr/rWp988vHl3uPff3374vlzaq7lY1kLQ3Ms4XdgaV+OBNG5gXVLCBWZN4niWsIj8F2ESN9FtWEK9jE0+V9qE46AYv26TqWLdXAEzoSJAyFfCCqQ46SIvaNE6OPaaFE801QBEvwuej9jE8HAhfVCs41LQqnudfSPu7L9rFi1PcxaS7QqbWi4Na1zD9B+WLMzFVKORI9i9DoR0pfnhoRhEQsODbbAYeRg7XDCRPfbqqQGp0mrSB2dYOsqlpkg3mQURYrLMvG6ZEbIheKiIFbeZpKMCwbNjaB1Y4Fa33LPJR3ES3aeTDG3a2vgYYboNsZLfZDOQKgzqtBKVPqp2HQfP/4K18VyRmBZPmwLsh4gCypk5S46U9fEtQwe2iVG2MwrzRBXLTzBLW6NNYjHGi633yBHrhWoa7B86ZMgGYyp6EBEXVoiAa5hvNatBDqzOWwdjFGX+5d3xvJjFO2io0lcNmYtUh5BH2N8/IgTVBnb/lYtc9Z5GGxMQgv/+xbrkIFe9XvvHpTF6cNAa23OAQFOw/VTEGhxPnpD664RBHNAYepKv2fSdlBlVHG0qjEBewK8Nuz0MGtvG9+cJb91dU+3hsc9uqpymO0VhOVBL9GYvlBhsXHLSCZ/F648oedei/cR48BbmeceFaBg9PPLvUePH98+e/4cM3TMKxIsSG2KBK9DVmnfcvARTc1Q1gZcLKpHmVRLWM1QF+OD4+AkWiMbhN8OZtuWMw5DMVZQFAtryOIbHZ1m16f/hKBcz04NRnFf3BY8Ugc5jtjVzZj0v4PMAQw3eoi201rafvl8bY5hAqFo9+hPNPFRO6LzRFNDYcD47jnADfr9b3nNB0NvYEgjijV6MsZ145Cn0Du7XpzMcd3KCm2pK7QWjqXyfOJBaY2IY4sIqAXLkOdyU0YD5sDX1WnxXS3IdWmBZeDINs99HKW8c2AONO5MMlW4dc+m2Na9deJ4S3Udx3Dznhz9u8ePbl+8eOaxLOwJDc1NGNnEqIVUfnoTDa1Xjxm032lhJpHkQNB8jYsnN2gtLFr41af+qDGn0SFIif29LFjQFyd2JMCZOzTwUzOP3Yy4JrVGvqdsFnZc2vqoYHQhVKxCawZVBqvERRjF9Jzt7GqJ6yIs6GeCueVYsYbSAraOPfOKfC9Y99NbQUxzWEbrThC92LrilJPUfyxtDmHZdLECsj5SGnCmdI/6GRO4Dt/NIji4rJv88bKJfSANMe5LjcXcMgAOP2cHReWSkeYjGjSPy5ehW1qHzB/qQfBaRJDbr2vlxEmYflLf+/G6r6siPdP83QIvPrZGfxYhpxSSxThhRMbpod05JiUe7XjwlvLqJkrAWSy+Gt/dKWn58vtS8O9nabhvl4ETOqYvTLqtay4i4QVp9N28gu1cHKEZ00gRLGXna97wA3OoMq6wGoKNIQVfk0nHTpljt3+VDQ3ufQjqQKX4LaE0zo1kl6w5AAAE2ElEQVSetSOpXdmxJdiuumto28Y1uC3YJIrH5mDUhTlKDhDqa6iwWh8FhdDg2SyVRzV4cUsJjPbPY+yTnur31gfnPkLn3eK2cTVb157ROYka7Iq1itLIGcFkrT7u4h4ar4yFnPUp9NhDpb+XxbeJMWt0Cfrz588H767f6QVy462gQnoX65fVbbHWV6TNce4TTsA6Puyx+QSk8Tc3mqTHNP6jvy+c12PG3ElCNL8w3go6i0yyglLNFurjvdC5ggZyy1/mESngATFgrIgBusiUCtbuf/jwOEz304WznIos8CIBVxo5LX2IudXDwF61RK3RwJLGGpTFwOuRlrvECySfQmVni7otkPp8/X+EmZ9eC+3Ovdo1LZ101rvuAX9n/tCCD4FrUYOjEKUEKg/6V5luykNoWK/16HdOWFzU5ajLHzfU0IsB8Rn547LgwsCW9q00JaeBT+86GUe35EfkMptk9NGjR7fPnr3YSkUjLYHGjLSEijiCPj6e3Zdg6xU+yycuC4fCEQ+UyfXjDWkFJ+9GeDd6jovc1CxSmXbfzRbXkxx20ZafcbHulIHSEh/oiQtSTdjqyHBAuituW75ubsIs4EyqFpDEB6l2PVsyohYSOEoq5COwsVIE6iBT9VO237JFTptYUiDZ+aLtia22rXW0UGSYQOnaBm6bKc7rQp33Vgtgq5H3kuefo5H7xLffYq/Ujt/pWDoP0hkzjRt71LVzbVh7T7eTvU1djVGztxA0mRMHlxLvRmvtLfG9GU7MuNCrsl+z76L1rdG//PILswDoBqhZyQMn60jrmsaDpGQ3otKTPu+vIDtbGu0aiIl5jgjcNAXHzapP6zYql5MO5QomucRDmVE5iaYp0Swa0VPDCmhz3FGesM9BqL2iZvlSl34Gqi4bpuZl7qtT8WwyUwxmPztknJOLLm60mrK0DSSMkrULlYNvpgKZkoUqADds9LnzWFjN6+CwwrvWIWry+MxVsF4f41j7gRAPMa/FPCsGea1JuPeFdDQ2+CR5luDZC0xwf9wT2dJeq2jSXDPFcXU16c3FtWr1or/FtCTg5cbSja0n4ZS47jNp9C++/O3tj399NkGDA4fcKBgI+Gh5szmlJIwsNvbd4oHmb0oqjR8tYU2SoWtZE/nu5k2q1Yrreut4IAtGhMZaNZs4qV0aHhykxJw67ZtkRK2f7yM9ob2+4bv661bIWiwYfj1Y4NxQT26I43k0UdsuBKGwr0xHCGpgAi2eByu4Gr9JnW7cNXpzz0oFhOPAkFM3QzBPDAWU2IB9LQLPudq88NxozPi5zGQNahELQcaGLKxd1xBb8Z3LM2OEzPwdbXoxeXfyD5lx6i07s8TXCMwc1Nwvz5ZyjuZK3CKYitRYzYGJHYBCbzeoWn36NraLTVfB6NOnT2818fkUQv8+8GB1IO/wwrJ/R7C0csgfVrP0t/q9nGjeYv80dR6JirpHq1+CYtTLJdGwzFBREV2qWI7rr2k7Wysa8ecC1TVjeviy/B1h6f3uN14/23pcfB+uzVEbwst+van9XDnP2E/sI1/9Rh/IJFfuXD1vvdbkE9ivN7jL2/3r49356D5wEnmFHaPRE7vO3k9BRQ/KxBm5aR5+to/LRbNnfe8+7yBXk/6K7GVPJr6dcg5wdF9qDGt/uZh14n9LTGNkPtJNvgAAAABJRU5ErkJggg=="/>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 name="Google Shape;33;p1"/>
          <p:cNvSpPr txBox="1"/>
          <p:nvPr/>
        </p:nvSpPr>
        <p:spPr>
          <a:xfrm>
            <a:off x="9871076" y="6010445"/>
            <a:ext cx="205886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400" dirty="0">
                <a:solidFill>
                  <a:schemeClr val="dk1"/>
                </a:solidFill>
                <a:latin typeface="Arial"/>
                <a:ea typeface="Arial"/>
                <a:cs typeface="Arial"/>
                <a:sym typeface="Arial"/>
              </a:rPr>
              <a:t>S32 -26027 </a:t>
            </a:r>
            <a:endParaRPr sz="1400" b="0" i="0" u="none" strike="noStrike" cap="none" dirty="0">
              <a:solidFill>
                <a:schemeClr val="dk1"/>
              </a:solidFill>
              <a:latin typeface="Arial"/>
              <a:ea typeface="Arial"/>
              <a:cs typeface="Arial"/>
              <a:sym typeface="Arial"/>
            </a:endParaRPr>
          </a:p>
        </p:txBody>
      </p:sp>
      <p:sp>
        <p:nvSpPr>
          <p:cNvPr id="34" name="Google Shape;34;p1"/>
          <p:cNvSpPr txBox="1"/>
          <p:nvPr/>
        </p:nvSpPr>
        <p:spPr>
          <a:xfrm>
            <a:off x="1310232" y="4327350"/>
            <a:ext cx="91440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pt-BR" sz="2800" b="0" i="0" u="none" strike="noStrike" cap="none">
                <a:solidFill>
                  <a:schemeClr val="dk1"/>
                </a:solidFill>
                <a:latin typeface="Arial"/>
                <a:ea typeface="Arial"/>
                <a:cs typeface="Arial"/>
                <a:sym typeface="Arial"/>
              </a:rPr>
              <a:t>EUROPE AS BU</a:t>
            </a:r>
            <a:endParaRPr sz="2800" b="0" i="0" u="none" strike="noStrike" cap="none">
              <a:solidFill>
                <a:srgbClr val="000000"/>
              </a:solidFill>
              <a:latin typeface="Arial"/>
              <a:ea typeface="Arial"/>
              <a:cs typeface="Arial"/>
              <a:sym typeface="Arial"/>
            </a:endParaRPr>
          </a:p>
        </p:txBody>
      </p:sp>
      <p:sp>
        <p:nvSpPr>
          <p:cNvPr id="4" name="Google Shape;34;p4">
            <a:extLst>
              <a:ext uri="{FF2B5EF4-FFF2-40B4-BE49-F238E27FC236}">
                <a16:creationId xmlns:a16="http://schemas.microsoft.com/office/drawing/2014/main" id="{AE44BB6D-E753-6360-6A2B-C02E9CBA5601}"/>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1</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2"/>
          <p:cNvSpPr txBox="1">
            <a:spLocks noGrp="1"/>
          </p:cNvSpPr>
          <p:nvPr>
            <p:ph type="title"/>
          </p:nvPr>
        </p:nvSpPr>
        <p:spPr>
          <a:xfrm>
            <a:off x="1685926" y="115890"/>
            <a:ext cx="8574668" cy="50482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pt-BR">
                <a:solidFill>
                  <a:schemeClr val="accent4"/>
                </a:solidFill>
              </a:rPr>
              <a:t>　</a:t>
            </a:r>
            <a:r>
              <a:rPr lang="pt-BR"/>
              <a:t>　</a:t>
            </a:r>
            <a:endParaRPr/>
          </a:p>
        </p:txBody>
      </p:sp>
      <p:sp>
        <p:nvSpPr>
          <p:cNvPr id="41" name="Google Shape;41;p2"/>
          <p:cNvSpPr txBox="1"/>
          <p:nvPr/>
        </p:nvSpPr>
        <p:spPr>
          <a:xfrm>
            <a:off x="372750" y="138309"/>
            <a:ext cx="8909795" cy="504825"/>
          </a:xfrm>
          <a:prstGeom prst="rect">
            <a:avLst/>
          </a:prstGeom>
          <a:noFill/>
          <a:ln>
            <a:noFill/>
          </a:ln>
        </p:spPr>
        <p:txBody>
          <a:bodyPr spcFirstLastPara="1" wrap="square" lIns="91425" tIns="45700" rIns="91425" bIns="45700" anchor="ctr" anchorCtr="0">
            <a:noAutofit/>
          </a:bodyPr>
          <a:lstStyle/>
          <a:p>
            <a:pPr>
              <a:defRPr/>
            </a:pPr>
            <a:r>
              <a:rPr lang="en-US" altLang="ja-JP" sz="1800" dirty="0">
                <a:ln>
                  <a:solidFill>
                    <a:srgbClr val="000000"/>
                  </a:solidFill>
                </a:ln>
                <a:solidFill>
                  <a:srgbClr val="484848"/>
                </a:solidFill>
                <a:ea typeface="Meiryo UI" panose="020B0604030504040204" pitchFamily="50" charset="-128"/>
                <a:cs typeface="Calibri" pitchFamily="34" charset="0"/>
                <a:sym typeface="Calibri" pitchFamily="34" charset="0"/>
              </a:rPr>
              <a:t>July capital investment application</a:t>
            </a:r>
            <a:r>
              <a:rPr lang="ja-JP" altLang="en-US" sz="1800" dirty="0">
                <a:ln>
                  <a:solidFill>
                    <a:srgbClr val="000000"/>
                  </a:solidFill>
                </a:ln>
                <a:solidFill>
                  <a:srgbClr val="484848"/>
                </a:solidFill>
                <a:ea typeface="Meiryo UI" panose="020B0604030504040204" pitchFamily="50" charset="-128"/>
                <a:cs typeface="Calibri" pitchFamily="34" charset="0"/>
                <a:sym typeface="Calibri" pitchFamily="34" charset="0"/>
              </a:rPr>
              <a:t>（</a:t>
            </a:r>
            <a:r>
              <a:rPr lang="en-US" altLang="ja-JP" sz="1800" dirty="0">
                <a:ln>
                  <a:solidFill>
                    <a:srgbClr val="000000"/>
                  </a:solidFill>
                </a:ln>
                <a:solidFill>
                  <a:srgbClr val="484848"/>
                </a:solidFill>
                <a:ea typeface="Meiryo UI" panose="020B0604030504040204" pitchFamily="50" charset="-128"/>
                <a:cs typeface="Calibri" pitchFamily="34" charset="0"/>
                <a:sym typeface="Calibri" pitchFamily="34" charset="0"/>
              </a:rPr>
              <a:t>for orders placed in August 2026 </a:t>
            </a:r>
            <a:r>
              <a:rPr lang="ja-JP" altLang="en-US" sz="1800" dirty="0">
                <a:ln>
                  <a:solidFill>
                    <a:srgbClr val="000000"/>
                  </a:solidFill>
                </a:ln>
                <a:solidFill>
                  <a:srgbClr val="484848"/>
                </a:solidFill>
                <a:ea typeface="Meiryo UI" panose="020B0604030504040204" pitchFamily="50" charset="-128"/>
                <a:cs typeface="Calibri" pitchFamily="34" charset="0"/>
                <a:sym typeface="Calibri" pitchFamily="34" charset="0"/>
              </a:rPr>
              <a:t>）</a:t>
            </a:r>
          </a:p>
        </p:txBody>
      </p:sp>
      <p:graphicFrame>
        <p:nvGraphicFramePr>
          <p:cNvPr id="42" name="Google Shape;42;p2"/>
          <p:cNvGraphicFramePr/>
          <p:nvPr>
            <p:extLst>
              <p:ext uri="{D42A27DB-BD31-4B8C-83A1-F6EECF244321}">
                <p14:modId xmlns:p14="http://schemas.microsoft.com/office/powerpoint/2010/main" val="3637860477"/>
              </p:ext>
            </p:extLst>
          </p:nvPr>
        </p:nvGraphicFramePr>
        <p:xfrm>
          <a:off x="436315" y="758372"/>
          <a:ext cx="7177061" cy="5382580"/>
        </p:xfrm>
        <a:graphic>
          <a:graphicData uri="http://schemas.openxmlformats.org/drawingml/2006/table">
            <a:tbl>
              <a:tblPr>
                <a:noFill/>
                <a:tableStyleId>{A6DD7A83-4E89-4636-ABC7-2F98FFF4DE42}</a:tableStyleId>
              </a:tblPr>
              <a:tblGrid>
                <a:gridCol w="1421854">
                  <a:extLst>
                    <a:ext uri="{9D8B030D-6E8A-4147-A177-3AD203B41FA5}">
                      <a16:colId xmlns:a16="http://schemas.microsoft.com/office/drawing/2014/main" val="20000"/>
                    </a:ext>
                  </a:extLst>
                </a:gridCol>
                <a:gridCol w="1216453">
                  <a:extLst>
                    <a:ext uri="{9D8B030D-6E8A-4147-A177-3AD203B41FA5}">
                      <a16:colId xmlns:a16="http://schemas.microsoft.com/office/drawing/2014/main" val="20001"/>
                    </a:ext>
                  </a:extLst>
                </a:gridCol>
                <a:gridCol w="1512918">
                  <a:extLst>
                    <a:ext uri="{9D8B030D-6E8A-4147-A177-3AD203B41FA5}">
                      <a16:colId xmlns:a16="http://schemas.microsoft.com/office/drawing/2014/main" val="20002"/>
                    </a:ext>
                  </a:extLst>
                </a:gridCol>
                <a:gridCol w="1512918">
                  <a:extLst>
                    <a:ext uri="{9D8B030D-6E8A-4147-A177-3AD203B41FA5}">
                      <a16:colId xmlns:a16="http://schemas.microsoft.com/office/drawing/2014/main" val="20003"/>
                    </a:ext>
                  </a:extLst>
                </a:gridCol>
                <a:gridCol w="1512918">
                  <a:extLst>
                    <a:ext uri="{9D8B030D-6E8A-4147-A177-3AD203B41FA5}">
                      <a16:colId xmlns:a16="http://schemas.microsoft.com/office/drawing/2014/main" val="20004"/>
                    </a:ext>
                  </a:extLst>
                </a:gridCol>
              </a:tblGrid>
              <a:tr h="363600">
                <a:tc>
                  <a:txBody>
                    <a:bodyPr/>
                    <a:lstStyle/>
                    <a:p>
                      <a:pPr marL="0" marR="0" lvl="0" indent="0" algn="l" rtl="0">
                        <a:spcBef>
                          <a:spcPts val="0"/>
                        </a:spcBef>
                        <a:spcAft>
                          <a:spcPts val="0"/>
                        </a:spcAft>
                        <a:buNone/>
                      </a:pPr>
                      <a:r>
                        <a:rPr lang="pt-BR" sz="1400" b="1" i="0" u="none" strike="noStrike" cap="none">
                          <a:solidFill>
                            <a:schemeClr val="accent4"/>
                          </a:solidFill>
                          <a:latin typeface="Arial"/>
                          <a:ea typeface="Arial"/>
                          <a:cs typeface="Arial"/>
                          <a:sym typeface="Arial"/>
                        </a:rPr>
                        <a:t>Title</a:t>
                      </a:r>
                      <a:endParaRPr sz="1400" b="1" i="0" u="none" strike="noStrike" cap="none">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defTabSz="914400" rtl="0" eaLnBrk="1" fontAlgn="auto" latinLnBrk="0" hangingPunct="1">
                        <a:lnSpc>
                          <a:spcPct val="100000"/>
                        </a:lnSpc>
                        <a:spcBef>
                          <a:spcPts val="0"/>
                        </a:spcBef>
                        <a:spcAft>
                          <a:spcPts val="0"/>
                        </a:spcAft>
                        <a:buClr>
                          <a:schemeClr val="accent4"/>
                        </a:buClr>
                        <a:buSzPts val="1400"/>
                        <a:buFont typeface="Arial"/>
                        <a:buNone/>
                        <a:tabLst/>
                        <a:defRPr/>
                      </a:pPr>
                      <a:r>
                        <a:rPr kumimoji="1" lang="pt-BR" sz="1400" b="0" i="0" u="none" strike="noStrike" kern="1200" cap="none" dirty="0">
                          <a:solidFill>
                            <a:schemeClr val="accent4"/>
                          </a:solidFill>
                          <a:latin typeface="Arial"/>
                          <a:ea typeface="Arial"/>
                          <a:cs typeface="Arial"/>
                          <a:sym typeface="Arial"/>
                        </a:rPr>
                        <a:t>[Renewal] Nitrogen Generation System - 1unit</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63800">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Product name</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pt-BR" sz="1400" b="0" i="0" u="none" strike="noStrike" kern="1200" cap="none" dirty="0">
                          <a:solidFill>
                            <a:schemeClr val="accent4"/>
                          </a:solidFill>
                          <a:latin typeface="Arial"/>
                          <a:ea typeface="Arial"/>
                          <a:cs typeface="Arial"/>
                          <a:sym typeface="Arial"/>
                        </a:rPr>
                        <a:t>Nitrogen Generation System</a:t>
                      </a: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1"/>
                  </a:ext>
                </a:extLst>
              </a:tr>
              <a:tr h="273343">
                <a:tc>
                  <a:txBody>
                    <a:bodyPr/>
                    <a:lstStyle/>
                    <a:p>
                      <a:pPr marL="0" marR="0" lvl="0" indent="0" algn="l" rtl="0">
                        <a:lnSpc>
                          <a:spcPct val="100000"/>
                        </a:lnSpc>
                        <a:spcBef>
                          <a:spcPts val="0"/>
                        </a:spcBef>
                        <a:spcAft>
                          <a:spcPts val="0"/>
                        </a:spcAft>
                        <a:buClr>
                          <a:srgbClr val="000000"/>
                        </a:buClr>
                        <a:buFont typeface="Arial"/>
                        <a:buNone/>
                      </a:pPr>
                      <a:r>
                        <a:rPr lang="pt-BR" sz="1400" b="1" i="0" u="none" strike="noStrike" cap="none" dirty="0">
                          <a:solidFill>
                            <a:schemeClr val="accent4"/>
                          </a:solidFill>
                          <a:latin typeface="Arial"/>
                          <a:ea typeface="+mn-ea"/>
                          <a:cs typeface="Arial"/>
                          <a:sym typeface="Arial"/>
                        </a:rPr>
                        <a:t>Customer</a:t>
                      </a:r>
                      <a:endParaRPr sz="1400" b="1" i="0" u="none" strike="noStrike" cap="none" dirty="0">
                        <a:solidFill>
                          <a:schemeClr val="accent4"/>
                        </a:solidFill>
                        <a:latin typeface="Arial"/>
                        <a:ea typeface="+mn-ea"/>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2">
                  <a:txBody>
                    <a:bodyPr/>
                    <a:lstStyle/>
                    <a:p>
                      <a:pPr marL="0" marR="0" lvl="0" indent="0" algn="l" rtl="0">
                        <a:lnSpc>
                          <a:spcPct val="100000"/>
                        </a:lnSpc>
                        <a:spcBef>
                          <a:spcPts val="0"/>
                        </a:spcBef>
                        <a:spcAft>
                          <a:spcPts val="0"/>
                        </a:spcAft>
                        <a:buClr>
                          <a:schemeClr val="accent4"/>
                        </a:buClr>
                        <a:buSzPts val="1400"/>
                        <a:buFont typeface="Arial"/>
                        <a:buNone/>
                      </a:pPr>
                      <a:r>
                        <a:rPr lang="pt-BR" sz="1400" b="0" i="0" u="none" strike="noStrike" cap="none" dirty="0">
                          <a:solidFill>
                            <a:schemeClr val="accent4"/>
                          </a:solidFill>
                          <a:latin typeface="Arial"/>
                          <a:ea typeface="Arial"/>
                          <a:cs typeface="Arial"/>
                          <a:sym typeface="Arial"/>
                        </a:rPr>
                        <a:t>All Customers</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gridSpan="2">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Agree specification with customer:　</a:t>
                      </a:r>
                      <a:r>
                        <a:rPr lang="pt-BR" sz="1400" b="0" i="0" u="none" strike="noStrike" cap="none" dirty="0">
                          <a:solidFill>
                            <a:schemeClr val="accent4"/>
                          </a:solidFill>
                          <a:latin typeface="Arial"/>
                          <a:ea typeface="Arial"/>
                          <a:cs typeface="Arial"/>
                          <a:sym typeface="Arial"/>
                        </a:rPr>
                        <a:t>Not aplicable</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extLst>
                  <a:ext uri="{0D108BD9-81ED-4DB2-BD59-A6C34878D82A}">
                    <a16:rowId xmlns:a16="http://schemas.microsoft.com/office/drawing/2014/main" val="10002"/>
                  </a:ext>
                </a:extLst>
              </a:tr>
              <a:tr h="40312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Installation site</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2">
                  <a:txBody>
                    <a:bodyPr/>
                    <a:lstStyle/>
                    <a:p>
                      <a:pPr marL="0" marR="0" lvl="0" indent="0" algn="l" rtl="0">
                        <a:lnSpc>
                          <a:spcPct val="100000"/>
                        </a:lnSpc>
                        <a:spcBef>
                          <a:spcPts val="0"/>
                        </a:spcBef>
                        <a:spcAft>
                          <a:spcPts val="0"/>
                        </a:spcAft>
                        <a:buClr>
                          <a:schemeClr val="accent4"/>
                        </a:buClr>
                        <a:buSzPts val="1400"/>
                        <a:buFont typeface="Arial"/>
                        <a:buNone/>
                      </a:pPr>
                      <a:r>
                        <a:rPr lang="pt-BR" sz="1400" b="0" i="0" u="none" strike="noStrike" cap="none" dirty="0">
                          <a:solidFill>
                            <a:schemeClr val="accent4"/>
                          </a:solidFill>
                          <a:latin typeface="Arial"/>
                          <a:ea typeface="Arial"/>
                          <a:cs typeface="Arial"/>
                          <a:sym typeface="Arial"/>
                        </a:rPr>
                        <a:t>Minebea AccessSolutions South America.</a:t>
                      </a:r>
                      <a:endParaRPr sz="1400" b="0" i="0" u="none" strike="noStrike" cap="none" dirty="0">
                        <a:solidFill>
                          <a:schemeClr val="accent4"/>
                        </a:solidFill>
                        <a:latin typeface="Arial"/>
                        <a:ea typeface="Arial"/>
                        <a:cs typeface="Arial"/>
                        <a:sym typeface="Arial"/>
                      </a:endParaRPr>
                    </a:p>
                  </a:txBody>
                  <a:tcPr marL="50400"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gridSpan="2">
                  <a:txBody>
                    <a:bodyPr/>
                    <a:lstStyle/>
                    <a:p>
                      <a:pPr marL="0" marR="0" lvl="0" indent="0" algn="l" rtl="0">
                        <a:spcBef>
                          <a:spcPts val="0"/>
                        </a:spcBef>
                        <a:spcAft>
                          <a:spcPts val="0"/>
                        </a:spcAft>
                        <a:buNone/>
                      </a:pPr>
                      <a:r>
                        <a:rPr lang="pt-BR" sz="1100" b="1" i="0" u="none" strike="noStrike" cap="none" dirty="0">
                          <a:solidFill>
                            <a:schemeClr val="accent4"/>
                          </a:solidFill>
                          <a:latin typeface="Arial"/>
                          <a:ea typeface="Arial"/>
                          <a:cs typeface="Arial"/>
                          <a:sym typeface="Arial"/>
                        </a:rPr>
                        <a:t>This investment</a:t>
                      </a:r>
                      <a:endParaRPr sz="1100" dirty="0">
                        <a:solidFill>
                          <a:schemeClr val="accent4"/>
                        </a:solidFill>
                      </a:endParaRPr>
                    </a:p>
                    <a:p>
                      <a:pPr marL="0" marR="0" lvl="0" indent="0" algn="l" rtl="0">
                        <a:spcBef>
                          <a:spcPts val="0"/>
                        </a:spcBef>
                        <a:spcAft>
                          <a:spcPts val="0"/>
                        </a:spcAft>
                        <a:buNone/>
                      </a:pPr>
                      <a:r>
                        <a:rPr lang="pt-BR" sz="1400" b="0" i="0" u="none" strike="noStrike" cap="none" dirty="0">
                          <a:solidFill>
                            <a:schemeClr val="accent4"/>
                          </a:solidFill>
                          <a:latin typeface="Arial"/>
                          <a:ea typeface="Arial"/>
                          <a:cs typeface="Arial"/>
                          <a:sym typeface="Arial"/>
                        </a:rPr>
                        <a:t>As planned</a:t>
                      </a:r>
                      <a:r>
                        <a:rPr lang="pt-BR" sz="1400" b="1" i="0" u="none" strike="noStrike" cap="none" dirty="0">
                          <a:solidFill>
                            <a:schemeClr val="accent4"/>
                          </a:solidFill>
                          <a:latin typeface="Arial"/>
                          <a:ea typeface="Arial"/>
                          <a:cs typeface="Arial"/>
                          <a:sym typeface="Arial"/>
                        </a:rPr>
                        <a:t> </a:t>
                      </a:r>
                      <a:r>
                        <a:rPr lang="pt-BR" sz="1400" b="0" i="0" u="none" strike="noStrike" cap="none" dirty="0">
                          <a:solidFill>
                            <a:schemeClr val="accent4"/>
                          </a:solidFill>
                          <a:latin typeface="Arial"/>
                          <a:ea typeface="Arial"/>
                          <a:cs typeface="Arial"/>
                          <a:sym typeface="Arial"/>
                        </a:rPr>
                        <a:t>or</a:t>
                      </a:r>
                      <a:r>
                        <a:rPr lang="pt-BR" sz="1400" b="1" i="0" u="none" strike="noStrike" cap="none" dirty="0">
                          <a:solidFill>
                            <a:schemeClr val="accent4"/>
                          </a:solidFill>
                          <a:latin typeface="Arial"/>
                          <a:ea typeface="Arial"/>
                          <a:cs typeface="Arial"/>
                          <a:sym typeface="Arial"/>
                        </a:rPr>
                        <a:t> </a:t>
                      </a:r>
                      <a:r>
                        <a:rPr lang="pt-BR" sz="1400" b="0" i="0" u="none" strike="noStrike" cap="none" dirty="0">
                          <a:solidFill>
                            <a:schemeClr val="accent4"/>
                          </a:solidFill>
                          <a:latin typeface="Arial"/>
                          <a:ea typeface="Arial"/>
                          <a:cs typeface="Arial"/>
                          <a:sym typeface="Arial"/>
                        </a:rPr>
                        <a:t>not planned</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extLst>
                  <a:ext uri="{0D108BD9-81ED-4DB2-BD59-A6C34878D82A}">
                    <a16:rowId xmlns:a16="http://schemas.microsoft.com/office/drawing/2014/main" val="10003"/>
                  </a:ext>
                </a:extLst>
              </a:tr>
              <a:tr h="40842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Purpose</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New Product</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Increase</a:t>
                      </a:r>
                      <a:endParaRPr dirty="0">
                        <a:solidFill>
                          <a:schemeClr val="accent4"/>
                        </a:solidFill>
                      </a:endParaRPr>
                    </a:p>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Production</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Rationalization</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pt-BR" sz="1400" b="0" i="0" u="none" strike="noStrike" cap="none" dirty="0">
                          <a:solidFill>
                            <a:schemeClr val="accent4"/>
                          </a:solidFill>
                          <a:latin typeface="Arial"/>
                          <a:ea typeface="Arial"/>
                          <a:cs typeface="Arial"/>
                          <a:sym typeface="Arial"/>
                        </a:rPr>
                        <a:t>Renewal・Other</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0602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Equipment maker</a:t>
                      </a:r>
                      <a:endParaRPr dirty="0">
                        <a:solidFill>
                          <a:schemeClr val="accent4"/>
                        </a:solidFill>
                      </a:endParaRPr>
                    </a:p>
                    <a:p>
                      <a:pPr marL="0" marR="0" lvl="0" indent="0" algn="l" rtl="0">
                        <a:spcBef>
                          <a:spcPts val="0"/>
                        </a:spcBef>
                        <a:spcAft>
                          <a:spcPts val="0"/>
                        </a:spcAft>
                        <a:buNone/>
                      </a:pPr>
                      <a:r>
                        <a:rPr lang="pt-BR" sz="1000" b="1" i="0" u="none" strike="noStrike" cap="none" dirty="0">
                          <a:solidFill>
                            <a:schemeClr val="accent4"/>
                          </a:solidFill>
                          <a:latin typeface="Arial"/>
                          <a:ea typeface="Arial"/>
                          <a:cs typeface="Arial"/>
                          <a:sym typeface="Arial"/>
                        </a:rPr>
                        <a:t>(Purchase supplier)</a:t>
                      </a:r>
                      <a:endParaRPr sz="10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400" dirty="0">
                          <a:solidFill>
                            <a:schemeClr val="accent4"/>
                          </a:solidFill>
                        </a:rPr>
                        <a:t>ATLAS COPCO</a:t>
                      </a:r>
                      <a:endParaRPr kumimoji="1" lang="ja-JP" altLang="en-US" sz="1100" b="0" kern="1200" dirty="0">
                        <a:ln>
                          <a:noFill/>
                        </a:ln>
                        <a:solidFill>
                          <a:schemeClr val="accent4"/>
                        </a:solidFill>
                        <a:latin typeface="Arial" pitchFamily="34" charset="0"/>
                        <a:ea typeface="Meiryo UI" panose="020B0604030504040204" pitchFamily="50" charset="-128"/>
                        <a:cs typeface="Arial" pitchFamily="34" charset="0"/>
                      </a:endParaRPr>
                    </a:p>
                  </a:txBody>
                  <a:tcPr marL="50400"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5"/>
                  </a:ext>
                </a:extLst>
              </a:tr>
              <a:tr h="532400">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Investment amount</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defTabSz="914400" rtl="0" eaLnBrk="1" fontAlgn="auto" latinLnBrk="0" hangingPunct="1">
                        <a:lnSpc>
                          <a:spcPct val="100000"/>
                        </a:lnSpc>
                        <a:spcBef>
                          <a:spcPts val="0"/>
                        </a:spcBef>
                        <a:spcAft>
                          <a:spcPts val="0"/>
                        </a:spcAft>
                        <a:buClr>
                          <a:srgbClr val="FF0000"/>
                        </a:buClr>
                        <a:buSzPts val="1400"/>
                        <a:buFont typeface="Arial"/>
                        <a:buNone/>
                        <a:tabLst/>
                        <a:defRPr/>
                      </a:pPr>
                      <a:r>
                        <a:rPr lang="pt-BR" sz="1400" b="0" i="0" u="none" strike="noStrike" cap="none" dirty="0">
                          <a:solidFill>
                            <a:schemeClr val="accent4"/>
                          </a:solidFill>
                          <a:latin typeface="Arial"/>
                          <a:ea typeface="Arial"/>
                          <a:cs typeface="Arial"/>
                          <a:sym typeface="Arial"/>
                        </a:rPr>
                        <a:t> 8,279</a:t>
                      </a:r>
                      <a:r>
                        <a:rPr kumimoji="1" lang="pt-BR" altLang="ja-JP" sz="1400" b="0" i="0" u="none" strike="noStrike" kern="1200" cap="none" dirty="0">
                          <a:solidFill>
                            <a:schemeClr val="accent4"/>
                          </a:solidFill>
                          <a:effectLst/>
                          <a:latin typeface="Arial"/>
                          <a:ea typeface="Arial"/>
                          <a:cs typeface="Arial"/>
                          <a:sym typeface="Arial"/>
                        </a:rPr>
                        <a:t> </a:t>
                      </a:r>
                      <a:r>
                        <a:rPr kumimoji="1" lang="en-US" altLang="ja-JP" sz="1400" b="0" i="0" u="none" strike="noStrike" kern="1200" cap="none" dirty="0">
                          <a:solidFill>
                            <a:schemeClr val="accent4"/>
                          </a:solidFill>
                          <a:effectLst/>
                          <a:latin typeface="Arial"/>
                          <a:ea typeface="Arial"/>
                          <a:cs typeface="Arial"/>
                          <a:sym typeface="Arial"/>
                        </a:rPr>
                        <a:t>K-JPY </a:t>
                      </a:r>
                      <a:r>
                        <a:rPr lang="pt-BR" sz="1400" b="0" i="0" u="none" strike="noStrike" cap="none" dirty="0">
                          <a:solidFill>
                            <a:schemeClr val="accent4"/>
                          </a:solidFill>
                          <a:latin typeface="Arial"/>
                          <a:ea typeface="Arial"/>
                          <a:cs typeface="Arial"/>
                          <a:sym typeface="Arial"/>
                        </a:rPr>
                        <a:t>- MAE Assets </a:t>
                      </a:r>
                      <a:endParaRPr sz="1400" b="0" i="0" u="none" strike="noStrike" cap="none" dirty="0">
                        <a:solidFill>
                          <a:schemeClr val="accent4"/>
                        </a:solidFill>
                        <a:latin typeface="Arial"/>
                        <a:ea typeface="Arial"/>
                        <a:cs typeface="Arial"/>
                        <a:sym typeface="Arial"/>
                      </a:endParaRPr>
                    </a:p>
                  </a:txBody>
                  <a:tcPr marL="43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6"/>
                  </a:ext>
                </a:extLst>
              </a:tr>
              <a:tr h="448850">
                <a:tc>
                  <a:txBody>
                    <a:bodyPr/>
                    <a:lstStyle/>
                    <a:p>
                      <a:pPr marL="0" marR="0" lvl="0" indent="0" algn="l" rtl="0">
                        <a:spcBef>
                          <a:spcPts val="0"/>
                        </a:spcBef>
                        <a:spcAft>
                          <a:spcPts val="0"/>
                        </a:spcAft>
                        <a:buNone/>
                      </a:pPr>
                      <a:r>
                        <a:rPr lang="pt-BR" sz="1400" b="1" i="0" u="none" strike="noStrike" cap="none">
                          <a:solidFill>
                            <a:schemeClr val="accent4"/>
                          </a:solidFill>
                          <a:latin typeface="Arial"/>
                          <a:ea typeface="Arial"/>
                          <a:cs typeface="Arial"/>
                          <a:sym typeface="Arial"/>
                        </a:rPr>
                        <a:t>Operation start</a:t>
                      </a:r>
                      <a:endParaRPr sz="1400" b="1" i="0" u="none" strike="noStrike" cap="none">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rtl="0">
                        <a:lnSpc>
                          <a:spcPct val="100000"/>
                        </a:lnSpc>
                        <a:spcBef>
                          <a:spcPts val="0"/>
                        </a:spcBef>
                        <a:spcAft>
                          <a:spcPts val="0"/>
                        </a:spcAft>
                        <a:buClr>
                          <a:schemeClr val="accent4"/>
                        </a:buClr>
                        <a:buSzPts val="1400"/>
                        <a:buFont typeface="Arial"/>
                        <a:buNone/>
                      </a:pPr>
                      <a:r>
                        <a:rPr lang="pt-BR" sz="1400" b="0" i="0" u="none" strike="noStrike" cap="none" dirty="0">
                          <a:solidFill>
                            <a:schemeClr val="accent4"/>
                          </a:solidFill>
                          <a:latin typeface="Arial"/>
                          <a:ea typeface="Arial"/>
                          <a:cs typeface="Arial"/>
                          <a:sym typeface="Arial"/>
                        </a:rPr>
                        <a:t>2026/12</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7"/>
                  </a:ext>
                </a:extLst>
              </a:tr>
              <a:tr h="448850">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Payment term</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marL="0" marR="0" lvl="0" indent="0" algn="l" rtl="0">
                        <a:lnSpc>
                          <a:spcPct val="100000"/>
                        </a:lnSpc>
                        <a:spcBef>
                          <a:spcPts val="0"/>
                        </a:spcBef>
                        <a:spcAft>
                          <a:spcPts val="0"/>
                        </a:spcAft>
                        <a:buClr>
                          <a:schemeClr val="dk1"/>
                        </a:buClr>
                        <a:buSzPts val="1100"/>
                        <a:buFont typeface="Arial"/>
                        <a:buNone/>
                      </a:pPr>
                      <a:r>
                        <a:rPr lang="en-US" sz="1400" b="0" i="0" u="none" strike="noStrike" cap="none" dirty="0">
                          <a:solidFill>
                            <a:schemeClr val="accent4"/>
                          </a:solidFill>
                          <a:latin typeface="Arial"/>
                          <a:ea typeface="Arial"/>
                          <a:cs typeface="Arial"/>
                          <a:sym typeface="Arial"/>
                        </a:rPr>
                        <a:t>100% 30 days after equipment arrived at Guarulhos by cash</a:t>
                      </a:r>
                      <a:endParaRP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8"/>
                  </a:ext>
                </a:extLst>
              </a:tr>
              <a:tr h="749525">
                <a:tc>
                  <a:txBody>
                    <a:bodyPr/>
                    <a:lstStyle/>
                    <a:p>
                      <a:pPr marL="0" marR="0" lvl="0" indent="0" algn="l" rtl="0">
                        <a:spcBef>
                          <a:spcPts val="0"/>
                        </a:spcBef>
                        <a:spcAft>
                          <a:spcPts val="0"/>
                        </a:spcAft>
                        <a:buNone/>
                      </a:pPr>
                      <a:r>
                        <a:rPr lang="pt-BR" sz="1400" b="1" i="0" u="none" strike="noStrike" cap="none">
                          <a:solidFill>
                            <a:schemeClr val="accent4"/>
                          </a:solidFill>
                          <a:latin typeface="Arial"/>
                          <a:ea typeface="Arial"/>
                          <a:cs typeface="Arial"/>
                          <a:sym typeface="Arial"/>
                        </a:rPr>
                        <a:t>Payback period</a:t>
                      </a:r>
                      <a:endParaRPr sz="1400" b="1" i="0" u="none" strike="noStrike" cap="none">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chemeClr val="accent4"/>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gridSpan="4">
                  <a:txBody>
                    <a:bodyPr/>
                    <a:lstStyle/>
                    <a:p>
                      <a:pPr marL="0" marR="0" lvl="0" indent="0" algn="l" rtl="0">
                        <a:spcBef>
                          <a:spcPts val="0"/>
                        </a:spcBef>
                        <a:spcAft>
                          <a:spcPts val="0"/>
                        </a:spcAft>
                        <a:buClr>
                          <a:schemeClr val="accent4"/>
                        </a:buClr>
                        <a:buSzPts val="1400"/>
                        <a:buFont typeface="Arial"/>
                        <a:buNone/>
                      </a:pPr>
                      <a:r>
                        <a:rPr lang="en-US" sz="1400" b="0" i="0" u="none" strike="noStrike" cap="none" dirty="0">
                          <a:solidFill>
                            <a:schemeClr val="accent4"/>
                          </a:solidFill>
                          <a:latin typeface="Arial"/>
                          <a:ea typeface="Arial"/>
                          <a:cs typeface="Arial"/>
                          <a:sym typeface="Arial"/>
                        </a:rPr>
                        <a:t>Not applicable </a:t>
                      </a:r>
                    </a:p>
                    <a:p>
                      <a:pPr marL="0" marR="0" lvl="0" indent="0" algn="l" rtl="0">
                        <a:spcBef>
                          <a:spcPts val="0"/>
                        </a:spcBef>
                        <a:spcAft>
                          <a:spcPts val="0"/>
                        </a:spcAft>
                        <a:buClr>
                          <a:schemeClr val="accent4"/>
                        </a:buClr>
                        <a:buSzPts val="1400"/>
                        <a:buFont typeface="Arial"/>
                        <a:buNone/>
                      </a:pPr>
                      <a:r>
                        <a:rPr lang="en-US" altLang="ja-JP" sz="1400" b="0" i="0" u="none" strike="noStrike" cap="none" dirty="0">
                          <a:solidFill>
                            <a:schemeClr val="accent4"/>
                          </a:solidFill>
                          <a:latin typeface="Arial"/>
                          <a:ea typeface="Arial"/>
                          <a:cs typeface="Arial"/>
                          <a:sym typeface="Arial"/>
                        </a:rPr>
                        <a:t>※</a:t>
                      </a:r>
                      <a:r>
                        <a:rPr lang="en-US" sz="1400" b="0" i="0" u="none" strike="noStrike" cap="none" dirty="0">
                          <a:solidFill>
                            <a:schemeClr val="accent4"/>
                          </a:solidFill>
                          <a:latin typeface="Arial"/>
                          <a:ea typeface="Arial"/>
                          <a:cs typeface="Arial"/>
                          <a:sym typeface="Arial"/>
                        </a:rPr>
                        <a:t>For reference: 1.9 years </a:t>
                      </a:r>
                      <a:endParaRPr lang="pt-BR" sz="1400" b="0" i="0" u="none" strike="noStrike" cap="none" dirty="0">
                        <a:solidFill>
                          <a:schemeClr val="accent4"/>
                        </a:solidFill>
                        <a:latin typeface="Arial"/>
                        <a:ea typeface="Arial"/>
                        <a:cs typeface="Arial"/>
                        <a:sym typeface="Arial"/>
                      </a:endParaRPr>
                    </a:p>
                  </a:txBody>
                  <a:tcPr marL="51825" marR="4325" marT="4325" marB="0" anchor="ctr">
                    <a:lnL w="12700" cap="flat" cmpd="sng">
                      <a:solidFill>
                        <a:schemeClr val="accent4"/>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9"/>
                  </a:ext>
                </a:extLst>
              </a:tr>
              <a:tr h="598975">
                <a:tc>
                  <a:txBody>
                    <a:bodyPr/>
                    <a:lstStyle/>
                    <a:p>
                      <a:pPr marL="0" marR="0" lvl="0" indent="0" algn="l" rtl="0">
                        <a:spcBef>
                          <a:spcPts val="0"/>
                        </a:spcBef>
                        <a:spcAft>
                          <a:spcPts val="0"/>
                        </a:spcAft>
                        <a:buNone/>
                      </a:pPr>
                      <a:r>
                        <a:rPr lang="pt-BR" sz="1400" b="1" i="0" u="none" strike="noStrike" cap="none" dirty="0">
                          <a:solidFill>
                            <a:schemeClr val="accent4"/>
                          </a:solidFill>
                          <a:latin typeface="Arial"/>
                          <a:ea typeface="Arial"/>
                          <a:cs typeface="Arial"/>
                          <a:sym typeface="Arial"/>
                        </a:rPr>
                        <a:t>Downside risk</a:t>
                      </a:r>
                      <a:endParaRPr sz="1400" b="1" i="0" u="none" strike="noStrike" cap="none" dirty="0">
                        <a:solidFill>
                          <a:schemeClr val="accent4"/>
                        </a:solidFill>
                        <a:latin typeface="Arial"/>
                        <a:ea typeface="Arial"/>
                        <a:cs typeface="Arial"/>
                        <a:sym typeface="Arial"/>
                      </a:endParaRPr>
                    </a:p>
                  </a:txBody>
                  <a:tcPr marL="51825" marR="4325" marT="4325" marB="0" anchor="ctr">
                    <a:lnL w="12700" cap="flat" cmpd="sng">
                      <a:solidFill>
                        <a:srgbClr val="000000"/>
                      </a:solidFill>
                      <a:prstDash val="solid"/>
                      <a:round/>
                      <a:headEnd type="none" w="sm" len="sm"/>
                      <a:tailEnd type="none" w="sm" len="sm"/>
                    </a:lnL>
                    <a:lnR w="12700" cap="flat" cmpd="sng">
                      <a:solidFill>
                        <a:schemeClr val="accent4"/>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gridSpan="4">
                  <a:txBody>
                    <a:bodyPr/>
                    <a:lstStyle/>
                    <a:p>
                      <a:pPr rtl="0"/>
                      <a:r>
                        <a:rPr lang="en-US" sz="1400" b="0" i="0" u="none" strike="noStrike" cap="none" dirty="0">
                          <a:solidFill>
                            <a:schemeClr val="accent4"/>
                          </a:solidFill>
                          <a:effectLst/>
                          <a:latin typeface="Arial"/>
                          <a:ea typeface="Arial"/>
                          <a:cs typeface="Arial"/>
                          <a:sym typeface="Arial"/>
                        </a:rPr>
                        <a:t>No risk, because this equipment will be used in the Painting Area for all painting parts.</a:t>
                      </a:r>
                    </a:p>
                  </a:txBody>
                  <a:tcPr marL="51825" marR="4325" marT="4325" marB="0" anchor="ctr">
                    <a:lnL w="12700" cap="flat" cmpd="sng">
                      <a:solidFill>
                        <a:schemeClr val="accent4"/>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10"/>
                  </a:ext>
                </a:extLst>
              </a:tr>
            </a:tbl>
          </a:graphicData>
        </a:graphic>
      </p:graphicFrame>
      <p:graphicFrame>
        <p:nvGraphicFramePr>
          <p:cNvPr id="43" name="Google Shape;43;p2"/>
          <p:cNvGraphicFramePr/>
          <p:nvPr>
            <p:extLst>
              <p:ext uri="{D42A27DB-BD31-4B8C-83A1-F6EECF244321}">
                <p14:modId xmlns:p14="http://schemas.microsoft.com/office/powerpoint/2010/main" val="4121200788"/>
              </p:ext>
            </p:extLst>
          </p:nvPr>
        </p:nvGraphicFramePr>
        <p:xfrm>
          <a:off x="7697337" y="758372"/>
          <a:ext cx="4101365" cy="5402197"/>
        </p:xfrm>
        <a:graphic>
          <a:graphicData uri="http://schemas.openxmlformats.org/drawingml/2006/table">
            <a:tbl>
              <a:tblPr firstRow="1" bandRow="1">
                <a:noFill/>
                <a:tableStyleId>{A9FFA240-3357-424F-B38C-3EF4CDB24324}</a:tableStyleId>
              </a:tblPr>
              <a:tblGrid>
                <a:gridCol w="4101365">
                  <a:extLst>
                    <a:ext uri="{9D8B030D-6E8A-4147-A177-3AD203B41FA5}">
                      <a16:colId xmlns:a16="http://schemas.microsoft.com/office/drawing/2014/main" val="20000"/>
                    </a:ext>
                  </a:extLst>
                </a:gridCol>
              </a:tblGrid>
              <a:tr h="732001">
                <a:tc>
                  <a:txBody>
                    <a:bodyPr/>
                    <a:lstStyle/>
                    <a:p>
                      <a:pPr marL="0" marR="0" lvl="0" indent="0" algn="l" rtl="0">
                        <a:spcBef>
                          <a:spcPts val="0"/>
                        </a:spcBef>
                        <a:spcAft>
                          <a:spcPts val="0"/>
                        </a:spcAft>
                        <a:buNone/>
                      </a:pPr>
                      <a:r>
                        <a:rPr lang="pt-BR" sz="1400" b="1" u="none" strike="noStrike" cap="none" dirty="0">
                          <a:solidFill>
                            <a:schemeClr val="accent4"/>
                          </a:solidFill>
                          <a:latin typeface="Arial"/>
                          <a:ea typeface="Arial"/>
                          <a:cs typeface="Arial"/>
                          <a:sym typeface="Arial"/>
                        </a:rPr>
                        <a:t>Investment　background/Purpose</a:t>
                      </a:r>
                      <a:endParaRPr dirty="0"/>
                    </a:p>
                    <a:p>
                      <a:pPr marL="0" marR="0" lvl="0" indent="0" algn="l" rtl="0">
                        <a:spcBef>
                          <a:spcPts val="0"/>
                        </a:spcBef>
                        <a:spcAft>
                          <a:spcPts val="0"/>
                        </a:spcAft>
                        <a:buNone/>
                      </a:pPr>
                      <a:r>
                        <a:rPr lang="en-US" sz="1050" b="0" i="0" u="none" strike="noStrike" cap="none" dirty="0">
                          <a:solidFill>
                            <a:schemeClr val="accent4"/>
                          </a:solidFill>
                          <a:effectLst/>
                          <a:latin typeface="Meiryo UI"/>
                          <a:ea typeface="Meiryo UI"/>
                          <a:cs typeface="Meiryo UI"/>
                          <a:sym typeface="Arial"/>
                        </a:rPr>
                        <a:t> </a:t>
                      </a:r>
                    </a:p>
                    <a:p>
                      <a:r>
                        <a:rPr lang="en-US" sz="1200" b="0" i="0" u="none" strike="noStrike" cap="none" dirty="0">
                          <a:solidFill>
                            <a:schemeClr val="dk1"/>
                          </a:solidFill>
                          <a:effectLst/>
                          <a:latin typeface="Meiryo UI"/>
                          <a:ea typeface="Meiryo UI"/>
                          <a:cs typeface="Meiryo UI"/>
                          <a:sym typeface="Arial"/>
                        </a:rPr>
                        <a:t>Replace an old nitrogen generation system that has been operating since 2017 on the paint line, as it is no longer in working properly order and spare parts are unavailable for maintenance.</a:t>
                      </a:r>
                      <a:endParaRPr lang="en-US" sz="1200" dirty="0">
                        <a:solidFill>
                          <a:srgbClr val="484848"/>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16450">
                <a:tc>
                  <a:txBody>
                    <a:bodyPr/>
                    <a:lstStyle/>
                    <a:p>
                      <a:pPr marL="0" marR="0" lvl="0" indent="0" algn="l" rtl="0">
                        <a:lnSpc>
                          <a:spcPct val="100000"/>
                        </a:lnSpc>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The reasons for investing now</a:t>
                      </a:r>
                      <a:endParaRPr dirty="0"/>
                    </a:p>
                    <a:p>
                      <a:pPr marL="0" marR="0" lvl="0" indent="0" algn="l" rtl="0">
                        <a:lnSpc>
                          <a:spcPct val="100000"/>
                        </a:lnSpc>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(Why can't it be postponed until next month?)</a:t>
                      </a:r>
                      <a:endParaRPr dirty="0"/>
                    </a:p>
                    <a:p>
                      <a:pPr marL="0" marR="0" lvl="0" indent="0" algn="l" defTabSz="914400" rtl="0" eaLnBrk="1" fontAlgn="auto" latinLnBrk="0" hangingPunct="1">
                        <a:lnSpc>
                          <a:spcPct val="100000"/>
                        </a:lnSpc>
                        <a:spcBef>
                          <a:spcPts val="0"/>
                        </a:spcBef>
                        <a:spcAft>
                          <a:spcPts val="0"/>
                        </a:spcAft>
                        <a:buClr>
                          <a:schemeClr val="dk1"/>
                        </a:buClr>
                        <a:buSzPts val="500"/>
                        <a:buFont typeface="Arial"/>
                        <a:buNone/>
                        <a:tabLst/>
                        <a:defRPr/>
                      </a:pPr>
                      <a:endParaRPr lang="en-US" sz="1200" b="0" i="0" u="none" strike="noStrike" cap="none" dirty="0">
                        <a:solidFill>
                          <a:schemeClr val="dk1"/>
                        </a:solidFill>
                        <a:effectLst/>
                        <a:latin typeface="Meiryo UI"/>
                        <a:ea typeface="Meiryo UI"/>
                        <a:cs typeface="Meiryo UI"/>
                        <a:sym typeface="Arial"/>
                      </a:endParaRPr>
                    </a:p>
                    <a:p>
                      <a:pPr marL="0" marR="0" lvl="0" indent="0" algn="l" defTabSz="914400" rtl="0" eaLnBrk="1" fontAlgn="auto" latinLnBrk="0" hangingPunct="1">
                        <a:lnSpc>
                          <a:spcPct val="100000"/>
                        </a:lnSpc>
                        <a:spcBef>
                          <a:spcPts val="0"/>
                        </a:spcBef>
                        <a:spcAft>
                          <a:spcPts val="0"/>
                        </a:spcAft>
                        <a:buClr>
                          <a:schemeClr val="dk1"/>
                        </a:buClr>
                        <a:buSzPts val="500"/>
                        <a:buFont typeface="Arial"/>
                        <a:buNone/>
                        <a:tabLst/>
                        <a:defRPr/>
                      </a:pPr>
                      <a:r>
                        <a:rPr lang="en-US" sz="1200" b="0" i="0" u="none" strike="noStrike" cap="none" dirty="0">
                          <a:solidFill>
                            <a:schemeClr val="dk1"/>
                          </a:solidFill>
                          <a:effectLst/>
                          <a:latin typeface="Meiryo UI"/>
                          <a:ea typeface="Meiryo UI"/>
                          <a:cs typeface="Meiryo UI"/>
                          <a:sym typeface="Arial"/>
                        </a:rPr>
                        <a:t>There is a risk that the other four membranes will fail and render the equipment unusable. Currently two membranes are already inoperative.</a:t>
                      </a:r>
                    </a:p>
                    <a:p>
                      <a:pPr marL="0" marR="0" lvl="0" indent="0" algn="l" rtl="0">
                        <a:lnSpc>
                          <a:spcPct val="100000"/>
                        </a:lnSpc>
                        <a:spcBef>
                          <a:spcPts val="0"/>
                        </a:spcBef>
                        <a:spcAft>
                          <a:spcPts val="0"/>
                        </a:spcAft>
                        <a:buClr>
                          <a:schemeClr val="dk1"/>
                        </a:buClr>
                        <a:buSzPts val="500"/>
                        <a:buFont typeface="Arial"/>
                        <a:buNone/>
                      </a:pPr>
                      <a:endParaRPr sz="500" b="1" dirty="0">
                        <a:solidFill>
                          <a:schemeClr val="accent4"/>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24560">
                <a:tc>
                  <a:txBody>
                    <a:bodyPr/>
                    <a:lstStyle/>
                    <a:p>
                      <a:pPr marL="0" marR="0" lvl="0" indent="0" algn="l" rtl="0">
                        <a:spcBef>
                          <a:spcPts val="0"/>
                        </a:spcBef>
                        <a:spcAft>
                          <a:spcPts val="0"/>
                        </a:spcAft>
                        <a:buNone/>
                      </a:pPr>
                      <a:r>
                        <a:rPr lang="pt-BR" sz="1400" b="1" dirty="0">
                          <a:solidFill>
                            <a:schemeClr val="accent4"/>
                          </a:solidFill>
                          <a:latin typeface="Arial"/>
                          <a:ea typeface="Arial"/>
                          <a:cs typeface="Arial"/>
                          <a:sym typeface="Arial"/>
                        </a:rPr>
                        <a:t>Cost reduction process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dk1"/>
                          </a:solidFill>
                          <a:latin typeface="Meiryo UI"/>
                          <a:ea typeface="Meiryo UI"/>
                          <a:cs typeface="Arial"/>
                          <a:sym typeface="Arial"/>
                        </a:rPr>
                        <a:t>Total cost reduction：188 K-JPY(▲2.2%)</a:t>
                      </a:r>
                      <a:endParaRPr sz="1200" dirty="0"/>
                    </a:p>
                    <a:p>
                      <a:pPr marL="0" marR="0" lvl="0" indent="0" algn="l" rtl="0">
                        <a:spcBef>
                          <a:spcPts val="0"/>
                        </a:spcBef>
                        <a:spcAft>
                          <a:spcPts val="0"/>
                        </a:spcAft>
                        <a:buClr>
                          <a:schemeClr val="dk1"/>
                        </a:buClr>
                        <a:buSzPts val="500"/>
                        <a:buFont typeface="Arial"/>
                        <a:buNone/>
                      </a:pPr>
                      <a:endParaRPr sz="500" b="0" dirty="0">
                        <a:solidFill>
                          <a:srgbClr val="FF0000"/>
                        </a:solidFill>
                        <a:latin typeface="Arial"/>
                        <a:ea typeface="Arial"/>
                        <a:cs typeface="Arial"/>
                        <a:sym typeface="Arial"/>
                      </a:endParaRPr>
                    </a:p>
                    <a:p>
                      <a:pPr marL="0" marR="0" lvl="0" indent="0" algn="l" rtl="0">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Competitive quotations results</a:t>
                      </a:r>
                    </a:p>
                    <a:p>
                      <a:pPr marL="0" marR="0" lvl="0" indent="0" algn="l" rtl="0">
                        <a:spcBef>
                          <a:spcPts val="0"/>
                        </a:spcBef>
                        <a:spcAft>
                          <a:spcPts val="0"/>
                        </a:spcAft>
                        <a:buClr>
                          <a:schemeClr val="accent4"/>
                        </a:buClr>
                        <a:buSzPts val="1400"/>
                        <a:buFont typeface="Arial"/>
                        <a:buNone/>
                      </a:pPr>
                      <a:endParaRPr dirty="0"/>
                    </a:p>
                    <a:p>
                      <a:pPr marL="0" marR="0" lvl="0" indent="0" algn="l" rtl="0">
                        <a:spcBef>
                          <a:spcPts val="0"/>
                        </a:spcBef>
                        <a:spcAft>
                          <a:spcPts val="0"/>
                        </a:spcAft>
                        <a:buClr>
                          <a:schemeClr val="dk1"/>
                        </a:buClr>
                        <a:buSzPts val="1400"/>
                        <a:buFont typeface="Arial"/>
                        <a:buNone/>
                      </a:pPr>
                      <a:r>
                        <a:rPr lang="pt-BR" sz="1400" b="0" dirty="0">
                          <a:solidFill>
                            <a:schemeClr val="dk1"/>
                          </a:solidFill>
                          <a:latin typeface="Arial"/>
                          <a:ea typeface="Arial"/>
                          <a:cs typeface="Arial"/>
                          <a:sym typeface="Arial"/>
                        </a:rPr>
                        <a:t>Non- selected Maker：</a:t>
                      </a:r>
                      <a:endParaRPr sz="1400" b="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400"/>
                        <a:buFont typeface="Arial"/>
                        <a:buNone/>
                      </a:pPr>
                      <a:r>
                        <a:rPr lang="pt-BR" sz="1400" b="0" dirty="0">
                          <a:solidFill>
                            <a:schemeClr val="dk1"/>
                          </a:solidFill>
                          <a:latin typeface="Arial"/>
                          <a:ea typeface="Arial"/>
                          <a:cs typeface="Arial"/>
                          <a:sym typeface="Arial"/>
                        </a:rPr>
                        <a:t>Plastic Solutions</a:t>
                      </a:r>
                      <a:endParaRPr dirty="0"/>
                    </a:p>
                    <a:p>
                      <a:pPr marL="0" marR="0" lvl="0" indent="0" algn="l" rtl="0">
                        <a:spcBef>
                          <a:spcPts val="0"/>
                        </a:spcBef>
                        <a:spcAft>
                          <a:spcPts val="0"/>
                        </a:spcAft>
                        <a:buClr>
                          <a:schemeClr val="dk1"/>
                        </a:buClr>
                        <a:buSzPts val="500"/>
                        <a:buFont typeface="Arial"/>
                        <a:buNone/>
                      </a:pPr>
                      <a:endParaRPr sz="500" b="0" dirty="0">
                        <a:solidFill>
                          <a:schemeClr val="accent4"/>
                        </a:solidFill>
                        <a:latin typeface="Arial"/>
                        <a:ea typeface="Arial"/>
                        <a:cs typeface="Arial"/>
                        <a:sym typeface="Arial"/>
                      </a:endParaRPr>
                    </a:p>
                    <a:p>
                      <a:pPr marL="0" marR="0" lvl="0" indent="0" algn="l" rtl="0">
                        <a:spcBef>
                          <a:spcPts val="0"/>
                        </a:spcBef>
                        <a:spcAft>
                          <a:spcPts val="0"/>
                        </a:spcAft>
                        <a:buClr>
                          <a:schemeClr val="dk1"/>
                        </a:buClr>
                        <a:buSzPts val="500"/>
                        <a:buFont typeface="Arial"/>
                        <a:buNone/>
                      </a:pPr>
                      <a:endParaRPr sz="500" b="0" dirty="0">
                        <a:solidFill>
                          <a:schemeClr val="accent4"/>
                        </a:solidFill>
                        <a:latin typeface="Arial"/>
                        <a:ea typeface="Arial"/>
                        <a:cs typeface="Arial"/>
                        <a:sym typeface="Arial"/>
                      </a:endParaRPr>
                    </a:p>
                    <a:p>
                      <a:pPr marL="0" marR="0" lvl="0" indent="0" algn="l" rtl="0">
                        <a:spcBef>
                          <a:spcPts val="0"/>
                        </a:spcBef>
                        <a:spcAft>
                          <a:spcPts val="0"/>
                        </a:spcAft>
                        <a:buClr>
                          <a:schemeClr val="accent4"/>
                        </a:buClr>
                        <a:buSzPts val="1400"/>
                        <a:buFont typeface="Arial"/>
                        <a:buNone/>
                      </a:pPr>
                      <a:r>
                        <a:rPr lang="pt-BR" sz="1400" b="1" dirty="0">
                          <a:solidFill>
                            <a:schemeClr val="accent4"/>
                          </a:solidFill>
                          <a:latin typeface="Arial"/>
                          <a:ea typeface="Arial"/>
                          <a:cs typeface="Arial"/>
                          <a:sym typeface="Arial"/>
                        </a:rPr>
                        <a:t>Reasons for selection</a:t>
                      </a:r>
                      <a:endParaRPr dirty="0"/>
                    </a:p>
                    <a:p>
                      <a:pPr marL="0" marR="0" lvl="0" indent="0" algn="l" rtl="0">
                        <a:spcBef>
                          <a:spcPts val="0"/>
                        </a:spcBef>
                        <a:spcAft>
                          <a:spcPts val="0"/>
                        </a:spcAft>
                        <a:buNone/>
                      </a:pPr>
                      <a:r>
                        <a:rPr lang="pt-BR" sz="1200" b="0" i="0" u="none" strike="noStrike" cap="none" dirty="0">
                          <a:solidFill>
                            <a:schemeClr val="dk1"/>
                          </a:solidFill>
                          <a:effectLst/>
                          <a:latin typeface="Meiryo UI"/>
                          <a:ea typeface="Meiryo UI"/>
                          <a:cs typeface="Arial"/>
                          <a:sym typeface="Arial"/>
                        </a:rPr>
                        <a:t>Selected the lowest-cost equipment maker after considering quality, costs, delivery and maintenance support.</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accent4"/>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48227">
                <a:tc>
                  <a:txBody>
                    <a:bodyPr/>
                    <a:lstStyle/>
                    <a:p>
                      <a:pPr marL="0" marR="0" lvl="0" indent="0" algn="l" rtl="0">
                        <a:spcBef>
                          <a:spcPts val="0"/>
                        </a:spcBef>
                        <a:spcAft>
                          <a:spcPts val="0"/>
                        </a:spcAft>
                        <a:buNone/>
                      </a:pPr>
                      <a:r>
                        <a:rPr lang="pt-BR" sz="1400" b="1" dirty="0">
                          <a:solidFill>
                            <a:schemeClr val="accent4"/>
                          </a:solidFill>
                          <a:latin typeface="Arial"/>
                          <a:ea typeface="Arial"/>
                          <a:cs typeface="Arial"/>
                          <a:sym typeface="Arial"/>
                        </a:rPr>
                        <a:t>Cross- check results：</a:t>
                      </a:r>
                    </a:p>
                    <a:p>
                      <a:pPr marL="0" marR="0" lvl="0" indent="0" algn="l" rtl="0">
                        <a:lnSpc>
                          <a:spcPct val="100000"/>
                        </a:lnSpc>
                        <a:spcBef>
                          <a:spcPts val="0"/>
                        </a:spcBef>
                        <a:spcAft>
                          <a:spcPts val="0"/>
                        </a:spcAft>
                        <a:buClr>
                          <a:schemeClr val="accent4"/>
                        </a:buClr>
                        <a:buSzPts val="1200"/>
                        <a:buFont typeface="Arial"/>
                        <a:buNone/>
                      </a:pPr>
                      <a:r>
                        <a:rPr lang="pt-BR" sz="1200" b="0" i="0" u="none" strike="noStrike" cap="none" dirty="0">
                          <a:solidFill>
                            <a:schemeClr val="dk1"/>
                          </a:solidFill>
                          <a:effectLst/>
                          <a:latin typeface="Meiryo UI"/>
                          <a:ea typeface="Meiryo UI"/>
                          <a:cs typeface="Arial"/>
                          <a:sym typeface="Arial"/>
                        </a:rPr>
                        <a:t>Needs to be Completed by Facilities Division</a:t>
                      </a:r>
                      <a:endParaRPr sz="1200" b="0" i="0" u="none" strike="noStrike" cap="none" dirty="0">
                        <a:solidFill>
                          <a:schemeClr val="dk1"/>
                        </a:solidFill>
                        <a:effectLst/>
                        <a:latin typeface="Meiryo UI"/>
                        <a:ea typeface="Meiryo UI"/>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accent4"/>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44" name="Google Shape;44;p2"/>
          <p:cNvSpPr/>
          <p:nvPr/>
        </p:nvSpPr>
        <p:spPr>
          <a:xfrm>
            <a:off x="6096000" y="2424790"/>
            <a:ext cx="898497" cy="291115"/>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b="1" i="0" u="none" strike="noStrike" cap="none">
              <a:solidFill>
                <a:schemeClr val="dk1"/>
              </a:solidFill>
              <a:latin typeface="Arial"/>
              <a:ea typeface="Arial"/>
              <a:cs typeface="Arial"/>
              <a:sym typeface="Arial"/>
            </a:endParaRPr>
          </a:p>
        </p:txBody>
      </p:sp>
      <p:sp>
        <p:nvSpPr>
          <p:cNvPr id="45" name="Google Shape;45;p2"/>
          <p:cNvSpPr/>
          <p:nvPr/>
        </p:nvSpPr>
        <p:spPr>
          <a:xfrm>
            <a:off x="4594377" y="2098507"/>
            <a:ext cx="997531" cy="291114"/>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b="1" i="0" u="none" strike="noStrike" cap="none">
              <a:solidFill>
                <a:schemeClr val="dk1"/>
              </a:solidFill>
              <a:latin typeface="Arial"/>
              <a:ea typeface="Arial"/>
              <a:cs typeface="Arial"/>
              <a:sym typeface="Arial"/>
            </a:endParaRPr>
          </a:p>
        </p:txBody>
      </p:sp>
      <p:sp>
        <p:nvSpPr>
          <p:cNvPr id="5" name="Google Shape;34;p4">
            <a:extLst>
              <a:ext uri="{FF2B5EF4-FFF2-40B4-BE49-F238E27FC236}">
                <a16:creationId xmlns:a16="http://schemas.microsoft.com/office/drawing/2014/main" id="{FAA3C1FB-3972-77CF-F4DC-20B0D4494D6F}"/>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2</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3"/>
          <p:cNvSpPr txBox="1">
            <a:spLocks noGrp="1"/>
          </p:cNvSpPr>
          <p:nvPr>
            <p:ph type="title"/>
          </p:nvPr>
        </p:nvSpPr>
        <p:spPr>
          <a:xfrm>
            <a:off x="1685926" y="115890"/>
            <a:ext cx="8574668" cy="5048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pt-BR">
                <a:solidFill>
                  <a:schemeClr val="accent4"/>
                </a:solidFill>
              </a:rPr>
              <a:t>　</a:t>
            </a:r>
            <a:r>
              <a:rPr lang="pt-BR"/>
              <a:t>　</a:t>
            </a:r>
            <a:endParaRPr/>
          </a:p>
        </p:txBody>
      </p:sp>
      <p:sp>
        <p:nvSpPr>
          <p:cNvPr id="54" name="Google Shape;54;p3" descr="data:image/png;base64,iVBORw0KGgoAAAANSUhEUgAAALoAAAB4CAYAAABFLuhOAAAAAXNSR0IArs4c6QAAIABJREFUeF5svfeXbdlRJhjX5k1vn3flnSSQQwhBq5sWwyzoppuG1Qame1avNX/PrJlfGAaGhRwyoBaDaZqeRq6kQrZKJVeqUqmsyrx6Jl/6vHn9rM/EPief9ETxXmbevPecfWJHfPHFF7Eb23fuzMbjcfBPoxGz6SwajQb/HTP/Wz/FC8q/9HJ8PcPL/G+8ooHv8Pv5+tmp98nvVz/Xa+t/6p+ja8Bn/NQffTC/jc/wLZRPrn5n5svRPZXb4K+cfuOf9THVS3Sv+iC8p+4B94v7Pv2neie/7NQr8D3+dn0Z7r6Wn3nTXla+fe0zyz9xjbie5l3Pqvoyr0cL59spv3/XM8Zn+CJ1OdU66/fx87yW6p5lB/U/WiO+vNyz7Idrh0eD37jrAejx2s74L9jCXXZpWy1Xl59hg2i3W9H45lNPzQ4Oj6LZTGNq0rD01rkIuAotgIxbf7fydxpY1IYNEhcxi4YfEi4Kt8JNRCPzDefFerPwhrnRqs+AIXFN8jP9dV7XdDqNZrNZbhxf86W43KmvfzYt15ILVt8Y+p3q4eJr3R8Mxt+fynho1LNpzPgzPBRebNlk5ZH43sqWLptQr9U6NGKC1/FCc8Pqs3Phc/Pm38VssNz2Jbr2pr7E2zSnMZ1Mo9FseG2w5LpuPeM0knRSp58rPgNrij+tRjOmlRXYqc343rmxG9E6ZXj5/rShRiO0vs2IBt5J15QXKwc2i1ZL76Hl1o3x6nytfMb5Nf5dntnpzYzX4FNatEW/X6MZS4tL0fjmk9+ZHR4fVTfROG3oumBfXN3wsSC5k5otviZvint5Nqn8+l3GUG6gfH/GC9QiaIHwh+/nXWn71fdxtdMpFyINvRmNwCfmNWmD+Q+MKf9Z24DlM2qfV16Id6PTnkU4ynnb4cLkfbwPxpNJ2eiKgjK6GdaueOXaRuFmkfHl5sgNkxsvjQCfnetVjMgeMDc6195RlfEF728Hoa91PTD03OT1zZ03wudsW2vbuMK/U38mrRaeNfZqZRf19zv93npDbY60ES+cHSrv1QuRG1LPZhKtZqvcC5+3X6vP0H/p9GUtdrI0dNnuMgz9W9/+zuzg8FAXbaOqFjS9S3oHPawmPhwewobaaLYq+ygGBUOUtywPzYufBsoHJcQUEz+o+iaY1kI3nZi/hids1bxwfh9mk7cvj5vGnh5Z71H3lLq2aUzTmPkZ+DqXzZ6ldof4Gbx6saA0bEKGjIV5JViH9FT6G5+l0JNQSF/juuiN/VkyZKytvJwcP3xoI6b2fnoWMxp6k89Qm6fy3Pm7eG66pnror/87PTk+rtloGU6cjuK8lpkjOB9KGq1DijehbCNNChEd99Xiup724Hr/ynvnsmInCYKViO5og+ePN8/7wVJyTeFw+WzSEBq0k6WFxWh86+mnZwcHx6fCRN1qccNV6NSH1uFCgby+X13wXUCr9oZ1o6f38zXRRxpy4OG1idlsmDakNHZ8v9WUd0gPWHy24Qy8QYL1u407Lwevwb3gb0QI/HsymURuMDwsGnUNDev6J/x+GlRGBryOESXdov11fn6uY/F4NlBFAEGKfF/d2yTa7bYMJkE97r3VwlYM2jWNDkFnKu9n54Jci14c19uQC6BBlA1R3wy64mLovu6Eo/n9vO6CtOg94XENFXBNgQ2iFavnLY2mNkiJDLhfR4t8HojKxQlybca81/yTTjNtiOuJPWT4iujTBBI0RMMNw04WFxai8c2nvzs7OgR0yd2nkEQPZ9xdGWezLMbdXprYyB6l2hh+5I7yijbVTs/QLeOA97VH5EMHrqv8I6O8nrh2uqGSjI0+WIsIj20jzJ9Vhie4o//w0pr3M9CZTCe8bxiEvEYzJtgE9jqCRHofubz0yoYztT1eN+y7DVnWCevCpkGeMQ3aAowko8wEn9uioWolsCYwSP2uMDnMI6NdRpPTRoz3pJGk97UjvhtuNOk9hYexxvgfPh8bH+vA9+CmEoTQehvCMOLwgkrqmE5Sn2Pjr0V4XY7Wls96hnXIDF35Tz5T3Gcd1sGo8xGUfZloEs6YUE33sry0GI1vfvs7s8PDI3mJU4lZ3kTdQwGL62t5dXsK7ExmumlEP9ujI4ww7Nisy46nJ9fD4CavZdVcDN3z6YSwBnWQNML4tJ51aJKbNz0lfgZDDhpvGl8avx7iWIksrqcFkJCbtf6+1Qap1qz6uTbY6a/ze5VxTfU5zGX00IQE9LQmo7GMC8kePaVjX0v5idYIP/faIyHN5L24rRqJYWOlDft3xHRU3hwwAfAnDR3OQ1A1DU6QJX8L3rJAHzqORtBzp9OEdy8OtPLW+fwTvmEDMpdgfqif4utkaXjNNvRTaMKwtw65AOloR15LBLOlpaVoPPn092b7BwenDBg4McMWP6TsQuPAzN75M+10PrBkG2zMP4XNnSiV96tyxPK78jrIxLUwTDBPeUkZfUl8Ge6VgMmY5NmLx/VCTyaiUBVVp6EEsvJ8lWEKQ1dessKowsz5eRWWv/t9kp3J79fsrhiJMDc+S/SQItSE94brB+UrL4qvAUnsExuIANUzKfisISPlNdrTGp2LPbmLoUqIgDCfjqWKoknpKseh98bzmOJ6cC1aOzjHuiMgbCGtkA8MjqtyjgnNYLQKhloDIQFBDu5+M3D8DDNAfGw1UqMYvAK/fh9WDtvkV8p18DsrS8vReOo7MPTD6lnUWI808gzhSWMBWzGs2csUXDUdF8bh9MP1RSIcFvquES14YhhOuWHdqGg9LzaTn9rlGdfXb5y/n0abnqAksjDMcYWzmfDJawqjy9vnNWT4SKiUm1LYudqZ3Ay1z82LlEHqYeFDmCTVNiANnH5Em3M8Gken3RFsS/ZnNqOh8yEzyvl94G1nYCJMt/l9RBvqadNbFzvz9zLZ84OfcI1n0Wm19Zn8P72WPHct0c9/F3xup6fPcVQp0ESsmbyJ4ZLoBj1Av/ep5Dzhj6+NNKSTAPI0jiaZN1V5glk6vy8TaDuGsZmvvKGVZXv0o+OjinXws0xMxizZ+EyYqFl4ZFBQyVbkzWSiluEkcWqzBf5TlGNZSHofPzQl5k6cgBb1OiSHuZPpEUydNb2gac8JibgFTzEo+HoSU1N9vB7FZtFw9KazoMe30eOnuIK89urvjFpOF4oRm0VJuNKsIBxjAw3Sn1WsSdd1fHQcvYV5YWM/IDxU3beuM1mudDwysqxL4JE4X9BdxQwJKnnzdvEQeE+8n7z+pMAyrn8tAmdyl79YRXPtntM5AYwLXlyJLl/BhNOv5TedlOZmIJNSQRr9Tm4KpSFidnRPcISFUiybwfmJNybvyUwcbcQxJe1sWdDluywYKawgyVAYydCghT5NzGsRdDPj8SQ6nY5Da0WN1ReKMAPOyZ6G7AotbBaNqd5/DO+KsGgqjeFyKujCBWailgmY6QPbF4wiryeTpTQcQZr0qsjkTRsiDPMnMEDAgQkNnX+mWdiRscFwZAyAGtp45Q/hh4sTpr3kwGr5itxkBR+w4b3hionyloRNsR4jQpc0HHny3PAI0TTArMrCrm3I+RzlUVvlecrQca/NAgemDcBC4GpbjHaSEl7j5VowLUljRvBqEfB7enbKpatIQnuyYwFjyciTZIPfIDeaNpIvIdfYBENu8kIO1PKDhMz8XKINZvku+oUKRsDoSEaF+05fJC4qPfupm+LDAGbDL1W7c4KHUU8k09066w9wxBmenXEXIoUX7vDmD0tMBw8taz/NJmAj6DUy9GrBMpQLHuBaMzIUflx1IIALU3q4Fz8Ih2V5fC2a3r+CLuXa7H3lDJKNuWu1CsvjpBoQj+9ZedNpYO0U9glpxmNSi3njBR6y0mtrKBXYrCAITqJQog0N3G6JAmlFGTJeVTkiGZecqGGM+Xa6AjsXvJ6QyTZyd/5lXFJVTGvcuJyOIqfuu6JR8T6ieG0bfH97+LpDqS0pMf5dmF0QLKnU0/BrGRhdHv1YhYoWCSbzog4ZWXGr7VIaMx8qIpUNvRRnTlchsxQLY0XSIaenMIrwykfEL6rwl3qGesJSZ2Jwk8m5pgHLyOyQafjV4tYNtM6GkCZzBfa0kVZMU74+Gaa6CZNjN1zRPaiamn8KFiVnrIeZCWgmStg7Les8Ji4kTJBTzJTsMalyLaPKhU7LFvh5dBKpG0m8Dk5bVVuuWVJy5t5pYDPlKbrWJrltIVTpnqp0k1kp34dJaM2Q9TxV2CqFx5ohnsL5M/yu8rCEZndvGhIKyfQ4wjFHqhl+OuD6+gPCqRqK8CgsjHtZWaahf4+VUa5V4WVVOs3lSkapumCsP2g6cLxiDGaTiWsXVcbORE9cnbC9HQ88cXpg4iuE0DrOy8RoCj+Hizdv64iQrEPdaCscnV7Y1wXPzSRZd5MFGf6btiGqTt4b0EbXVopFd1Vs5Xm0VnVsq/cVNMrfzfDJLWBKEO8uiKhIJLw90frYowuKqTqJMKyIJOdwt4GlZ5OtJ3S00ZF3185L+KnrF6TRfVRSBvrbrJCbbSmGZO2MOP4Z4SqdDJkSrXVGH8EqXllJsnndXO+kEAUcE9z/FByiLVaJLa/DkCodoK61Ev3B0Hmf+Cwuoe5tCcnot75dYXSVW/1zhgcLc1xupSxnWhHxdQouPWKd59QF1cI93hqMR41G0QK4Qsq8TXyOkhh5/Pwj3UgqLGU8qe3Ijaq/9Vtp1DAqGpp9W2bwibvF9CT0qSBIYr86hqx7kPr301vLeJIyrK6BuBoehxcIDj0LHjT9ws5gPUajkfOeKqmrb+qyHrSxmpiOZUEC4VM4ub4ZtFES6jADK+IvEAaZtJLbziKZEAwrrynyIuQoupOkmE17uqhEg6/9J29awQ49ED9hJ9cl/zF8qcsWtCntsclcIAJV+RffzowUrpebOZqxTEOHRz86LlUz/dC7L1khe20arvFyWYQirKq0LTXbrIyU4USQImk60p7wuGZcFHGy0ihvK/GTDdzelgZfgwx1L/2zvHx6VF6zsSBf591xKtHLhLkYQ7Iz8qj5WYnRq0ihRBU3JCcq9kd/cL2AEVNvTntSF1hwO3UYBE8JfF4P+XX2qRAFNVFcqVQmlVd3EHeF/FMVxvTDZL/s5Wj8ZksQ5ew125AY1PLwhJwJOxMiFWNFJHN0QgTQ+gvmlGdR2MeSlicOO3X/9YTTpm24pdwqP7NOnIhRaiR0+QExeuoO6hfJHcKdnbvQBQ7jNNxE5cEryJJrnJ4twx1lvTVDyzQv/5bdFY2gvHLN8LNQQcOZzEg9kY35GbqTNES8R3r0+vfqYFqbIzeqKFMENCW5SfuJliuQy5j79KYGdJHGRpFRD0+wxUW1hIg2noQ8E2wKF5Dw2c1GWwmlPVh9rYuHJlMzccEF95C5TsV6JDPDdagxFfmcEzKIBJK3TLaHUKEu5bd2JLG4UI/gUUWSJDnhe4d2aDqNbrd7mr1L2pGEjxWfdjxZuU1pQNpFxQTWKqUsLHqd8JGpc9ENE15TAvDUt38w2zs4iFarLc+a+CollPBETCxOe7T6AxabBpyZksnkAeWdp1nMgLcrXk7vQAx/Sv5TvTOLOK7c8YGY9ya7g+qhk8n6eyY3rjBnKS8586oRoIoAWUqvqqslUtWSn9NVWOHn3DQFpycxWoxV3ivpTO2ZhEdiREpOwEKa/KHuJYVkyF8qXF59LnKOLAnKD+uPoiU3CcUwoWSyTtXdxTFXG8Avs5SjAQ6+KBNNOZaN4vwnYawvvg5TjDK47ncnjkWoZdo2C5AS8Oi9C01J6rTOolRwTp9XZ9tMLMIJFc69FSvg0Z96+vusjJL45+LVKMZTeCqx1Ezht6gYqySspCBFvpu5kC6APzcPLWfnZDUZnbIJ5OOVgLhjibS73AsT1NlYRoD3qdGWVVKqBSgRqiSaCRuUDWRFsp474PcGg0Hs7uzE1pkzxRPV8XldF5SUJSOX1Y7KWYyFYfB8hsllW5TmjasnCdyeJX9VixOe1RNJuwcXmPysYOnMAfArWQ+QiKsOfyyj4fqlUZbo4K3C17PuIahBH1ZXZRY2pKJ6teZNyjayWp651anP0YeV5gtFIOwWQaYUOZvb0fP2NYiCVKRVkmuHA7PNXMGIgNbjHgk8g5XllWh866nvzo6Oj+Uh+IHAT3S1ZTHqSRnZgjqHxjevIMwp4/JuwwKLtkzMas4aCZmwhRRxbjJIXpWL7ASVeZYhRmqxcY11VSEjRE2YVr/u/H4a5f7+XiwuLRRqU/oWkeuoov7k1Z9Er9eLM2fPnGoKoxeu43yvBf5qthqkadMYaQDWqIM1UeFMUY725I2gFrKqHQ8PjlClJc/Gy+LmRiQT5ajKrv04E7D07BULIRLcVQAbE32+nUwaYQVfsqyuiiYTQXPr/CRK1DPxzGeZjlGGrjdX5Ucsi9kTVaEYfQoEuTsx9WvZhJO6eXP53HSNWmXdDGHSF9WGFgRTN5N0OTT0J7/9/dnhUd8MS3r0TCsyJMoD1Q3nlEG7UJJhP38r6atUotFwnVAK6yrhAQ7Ho2tVayej9lNRUicDGiceI1qqczL61PS6dRGTPstX5SR2MhlJsckCTCNGrMwqJxmNVblstaWtrsvr60Ze31iKPoo60rc4ohAyaelJEbpcX7FR2fihhgSKuYpeUY0DXDOG4zEryanT1T1VHHadzVKCqKokl5FuUm2FNIJWJQ9Ir17lZ/o9+r6smiYx0WwXsiKpPX1uSxsjHQ2LA05ojf3rNHVGUtlMUtl+hmbH5KkrufgsIMyr8g++2qwLdTE1iCZnoha+lZVi6CfF/Ytflaflwy7lZRVgpihAJJ7M0FYrT1dGXmsj4+Kmp6kSvLKNYBxMfIxFLOyaNGD8FQTIRJURz3ClDlUyzNYZmdxY3ErmvpkQO4rk5hiNUIlUPoINxDUgnIChy2PWN1Jee/6diSoNzFQZcwxgFq5hLfUuxTW9tzx7NqFAdDZBnZQPTmuitjwnPGIQUwTG94fx2fU72ZXXtHNN+OGgL6O3vpw419y+NU2sBUQKvuRMhLOB+LUWjOx+P1F+0rInND3dgmcZsrXz8vj1TidHjlqRKTdfZcgVVKon0lhbMk78XVE4vG0umz5jZWUZevTvz46O+26dqpRv6Z35plYMwrUl1QRjqAu39HpLX50QqRgjo6lz13d7fsITP5XEkaoyVtReiQal+16VxlNe3JtTC5GVWDMheiVDKxspIDIz7qeaz5VhMh8Tedfy3plUKusuQjaUs1Q5qhKm9OZ8JaBYbpCMZoYoJT+gclKoURIAe/is/uqNzGlbr448oCVvCUiHv6HPrDxyLc/i++H6pIbE8k1C3UjpR5nwn5IFVNiePY4t6GPc6ZT4nusH2ULy8NpVqSBU8UsIIf/UqT/CpqySuxpbh1BK1nUf6qeuktB8XdUJJmEb6rgqPKrQln/Io3/z28/Mjo+PS/KXF1PfNbwo3qArh6bNctcRJojZsgtBAcRoI8XktAeLfgqE0S6l96G16NeZLNFBVZpxbjJwsubySxdUiSpuxcPvQCjGDhm8byWgKrAjYQWTYzEc6lGX0dS5chm7qqtlgUmhVPShUipdvAqgYoUk/bXRuSil9MfVSLfScVOyqmqQk564dm9caxYdhO35TCjWSS8mj56b3A+iqn7aW6rVzCpEJnfZYW8MncQAHZyhGEg6S3rriV81VcDxiA0PNgQbea5ZboKMwGnovM4kHHyNcoRK0Fj9NDZnhpCvrdUG6MPNaOEK2pwqULFsgi5P/9ASgGpnVsDeHKVFPxkL+RAt5M8HTu9tiWTi0/puziQwUZuMIj2Vu4OcKCkZd3KYmTQ6f4xJmR+YMszNlguYCZ4euiADE0jLckVv25JYnUyjVYLIfMClcdUB5HtxrbkBJmNxw4xv/D6ihBJybEBKfh2NCGkm0xjbaPh6CMGskc9pBjLgWSC6ZL8rin+Z23HERiOi02hGt92K7sJCzC8uBDryM+oy+VMK+FPFFuVUhhfpj2pYmPs2q46ZMFIlmaIvJ6dWTdZrK6XygeaPjEo1tsQ4uGhlin1ZYZgwpvL82ixspKBOKKGIN6WfLf1qobT5hQtd+nd6/NU0dCSj2WxsQYVbm9TClQ+DRlrzMpk9y/DSo5syoq0qeaBxOXGsk/71imS1carEMQ0SRiHDrsKgHGp6UYupYCjjsQwGOJciqikND5+P76HRAbqc4XAUo8mYctjZeBzj8SjGU6kGIT2eTKYxHA9jMhzHdDyJ8XTsTqaI48OjGA+HMRkN+X7A94NQNZM0LRmWGRNnbjR8LqIRPKihA64N9wxDHU/Uuc5rpazBs1Amkk3TdJFTmLVYaHVjfmUpLl6+GFevXYpz586SIapLoXOlCpwx1UNeG7As2aLs4rEeSaDPUwDMeIibbxUJA5uwLRVOR0MPXSq1euqNVrsiDWEjSPhyk7k8rw1o/F3yQSectD0lnDS7tD17fJcxiSYMnARZpZKTnKEZsbqymh79uFA+qV9IEosyVwYkC6yS0DcV8dN0nkM1mh0KZlYhhA+r1quZTEoyJammY95ofUXB4QAh02mcHA9i+9bNuPHm9bizcyf6J4PoDwYRMEYY63gao9EwZuNZDKYyMEoJJvKko/FIsGqmjUDaDlVWtu1l0ufoNGV5lBMJRAfOAsW1/Z0dEwgqCHHTTWfRbnfj3PkLKt/jfYmMtHaENmwqTiLQUlqwKTBoYAppQqsxIhYxMaewRJaVSktwW412tDut2Npaj2vXLsU9167F5uZatDodJ2NVApdGQnux102XpHY1yXtxn1mRJNljibIghAwK3+fcl4aKU+l06hg8Nyc3Qin4QJviPoAsTjLR1x8l2Cm9rk0UcPJMFMyeEjWOiFSoTV5wAiqhmRqE8OZrazVDLzuS6+1BQLn9eCUO47zA3AaneWtHEhoOpZhp6Py73sup34NsdzJzlc+42eiEhjSdjeiF+8fHsb29Ha++9JN48cVX4satW/yeEr9GjBAtWpLcwmO1SAk2YqyyonyUpZ9owDU6kSfhYtRFScKbWA+U5aHvaKJRwhW67Tvbcevmm0rsCqWlR9Wd68Wli5ejEW3nK4AiObUsp4rBa4tIh30hGsCIVAhpxaTZiBaTWK1Lwfi0UG08cdxtF6FAR+K9I5aXl+PKpctx9vxanNvcjI1zZ6Kbmpki5RDQAH9ysL8f/ZO+IkYDCSdUjdR3cLPiHtudbrTaHVKtxOksGOUGMlzItDaNuBitMLsihKrTaWdZJOJWynEVvBCtJWELYZMiOZNSsyi0z5qMN22rliRWhSb0jK5Rpvvs7BCiLhsE27A8giA9rTCgNBVM2jw/pIIPVSWzxCYzLir+CAer7c6VrFJosUTVr1FbG1rM+nH9zdfjlZdfiVdffjluvbUdJ6MRDXuMLnnc9ARabngiNBh49JyNRmrBNmUC48mQGwtJCjwK/kdNCh8CII12vvIMibGAw7EJGTunM/LsYGOQuB8fH/LBtdptwiIwNKnRhqYjpk2xOvgf9mCtmkjpMlSA0H+0xRzhfufn59k7ChPstKFzQUJrBak5B/weoQ8iADh3PCfmYcgPcM1g9+DlxrG1vBL/7Nd/Na7ec4lrX+hAeOxoxN6tnfibv/6vsbevxng+UxoV1qkT3XYnFnrdWJjvxfLaaqyub8TZM2djdWM11tfWojXXoSRDYgbRiz8l+Mo5nqhSFgbFzSY1KCJEQrdRw6aKbgmNMjIkbagK/mkmpmwiwy/9LujFVUgAnvXsxWpcAotYTsCEuxTkckJUMgpCUknxVdhcpEz2/WVC6MSGmAzGPKW3A85Fuf1g/yB2bt+O7Zs34rU334rt7b04ONyLk5ORChxOLppt8bdoUjD6J7uCJe+QlYBhooteOBu6mOP+IcdHwNCRNE4nwtuANeOJPCqwvTa2OG392yG1VuTSytN0hANJVaZMIX9BEKj+2MQqnaKmKompp1e1O8D4kii3Ox1CIWwcGD42Fb6GJ2+0sVHMdHAeTFJc8n6T6YjFtw/80nvi5975WGGSsN64P0Cw5773THz1q0/FyCoFsaRVQ0dyOTJiFZjm5jqxtLQYZ89txT2XrsSVe67F6uZ6dLtzWpPEIAkhBKw9mu/0gKT6JIAqb7OxG1uX2Ze28sTpOTEhOzwT0auuVkEhVXansbq6Bo/+zOzgqF8ZUm06jhiKSttTenBNNyoCq8kXFyX8PaYxMRkcATNPYjgYMvkbwKiPj2JwMoijw4PY2z+Mw53duLO3FwcHh9E/QpI3RtCm1+OIBT4AeGwnLQjrxrX44RgJ42QUg8GQxYrRaMDPRLJINgRYfIx3VMKMa1MRwgkLY0Pq7m3FbL8T1SSaKp9iluk92IiVzqReK2MvrJBjhuCYqMDC7DjRqwpeWMt6pVeyWVwHjA0GD2gEo5qbm49Wey6A0ZsdRBPTpMSKE2Ln6XgcW+srcWZzlXnEcKx7QQRCdNrd3onDo0GpPp8eHCrEDOfRZCNzpWEnpRiTWGzPxdbWmbj/gXvj/ocfiI0zZ6LXm5NLInZOg5Oxs6hTG3Kqn1eK1yqZzbXib4ky9QwhIgtvnlTBifaW4znNBFVAhh4dhq65Lqp8KRmVErFAF/cejofH0T88iiESvuEwBifHcTIYRB/G2z+Ok+OTODg8iMPj4zg8Oozx8SBOBsPoH/VjMBrxWfcnMEzgSk2AEvRoMbxz2lcLcKMaLAEDR5UOD5C54WQao/EwRicncbh/yGvAq8FwKHFFNVELSL0IvB8rnYo+5NbdPiamRzSW4K/57TTMUuypunHYr+nScG6A9NNgbRA1ZCZ1PXotIjOc5pTZWnUw9172gVqEljrz/B08UOQN8O6ddjdWVtait9iziEm8Mzh/XONwOIj9vd04OembgRJU47iPiNjY2Iz5hXkzO7UkuHaNbbItmlbG6N5oxigm1CVhJZB2b22uxdseeSwefMejcfbsGeL5atJbNqF2QVK9AAAgAElEQVTn7EetBecvWoKdbE1qnE7Jcc20VKyc3g9RVHAYzBXWM1vzEtJkPuABRk/B0I80BYA4i7ZSNfnC/A527sSN62/FM08/HS++8kqMJhHj0SRGCP305qDgxpp7BxhBDK1ynxr0NWKa9RmX4jMk4nUtZMil+gUDAd5TYoTsnoxHTLmh9vf2YzA4wvgBwhSGY3pHhWTqKzKBcWVSFFaKygR4sncJobzVwBQDhf+CC22bgmn6jQyRGaPrVKveX/daIiEDRDUZoVxHjSfN74l31xZRFmb8WaBS2T7RmOge9boWmZfFxcVYWFiOue58dDqalzkYDuLNN1+L4cmgapkrzQ/NWF9fj9W1tWhDou1iXCHqTOGReHAtggkwrpASdE864y1OoteZizNnz8Yjb38oHn704Vhf3zB7wyHOZbZlHUfn3apKfZeIMGFQbQKwPIibQowLlfflMNYq2c1IiU2zpJ7RZ2bwwFUBhuWREmIP79yIP//kx+LN67fjpD+OERoJAFMIiCi6IKzggyErl10oKdpVdS2fy9RdNvAUbI5mPmAmhC+C4SEZAxWljnckk/v7u3G8fyDqMOQ5eaWmDat8QUkRK3LUNWfxWBVLJHvktu119XmKLizZcz9KC5ONDCxemazle6SUuVRp9ekgf3IDMxo6iijv0qiJu42dX1MMVSF64fmMLt5klgYQPKkFVxVb08v43Ha7E73eAjtq5no9OoDDg70YDgb2yIrYdEfE3L2Ym5sjPJJaMvMKTeclIMDaWLQHk1Xiz/qxbQDefiLoOx5Ht9uOhx64L973gV+Kq9euSlriVDPjdM6CUY3A91+rdJ6Of8LdorHznSoYpNc60WBzt9LaogWKRqytEro8Ozs4AotQTc2lobvD5tmnnohPfOKz0QeTALaAzT1SHBK9+XkgWZoCc7Br28ZkqadgieanSFOhATvZac4CBo1Mr4GhS3kWcXxwFNt7t2IyHCYgICdOSDKW1oRe1zAD06eGwOQ2RmyEoskhnFAxhjseew1N3aVMb/KejLrasOipqaGvaQoJ702DFZhjNsmFFP3cYq0ca2y8Ca+UA4oUtuXbOFa5qDOrJF/VeH2N6KIxFDl8SUFAW83v0mzF/MICkzBgel17UJXZAVvUCOoAQct2IGTj58s8EptL+91WotsE06N15AEDdhYcyEopseAgE/3RhM/q7e94NH7jt34zNrfOiM2KBvM0COdgH7QR4usKh9eHKdUlo4m9BV+4/U7p6VPAUU0iUNVHbGEj1lQZFb34U2EVbmMyjs/99afjc49/O4aNRrS9A8EDs/Mru/NpH2IhZDTV4HdmyC6V0/iYa+BCjafLBrOKGO/JQfMqzgA2DcYDe5EcwaGSPK4Z3hhlc+hA9P6eF24PgAXNvkV5YsELGkdTBR+VirGzPa/GozP4MAjNlFxVfxKn58g5oXV6HqY3iHhY6Iy/4vcTFlQj92rN02morjILmNh8GV1Mh+amYNSqOmwKB1Vrakaf5hw8/NJatOc6GlVKaUXej4XxtXbEOmzKjYU8ioUxcYQ0bB0GACmE1l3TskAGoLI8jsVuK/7Fb/7LeNf73ss8KEdqJDOSVVLeo5GaYI2HWHmabxIFdEzwTakwrQ1NLfDPUSHtT78zi1Xq0al1ObamoD6ebBqz8TA+8cd/GN957pUY0xPowcvIsf+b0SI+yiYCSzlpxHYzFjdBA0EMTxuD5xpTyARVHDYOorfgGKLFJPYP9uJgb18l/dpsDyYqHtlAb027JZ+iEDzGCAYUonBdvMKKJkxIk5SZOXv1pYrdwFuNPXFXkAN8fXbBWHbAz5MSMDUkxOJ0tD6yJUVGXvxM7AVxcgy1JulmhElcqSgy1uZKcjp1YJYKZBjPaJQtZSUKJQsaEfM9ePf1aHfRaKLKYhuGOhkx1zruH5t8kDafs9YpjBKblo4nB6xm8zaIAzEqYqFyVEjqU37x7e+OX/vXvxHLSwt39avWlYlyIISa3NAqxIkUy9K/vABpzp85NS6bOQSjqUEq811msUro8u1nZkfHJ+SUM9tVFQt6kMP4w//9/4hXbuwx1MCIeAHWLZCpIZ6vPKxamBREmXyyMtiIjjEuiD4YNrwESh7YwbSjJjaNpJY379yKw4NdcC1lNrewrDCd8JpBan6/1lnE8M8kVskpdd2sJHoDemFLuAeedhsY7jGLPcL36nOllNVMFNfJWrBcfA2AqprHkyWpSyTygSbdmD+rxG1u1lCJtwogEpCXxl84Am3LSu+TzEWVIKcuSRCn2ezG5sZW9BYW6RSEqiZxeHgYOzu7ZpKU6KnZPFsRq5oCjFDjMJItMl43TATu1/QAeN523HPuYvze//af4uqlS4oEteadlHZU08gsHckqa2J22+KphFWtTl4joQdKVThMy/A4A/CsDDD64ezwUNCltrQ04Du33oz/6//8g7h9MGAlbjYdyUgh1mHLmXYctDqSt+Jn2Hry7OPJyDgpMaboPeJMDMEhI9GMSbQYGXDx+3t7sbu7S3Wf1IB6yDJWe42iLqxpsK3Oo9owQykrh5CYSqcsj+NQWcKcEhd+nrE0YSn462aDBSUlolIWooIIGh55RE6UklGCbcLJGcK5rquLZnQITa9U9huYIqsfySyZBlVFVjOypMDJDmEbXUHjFTLnE6gldNonLtdTadmITqdL3D4/v8ByP+4N1OOtmzc1TIn4+/T7ZIthrh23AFseVX9YWlmMbgcJrZqpQR0fHOxz/X79Q/88/tXv/nYs9nq8h3oxR2uR16j7kFfXmUVOsqRiZWU5axgVPtfaOpJyIwkOixBxY3yjIVHXN5/6wez4+ERS1uxhpGhoFi8/97340498KvojS1enYyr8yLRgfJ2eP5Mb7mIyIR7GQ266yeIEd1lWWOm1bbiSjvPiuq1WHB/tx61bNxVeTUlxOoFLNuSovSER9OsNEnktmg5W6awBt6iNSH1yyR+MgE1HCg77KDt3CCUbkd0yuHJV21jCIoQjBKDlSvuuUJ7eC/i/0giRp+c+8MIZhgDGccVB206G2lSMekj8ddSMy1fiE8Tv0ThKdHMdtvK2p7vjM9VstTqxvrbJyivueTDox4233mIeg7VqteWllWyBD3cTMl2f2IeULOOzFpZWYml+gYwPPmM4GMXB0X4sL8zH7/8vvx/v/cX3sEoL8ReffJnMLHuDnoYkR60PNx1cdsFWhSAxV4QvlgCURJ67xtV3/rsqvhU9+u7+vkY/0mvZa0wn8Y0nPhd//d8eD3YxUlctSIKMttlAx4p2MZAydhy8dGJRNVFb84gCjYfJsNqW3nTWkqHjtZNx7Ny6GRNWOoVPEwNWUCmiCRqOPH3F9QvbadQa/vDcH7MGqiuo/xQakW63Q+Nh4CeDoRDO9yDIVoILjwdBFP7udDvR6qEiCTYoooMIgWtuNKLT6poFmLEqS0PvtKLbgm5FOcRoPGW9YTKexXg4ojGAGTrsH8Zo0JfhANKBsYBgZTKNwXhEKk8NHxpASgrUijzBnyzGVFLXxDsJJ4Vp3XfqSi8KTb3ePCvPg8EJBXLavI1YmJ+PjbNb0et2Y3fvIPr9o1g/czbeePklFuXguSl39kEFS4srOiOIz6vFe8Aph0u9hfjQr3ww/vm//J+i1+uW8YVZAON7gH/vzllurfiVcyaBTrLxvcyGtPMUxHYOY+yeULHAb7KGkkGzMvqNJ38w20eocccKM+mZJK9/+5k/i69998WYQbVmpWDVkDyqtBxZLOGJYFr84clRDIZQH+qkCVBPMD5qS6xW21jfik53jpBgd3s7+seH9JCqXIJNmVFgVMJGjTguXDk9An7HLI6/puiKrWOALk0mmFgwhG9surlON9bX8ZDmKVzqzi/E/Hwv2t1WzHU7/A9eD1iT+QPwp89OgvEr6lQYWZjWUgh2SOmYGsVGbSY6BSQkUxj/OI76RxSJCSfvxfHBQeztHMTh0UkcD45jAM27T8FImTFJS3s/teBlgUpRU390+AE3Y048NqbVfUCV2KFHRbJ/dIQzrBrRbXfj2qUr8dBjb4sr187Fk9/+RhztD2Pr7Nl48utfZYGQMG8kmSyqkdLiyMHA0DmoqAEnMRf3nr8Y/+rf/Zu4cPViUXqK8kuY7FyLxuqklKyOJifVoZiCgU/oI2OWFJ4oTwGDCnwXxqvRkEz3G099b7a/f6jmCsISdc8Mhyfx6T/9g3ju9V20FAi7lSYMFFkU6uXBZWTscm81+YDeeuMVPRCfaqECTtU8AaNb29gk9TUaHMedO7eV+GUBBOo80Iegssr4ZAutamrAXAxSXDZyPHAoLVEanmvNxcLCQiyvLcfWmTUq7xYWUEVciKWlBYulKvkDLgCGzHqAZ/gTsmSl0NBEME+yWXLcLuiAbxZcsYTCs9DZVOF2OUlalC9oLjyKYuMYj4bU22PODmTJN2/e4N+7e/sxPIFyUx1HhI+eg0HzYCeOEnCNxVDo5togl7IhwZjAY6NYNze/QPiJ5Pv27dt8joCGZ7bOsho9HB/T0y+tbvAZ7Ozdpu4f8gtGQsLU7G4SvIGRQyoMQwdEWussxP/8W78R7/rFd3sOoiBuPmNGJ/5xC4UVkGJdrI2vOiw9LkNRV8Iu5YaFjSHzpc1ep3bJunz9W9+ZHRwcFIzO4fuTSRwd7MSf/tEfxI2DERdSs0GBz9w7iXCLzp2YxXA0ihFVg2higIBoFEdHmP4lDTMWFwYAHEfPxy6aZpwMTmJr82wcH+7FaDyQ9sWUFS4YSRm4YFRJYSg8isQmQjPJCiWqgv4ZvHen0Y7ufDfuue9K3HPPPZSXYoYLPY9pJ7JDKCqAjSlnpqb5CaBlBws9ZD4gGlLEcDjkg1USn3471YMuJiVzAqkCJwroVGeU2xH64a2xdtwsdZYlz+QcQ4t/FK/ffCteeeHVuHl9m3BnhrwAIzmUxitieg4Mm0gcMXV2kSAQDGNuDjALkaYdc/PzvBZcw+7tbRbgsLYI88uLy/HWzesxHg2iN78Ui4vYFK3Y3bsTh4cHfI/6sYiaViysnY0YeK+LW2fjf/3P/zkefuzhmDU1kwW5DY70EXI0NZKcOfXsSrzLDFA3YohGz0OXU+hlXauLTunRkxrNfGVtbU2Gvr8PQzcDQM1DM7Zv34j/8ulPxPUbOynJJqtyMjphGR7VL+x4QBO1reVJy/BoOr0iPXHidhomjIaNGWi10ly84+Mj0o0S0yvJI1xop7BMSj54Go768+kckLWSxyF9iclSEWtb6/GORx+Le+67GsvLi2oYqLd5FWrM2IOLpKpfMgpmEoVt6XzlGfU/e4vMR+hlmaXQ4JK9yvbD5IcBz9TaZCWxzxEFRITKE84Bxq8o6PF+3s2oRMPb7+8exMs/eTWefe5H5L8zcukUjoqPZrOH1xpvwTyj3ZEHH01iiFqD29qyzRCGjPVdXFiifODm9q04OTmmc8E69+Z6dES7uzu1Rok0VI/YY0+AJCDLvfn49//+38Uv/5NfZoJbL/zANhAhcZ2EnalM9Zz11MMkRKu8dJbQqhK/6iouZBXHp3k06TyKRwd0wa7MaqMkt+N4+aUfx+Offzyu37wZYzcAj4Z4IAOqGKFUhM6bjA2bfrMQb5qTD15d+PpQ42YaCzZCKzodsOU+x5JW5XAI6NFW6bnd6lp3iJBJn6QMG8yPZiHE/Nx83Hf/PfFz7/r52NpY1zGKORMwD5ElvpHCTx5dG8uHJBejZtHBxaBivPDEhVsWNEguWAudiaM3MYYtwWnYU9cLRjAYPkR64hHhA5SGaPODE5mi3Y9njJq7t0wWjgB5zzPf/2E8/8ILZq9EuWZXVD0wiOVEwtxRT7Crq7gs5CzinhENNS89O4rw/A8PIZ47Mbuh3GZhfiH29ndLjlBGQJMSUtTNBhQcS/67//Z34j3veXfMz8/xGSGJ1wSEnOdpiQWepgfGEnbwWuUUMp+TseeUAfkekRoexWdKt9DRnkyG9yDrAo++tyePzt1NozRAaDTi5muvxn/9+/8e12/cZLMwnNJwcBz9g37s7u+oiJSGbkqH3iX55AaaGwQz5N1kyDA0enFADZ6BJAMhDZX/9mDWVhMh19ReA1iyy89F8gTjA/PxS//k/fHgQ/eXYgh9L+yk2ZRXgkeDdgOfz6lMYopocE2N5yDXbk8rBkBSX2E+VUi5qc3fqncTNq9kN0+54/W7ZK05OJIA62hvrEPqWLB5BGWmIxj8iLw2kj40pPAhsoNIn6mt1ozJcBpv3bwRb15/I966fjOmeZKIdUbKl9QRRsNrdTxzHZPAVGwaMHrUuqOy8srOwkYMT/rqt3VC2+10Y3FpMY6ODtX+l8erIC/COlHnFOyU4madTOKey5fiP/z+f4wHH3qg9HZKSpE4WpX4QhdmVOQZrz89SSztwsDe7XUprNCJLfWcTc4VHUYr0fjaN56eoZ0KHkqGriRAo9okx7x+8634+le/EXe2t+P6G2/Gfv8ojvbROLFHdoY6DOZfecKFHhDeBzRgTcfo4gn451a00VjB5E8sAEMWR5tZ5WeJpqqtwnU8k5L/J+YDOPkDH/gAW8Z4HQ73wOwdNCt05kiDpkcgnmUCmSMzJM/lBucsyGRPEpVrsYpHNlaUwYKhUuJpUMJHlZ4+2QVQswRILAqhMQL36RZDqj513CKbIkZoUhnGdDSm4UM8Uz8OgVGX/Po0xsNp3HjrRjz//MtxMh56LiKatDucLIA/6E467qsZRbptT+518Y3X6w0ryjVnM0oDxIFHswmdBdZyYJ4f60kGx2eNIgIhoV6YXzKZMYzF+bn47X/9O/HBX/0gqVqOuG5KEp0y41PMikkGGTQ2UCofXTgrozZUT1EBkTG3dGsl7KkSUrfSfRWGvrcvysed8QLxPhqRrm4Wh4d9cqpP/I8vxLe///3YPdyPne3b3PVKLsWZV6G6bFyfcmDLt/ILn9GBd61RUywHo43Mu5neNzt9CDdcFfOWXlxYjHe/951x8dK5kjhSftqbi/kuGBWPUKtX042TKzxdHQUjB5BIPGk8LWTiPaoOaRBiPqSBF9TJqJUVOyXeSlAhdiXr4voz6zBmTlIzg4gAqIYTL4DJid0Hg5hOh9UaUzWmz0VmAAPb3d2P6zduxa1bu4Q/yo0ks8ClopMLLhVRMDl5+gPCBVdCs0jk6MV0nHslJQQgFqQhYq0BuL/TJSwCH49rPjk5iU57jl4dg2uxRr/0nvfFv/m3vxMbmxvKeDz7ho6m9lwQ2ZMoSM9dOozkJvjZgkYZCVQLkaFnlKhXdpV7LS+vRuMfv/7t2e7uXrStuAN1xQ8it+baFFrWzC4c7ezEX3zqU/Hjl16Jt27c4GwUDdzBk0Y/pkVWUpLSW3c6vZLsgp7CmrK73nQYx0Og+51ZeysQJinJtOacMt5aaZonL8Qs3veL74tLF8/yc/F78/PL1FcjmdJZOS6ymHfOLJxemI64Cs0yZ/Hdst2KCcmFT0/NB2QjLZ7eaC/pVg03yg2iXngWubTDqo2Ra5zyA7tUYHY4EDRNjEb9mI4H7OoSLNJDBWQZzSbRns1iOJnFm9dvxauvvcF8qt1sa5oADP3okF6ZVC+YFp9owVPm8tkRD1eQooORd8129E9OyLglHk7bgAPqzc1FrzsvoQIax0+OuIhLS8txMhzy2q+cuxD/4fd+Lx75uUeYhTfJvBnGupDVAqngkR7pkXMd1YivQhJlhB6ZUjx3HhWpcnuBvfLo4ucJXZ742pPk0bFnkBgp4OVIMI2aEyOTnm4Wb77xavzNf/mr+M4Pfhj9wYkw69i6bxdveHFTVCnhy/QeCM8snKC8TUNH5o1dCmiBTpkm28M0Q0QwAqEXr2HhyOQieOBHH3s0rt17mV4Gr+nNL8Ti4ko0UeDJQkmCubTL2tdKoK0zpyv3sCF7dO5bU6Ep5spyDL2aMW3KV1WPSdijxDsflv2i1I5u9VYkqEaAZAFMhqwLhXGCLgTNNxkNWNtAVRWMC/oyp2hqc4cEDGUwmsVbt67H66/figY0/ag8U5w3jGUMPDp/PoaDE7Y/HmGSAYpE83Ox2JsXdOT0XKyfVIAwph+98HLs7aOgJKOBQeNeETUAG2HocET4fDShg/bEs8BG6B+dxFynHb/5678ZH/rNX1NluaZ5SbowcXoyV5mEs6DFyCfnA9s4VRSybon1E8/NL7mD+XS81wp49Ce+9hShizD1NIYZmmkcFT5VIiXcPpoN4xtf/lJ86tP/b+wdH0avs8AH24G4BzLX0YAcOwyCVCSKEW0kQhgehNAvykvVrcymm9FFtwsMF+GQHsZUIsr6FpLhc86fOxvvfPc7nMh2aeBIlMTBC1XIoCq+FZevhcyDsZQkUiJMnYpH3pk5SqWjfLF58cTqtFytjaCaZKH8tvXrZAhcAaTm3SFDwkQ3i1gLrw1vVaBhoD5CEYAqSkRVTAZj4/coRgNg+WMmraxnoAGaTdDDeOvNO3Hr9n5MJmpDhFHfd9998eDD98fRwV70jw9ihjEduHzKHJTDZBSVJGMUw9EgXnr19bh5E+pG4OuuporNdFQLnA8aohGRQRkP0fx+csI5MGjt6x/3CWkee/iR+N3f/e24eO0yoY2JspInqX4s/hz3i80Ex7l9+3a89pPX4s6dO7G1tRrveNf7YnFpXjDV1XiyL948xfuYpaKCFXr0VXt0sC7qApmp6uaHAYzHEr55a+E2dPX345N/8sfxre8/HyfDMXsVwbkCE1tZwWZpcMMqo6v5gW1w8FKcauXRDjRMzYoBfcXXosm4VENVWqYoC7u62473f+D9sbjYZWKD3bq0tFopHWtdaAqzzk8d7tkenBu4QAlpJ3zjbpK2Mo543AxMemCKswxLPESVBZuU8cJIfcQ5I4cZJ72/6oDE/Ewq/bFlbIigjV5a8cN8vfcWWS5AEGD44SCGJ/D0x9EfnnD6Af575fWbsbN/RHJh0B/ElatX47G3PxKDk8M4OtiPyehEHAeLN0gUdT0dzMJhISNiNBzE9u5u7O8ekQuHnBunjCMvA1NGPdBcl3ARUJHzePrH3KCLi8tcg36/T4jz6IMPxTve+ba49+o15mXYANiso5MxI8FwMCE6QE6Chvqd3b24/sZ12gw++1c++Evxzz70a9GbhzPN8dVaEtZcXBZh1dSVVUamWSOWYehf+ccnZ+BGadQegFkivFkMrIE4dnjDMeetfPj//pN45oUXYzRqUOOshAo88IlSB/LOqRHGLtV8w9S+0NBTHO+xyXMszS/GycmAlTomJz4ggHh+OouHHnkw7r3nKlmbpeWVWFlepQch9zoGxeSTz9IL20jLM82N5YOu0qQobyh8v8CGPLTLypinWDvBo8yqhDmigUNjdPk7GhunCjApQbJEFTecZy4pFlQl66QurShwu5xHwaU23hRoJrCKYBpMijEioClHkN7u7Marr78Zw6E0/w8/9FBsbEJu0aemBl5dMETFHJ3n6jOPXHyDzBrPDAwXGrB39w/i2edfIP7Gs0PPKZwQ/gYtjCFSR0dycOhsQq51fITNpuaHhflurPSWOHiJdPZQRoncRcdjai0k54UsHI4t4j3vfXf82od+NRZWloQEkj+nT/AR7/xVTTzzilqFOY1lYPQvP/FNibqccDoqVOF67M54nsOjsv/u7s34kz/+aPzopZfoDaBgQ6g7RDEBVBSN2EIr86b4PcIYTpEF9pZYSwYsuWZnbiEWllco7EIhCmESUKZlA4RK7hd+8b3Rm+vEwuJSrK1vaHiOPSVvMDua0kiN45KHlz16UAW6gJx8F726cxJFLz0I5SkVY4KEjvMK81wkTMmyoWfCK8yuEjupOPe1ip3RppLzqLRYCWlywyX/nklWMj8ZeerHOxLje+IYkj54aHjGsUMGPDC21RgYvd+Pw709RgJ4KHpFJvyIdnBTajIW5TmS/r7Voszjuz/4YewfD5hYohGaNG6n5yljjRiOB6wFNFudWFxaicHxMQdUQVu0uLgUbeQOroBL2kwOW0jQDSYoImKNANM67Vk89PCD8dijj0ZvvscJ6JQYIwEejii+O3vpQiwsLcZkNI3b2zfjeP8wVlYX48KVq4SzrIw+8cQ3ZxANwR4UkbPL3VgXlBcyczMIuJ4bb7wSf/aRv4iX37wevZWVON7boYcAL96dmy+vZQILA2536UkgwWVhhedoiibSDY34+d3ufCyvrsfq8mqMB6M4GvQ1MhgU5mQab3/bY3HpyiX2P25sbcV8F/NM1PWforP0wt7Wzj3cW0lMrQcKDiQTSOFwe2H+rZOm8+gZjnuw5xaESPFQDi3SO1YHdQl+ZJOLJBGOGN6MWYhSIgZ2SPIIbR5tgLKDgeHdaZ9MjvVaVJWWejRG541GMRhLh6NE3qdWG27B44MGPDnCLJ4+K8gURzFVUlOMoJ1YJ0iP8bywsfFeP3751bhxaydQIYd2Bvoh0oztuSxhcGQfIPDC/DI3wN7eDp/32uomv2Z3GciFlsahCEJ5igIeT57e5wYYFKg0rSyiyQnDERN2qDViZa4b565eit78YhwdHsUbb7zGHPFdP/e2+NC/+K1YXl+ONUzqgqEDo+ukN90gP5dez83DLj5I3RjxykvPxWc+83exj0IEpmOdAJfpipnQQIAPbMUdK2ZleHKs/s8JCkwq72ttmxx5vIApVPO96HUXiP9Y3YsGpbvA+9Bb/Mr73x+dXjdWN9ZjcWWF3gGGDp00KMcy2sLUZvaa4ro5iYD3ZNCu07+kyMyupDwEIMfp5YwYSpfFOuWpaK44m1atCkqJGTFdIE+6FhavGgGSvqwXojQ5QTgcI0GSeak8vz6DiXP2jTLKVH+4WXOOu1Ws+Ck1JS5QYWNwM5z046R/FGOIytgA47OX/IYkQymrxhS0gYyx1Ypbt3fiuRdeisFAzgDlfUSDbmfeqs+Ik8Exc4e5bo/529HRPiHU8tJS9OYW6BwLaQgAACAASURBVJHxjEkxo3eAqthJzIaTGE6G0TEpgZoISQTWU3S+E3MfM4R4pqDF2912zGHawWzG6QdX770av/Ced8WFy1fIyq2tr0XjK/bo8mj2crJ0VeQYDhWaWbqezeL5Z78ff/nX/xCHJ8M46R+Q9mKRgxeBcWjSt2AhNGtkjio8hXfopNtx9crl6HTR1NCK+d4iaaqVtY1YW9u0YnEW7c5cvPXm6/H0k0/GhcsX4sEH7yfeQgKK8WwJVbL4wcO+fGSIjEgbqeYey4gNMT5VUkmWhp4NgFo6FnHxp0+h47SBmWY4VlBD40F+ClqwwUObPb1uwhIZrRNjNwJnVGFU4kxF0GYWkzlPYtJn/l8RxPfJVsHaZmJS5ijh/FYyD/H7GOV3cnxEKIPnxeNtTOflAcV67hMaOqq0KLH3T0bx3Weei8NjNMhM2FSBfAtGDWPH+w+GJzEY4gC4WayurHPD7O/vM2kF1IH3RTsfCBD1P6hhG6wSDFpa+UzYZzHXmePmHnnuvH8hunPtOLO1SXUl+gtWl5bivgceiIcfe4x0akqVqUd/4qtPzrbv3OFFlX5SY08GRR8bKNtXOPvut74Rn/nb/0HdQ7fZjN3dOyp7M+lSKgBMhy4W8ruDAXcWS9eTcfS6vXjvu34+WmgmRjUWzRHtubhw+VpsbJ2XAMknDmOBn3vm+3Hh0oVYX18lR4tiCEJZKeOb4CZ8cSVVkUl3pDkoRKCe/JM4Gfg5EYIqPmrDq81aqXVNMQkyqKbBZnLgwf0kL71GMnpHjFpSm5tDHH51zlHSe4RM/j4/K4tOte9R8GpmlrPVWaZPTbw75+tVT6yUh7rmZgT2Hg1OYoBiEoR6NDqTCHjmgJiud8M7g+HRGjbjuZdfiddfv0EMDUiCiAxj77R69OqozqJ4hI2wuLBCR4fZmDTqySTW18+wYry/v00nqT5kOQTICACF6GinU3pqThdOtIDKdwfyaFDOjbhw4XysLCzE+cuX4hd+4T1x8dIVrqt6E+T4WDBCMrq7t2dvJDFSLgaLPIAtNNBKvPWtrzwen/37z8fe7VtMMkgvNZpxhCQEFU5UOqfTODw45C7tzc8zwcSAeizg/FwvHn7wHkoA1BLXiLneYpy/dDVWN7Z8kKoO2yIr4DN3MEmX38szUEWoKrTZ7HUstieDlaiu19ADFtWbI5htF94THqvCp9lClAmjoUPt4DFcVyab9P42aKl6BZd0lItmwecksFL+JvXoqJL7zVXTdCwJI5UDeGull8/zOMeOF566kA0j0gW5o4csUEWtku4dD2JyrFY6yq1h6Bivy/2l9xyBIwGlfJInF85ie+cgnvnh83Hc79OQUPLnxC+2IIoBQ+cU1I/QG6E5GZsCX6N1DhVs/Nk/ANYfKBlugyLUaBK2Qpp9oXy4rSYP0dDSwCzMdeLM1kacPX+OByA88tijsb654YiuSW6aNTNTh9GXn/j6bGd338mXZoxrPFtFr5Ffp4BJhc0nPvff4m//4fHY392JhQWECBk3ztTBa6F82755k1W2bg/VMzEj0KCg+2hhYS7uu+didJsdccwRFPhfvHSNQzNpMpjJkkpHN0Vr+L68MT01YEQe6WdJK0vF5lIpwzWkYMWs6p6oIVsCBTc3K8bz9/Nodw4iEo1FD12qrqfnOfIhWCMkQ8kk0+pHa6alZvRBW5ZVaNaNmZ2cKZ6N2qxIs8xlaUJl7CWXqm0Ag5nShMwqs2Go9pTeB4bOotDJSQz6J/ybCkRHEHjT8XQUYzRMTIPc/Awy1FaL+Px7zzwbO3uH9N4wTDgz0IkwQhQOkfD2B0ekmXGgLdru0HeADbGKZwyFpAfPYlMx2SxsjJJ7PDO8J9oOR0O0QkKO3Ykr1+6Ld/78O+Ls+bOxvLQcy6tLLF6xq8gHBvB5Uy4wi3UY+uNPfJ1al/TideVd8VCkHq0MnEb8/V9/Nj73xDc5129xcZ2hCzAEhaR+fxhLiwvRZ+GgyR7MDosPo5ifX2S1bWV5Ka5ePRctN7siFKOz5dzFq2pkNb6XQg4Sguw4ETtQzY6pZm6DP+doC8AetlQpGjCZMbdO/8+d4n5EFkuq3kRx5p4H44Zlzq1hkoqoIE1HpYS0Lqg2C11iq5T2KuJQrUeFY4X3MxG+O0mF99SEYc+TMf2CB4ZmbJ4LlRAqcSxwd7LQSWMa3uhoFssZJrPA2a2EILhXJKbDQZxwErLJAtDJkAl76CogDcdYQCuPHlZ2DzbildfejFd/cp3wB8ZOOQAOMyA1Ir0/ikUgJeZ7OORgTrKDZjPQK8wDE6JB3l3SaE3FZZ4wHvP3lheW+LrDwyNi+jOb6/HQw/fFu9793jh/+Yo6zmgjPmTYRS8+eURwjU6QR3/8K18jvZhneoo/tujdoVhJpE5mwBr/5Z9/Kr7yze+yCQCtcJimunfnFpt92515zfJmczEOkEJyikOtRtFbmKfBb26sxaXzm9Jakx5sxMr6Zpy7cJlhMC9Uwh1ZZyku4SY0SEaeMVvjoG5MYZIfZmrbU/9A42K5TGV1jhrO4yFrkUKGqYl+cqP4LESKqtlC3xPtl9cAQ2BF18egi7lKoZEMTGtYFafSQDnr0Hx9xSyK1lXXVQ7TSE1OHhPpXAERxFoarGd+Ts49pxrVm61KenVwAp4NvO3wROO4QfeCXMCNgwYkTUzNzAmnE+BZHPQH8dyPXwk4Scy/R0QD/w2P3ZnTgQXYI2iXxBUu9BZZR8FEBRT58pngWc8D43c6LDwuLMzza+D6LvQ3LN424uKlS3Hu/PlYWuxRKtLGfHjnIWyktsQXa5tamRzqRYz++BPfoEfn8SbmkEtct8HrpDRtAOy2P//kp+LpZ34cvYUFGvHe9nZMZqPo9kAxdciVIsyxg6jbZhaOEWvYAPAWm5vrcfHcBjNtDjdtNmN963xsnbsY83Mo7Qtf0RM5oaAxcWipp0n9LEOHF+TQS0tQPQabEoIsz3sTkKJKw3einSwO8xQ3M9DKzZ3nurDy6/NJi1ECzw7xICE8EhQR2BUkwXUjGogNGvvscdMhuE9DBlwDjq6Rc3JzuZNkMTXqzQWPzCYKj3XIzZPXmBVo6cXdEshBoYJVpPTYAqh7IWs2BIvWJ78Oh8Rr9Yg9Fps48AjPksg9bt3eixdfeTOOjvqeea92SJ7cgUISRVg497MdkFRvba7HAo6MbHdiY2Mt1tZXOYUB5ESrC5EYbAcaGvy+aizk6KGS7GGOu96fp+J5Aps0L+qUYqTNajrlvHoKLBjB0Hd24NH1TTbTunKY0EUSSswdQbVyGJ/62KfjtVv7lO7GTMeIsAQPrGhRE/vREfJwtMrxAR8+cBQW9uLFzVhfxnEgaljA7tzYuhib5y5QSSfV4CwabbfMmTJUA64xOkccqA2MJJozbeFolYkRRXXt6GaSwo4bhfMdfc57WoarJlWTSNKH6njiCI4ashf37oH+GAYM9sPwAvQkNzDYWXtwPgPRI0VqQG/u2eApHaYUo+hxTPN6/p2ehwdNiTuVzLbG6mQ0JgyzqK2+CerPtrp1JaAUjE3GUkmeiGnhyBKPKmHje3/gTjOI9SJubO/Gyy+/Ef3RiB4Wa0sBHvO2TjnfaWtjI37lgx+I1dVlRV4c9ecm6w4MF8+Pm1KN3Gysb3dJW0J2nS16gp95nqghSjq2PC7dM/X1umawOfpLgC7G6CpkVA0HOexd3kthDpnzpz76sXjj5lEcDZEk7MWMGhY13WKj0KNOQd4vMhlF0sGKWLNLj3TPtXOxvDAnFgKDaprtOHfpWqxt4BQ1vC75QvV0kjZ0AgoaKv8wOfVULMEZjaVQP6jP5mQVU5m6NNWegW78xsWASSR9J5JRB5PRiITzNb3J65BH1GWjNd+rxm74hOfE5yyzpw7Gjp7vWJv5LTpNY8+YKJr9EmTT7zMRpux/omq5aXNOZlD8cFRW9E0vx0hgXF/n+s2A1oaDZkKsbjMKr8ZIWAfm0sc8d7V/chyjIU6zE6zbvnMQr711g6Iv3DOSUdQ5uBfN3V+5dCk+8E9/mecg8YlCV4PRGy0UjgRfcyQ04B+kHYBN0DxxIoAhSU4fSOjDXobkiG3Y/FkjmzTg0QFdvvJ18uhV8cOlcHeSF1oR2Trw3HAQH//j/yeef/UGk6PByEUHhkPQS00q4FBIwLgKZMww3uXFFZ8HNIn77jnP7Jl5QWMac735uHD5nlhd3dRJyPbQFBkxqdTgdxlszvHQZqChI5x5HB6+5s0TQ1vhQ/vW4nJR8oBWz15JGi4ViFVXvz5DPZ7WryfH7mYEGaQ2RHpONHBPkfWxACfzG050WBi2FQ7nzdfCIQjWaBwEKU5DCTZxO4Snp1b+4EMGyPhKZcl8whifTR4WSXFcoA1BlVd1DknhVxuGVDqvEKWqKMHkmsrTEWENGjFG+PvwgJ591oRdNONwMIztWzuxs7fPE1HQzwvnAqw9Nz8X91+7Fg+//TFShYiuZNRagCFtd0JlvuU+V8JX1UUUheXxBV1t+LYV9cVmBUfPH4aer1tbW4nGl74MenG31rBbhVYmWyzcuMGXssuD+LM/+nA8/ewz0eosxOr6esx1OuRNT8aTmAdP2mnHjdvXo98f8LSBDkRYHD2GDpN2PPKAGibsH2NpeS0uXLwSSwsrrIwJK5thcTKqoULmzDmFS4ZMQ2drYY7LqGaO8KApe0QylgKo+p0CuPNQKbecMHDpgFs0L2QiVhyxC6pkhiB14Pg8eC5NW9Wcy2y2FtuRFUt502SFdAXsIbXEgtOCE9/bC6tvsyr151QF7UCcMuGB99n3Kjfqpm8de5gOQZtVPyObhWebXTn6NXrpfN7cfNlHSzgZPC4GjBoo5MMjVMVH0ZiOWbXE9c8vLcf+4Uns3rpDz/7gI4/EyupyzOMgL09UxucA1iSerpMKzKecRdKobew5I0iz1lFbkeRVw5Jqxp8bw3kZ7n0dEoAv2NBp1COdV0nvnsq8WmUQ3z882I6P/NHH4rs//lF02j3OAYEXX1lcoiAISen1N16lEc8tLMXC/GLMpuDOe0x2AGceuu8SDRWHPkEYur62FRcvXiUNlYMl82YTj6UWpB66OP01Z2Y7VOHGtEAOeVkp9RMvRg4cn40NJejL09GjeUoXS/h4nbl1eXgBBXlTn3BTKqU+9Mtzw0sF1EN52FYri+KDlkhLySCksJT0zvLQNPcH2ABz2H4dCjV4qWJeVJyiqbpkkJVha5dqnp33UMbZ6V6YnBuOSFkpo+ftmpJEgQ84ng3dKNuD40YjN9w4mrFdPMTXkH9ASg2DzAGxXH/kMxD18WggRWRxDqYJWzo/FrYBI4aTk6Hb65u+VM6mQwn4HtkKiBZOigbl3al1+eKXv8aCEXc79NxF0KRQmDecGo39vTvxkT/6SHz/xedjbm4xVpY3ArNGu81WHB2DXmzH0SHUkImzmjEbn8Ti0hKFPquLi3HfvReIxzhwv9mOM2cuxJmzl5hh43M4YdVzWzSYpzopWBtAXjk7inKHZ6gSnoOxy1uDRy+wojZIXrAZJ2zIqiX6yqJRvYlII5WVpvhQABdp8Jksl4NBAnxCsikM4bndmp9it6r7Sr16+Sw1F1fjJ7AOMlaqLBGynC8klLICRgpLXzc7mbJF0BGQ92d+WQRShferTatNpxbBqmiUrxXi0aaj7pOz9N2/YFaJLEi1fyWyI1bWLHN1+ziRxLrnaAofSanArdMJLdIhxAEhgTVus+IqxoW0J3M5z/UhDarKdqGSQXJgg4DR21hHMvr12Z07u6WsXrJ2N1lkhM/v79y5HR/+wz+N537yavQWlmJz42ycDA55bDhiGzz2HFWIi5o/CA59POAcbXivtaWluHJ5q/hQVL42z1+Kza3z8sS4WBqDq55eiPTU+Bu9pUqwKq/N++d4B41DznBdjwz4no4k8YQoJ4jaOB7r5mmxqihmKbWa55JhFq1eWPhSYMMxMSzCZHsggYkrnp7VnclzZo6pGMwOJgwzyh5aQyEepYhilTqyXYAyQ5YzZvhdNS8kjSqtt7w9x+MnoUAGS7BLBbKctKs1Y+k/JdmWDVCmTYbME8u8bhSCcXw3V1vMmje5nIwiCufoe6JWYux8PqzZwRv7nNpuoRYFW2ZtzIsE5ob8Iwe+KuLJsampW5hfESDp3CQxNjY2gNHh0XfdHO0kxOF5RChDMq6IbG7fvh4f+eOPx1vbd2JpdZ3nWB4d7JIjh5Hz4XseOWDLZIKTofvkMseDYayuL8WVK2ejyUVGgWE+zl68TK0yT0woRaAqiUrjKtiNTI3Dspus8zViYrJ5oJIRlMzcar9CSWbZvrS7ZWO4rDGhDBmPIgFA2x3bfPkgKX6jN0WHE54sp8540FEt5/GEm+yo1yax0dp7Ey4gqlEhp0PP6CmduPB0O2rQLYMw/DHFUaQCuj7Pik9W3waaFcMcU5KeHRuAE3PzdU5e6dnT2SdkM1TK7cyeWXcsOSsuRRwatb17kh7V9zQpIoty5Ml9jFCjbajCkzTknctGKd1p6URy7J6kIcTG/KvFoyBp6JgLgu8Sexm7qSyrIf9qodMb3r7xWnz8I5+J4xEWf8oCAjNpzopz+dzDkLC7UGKGehFJKf69vrkaFy+ucwfDHOYXF+PCxXtjGQcqGXNpR1ZVTwl5KpaFa5a7uF4dLXSjkhTSjTlRKmlETUWQRpuUm+4P3kCCNhisCzmspiiZ5CwRMxvoltL1VGfx6OAqnY6RdFjpIzXMkY4m5zkaSVuLUq9WZsIJek2zKiUDLjGiRCKiWG0R4F6IzDhmwyc3k67U2BGuadHeWwJHeay9umsMeGsd9pBDnbi9YzJ2n0IaOu63TnFmo4nrFT8r0VQDOdl9jwUUZBIcMUvmqFsYJ0Oweuul8rYqAc3oANjDw7xqxUTYEaHLF7701RkOAtAxhVWBQx0wPqrPQ9/xMDEO+s8+8TdxxJFmmBGIMrXmqU9HwHHQN4tWnF9cjl4Xg+PHsbS0xILT2XMbcfbcKrEstAqLS6s0dDRG69yhij1JuFLK/+QHFaoqKaaxn/n1XAACIJ95VM0ryTCtM5oywVV1UZwvvRtlwqIAk4nQAxIDJRmveW0OTJVwCm2CxI9WDdJZ2MBy8Stvmcc+ZlTQ5tL7WoaR1T+WunNeF3efrhMMkk+m01AfKTKTzcoQrvdUR7w+wxqfmlcmRi8N3p5mkBVgYm93P5UkFddgMVxN8ZqQCRsXpxjWBwsRCJoORog6lWPRydWdWTW6kHURi/eSiVHrXyUDEYwxo+ahpinPRgW28cUvf3V2Z3ePT5plcfOveXYNvZ85Xhr6ay/Fxz76l/HW/i6rchDvBx5wnhuEQtFcJ7rdXvSHA5Z4YUjIvkGFnT2zHltby3Src61OLK1sxIUL16hvkJbcHSW1E8ikWnQHNbUuWhB9PzNxeYnUxTB0s0Lng1gNcXPBmCAa/2d1UQ5bHocFIlNzwrJY1bqE2Zpw4gBTheTTrQ/3oFL54Uxwq8JXGfnH3xV9WDRGVt3xSkw3SheEeeo1NyqqRbMPa/ic8IdVQp1qp2ihe5C0x5vFMImwLBNmbh5lFzkMVTqo1EBZ3FASW0eapG2THrX2qHD4peAnA+WZR+5bEIz0qSkeR1gcFpuhNX6wTkOSjOCAWEtFTCMz+vN7kk9wDj8qo198/B/LSLqcAoAb46y+NDB3n8D4X3/lxfj4Rz4ZL12/EWtr69HrdqKPflCo7tAUHc2Ya6sZA93gUI6hbWphaZnnll44uxnrG0s0fpyKsLZxPs6cv0gBj0J+Jhh5Vo0470IjcshO5VF5szX4wiNGuFjCtfx3kpa2GiY5bApWD3rJXrOU7vmT+QoVhcxIFbsVxZBn0AuSKOSTqs2JZ3nIWO3UPL7Wg4AyGcwJA/L4vmdvgBrpL/himJEYXwVfsSUlOXYxRW6vokQZoWA4KOv7zk9hciekRmk2dvP9/BicK6gKrfh29dZm9NAS+/hDaMt9rHoOOeq2ulx7as+dpMrw1UqYCWbC2ByHrUgvyjA3z93/pjLXIw5FI4t+Jo/+JRs6Ew4PlJfgx8oievjqZItXX3o+Pvzhj8dr129zoOQ81GQ9jCUTMzDoH8Xt2zdIM2J0BQwYzApUaYA5F85vxPr6ks4HanVjHRqXs+ej24EeWQlE0oQ52yVxNn/ODWwBvmIXH3LBeVY3srrp8MaFzBY7c8cI8Bkq06Dr+YkWHwUZde4gqvHYmVqxXVBZC0qv79O2ixczlk4PmfchMVUWrXT9GgFRFfIVQNRcXgUFyxWyqOPRyIW+FNntglgeo6jpuNYxWMekzyaUSDjDHSSOX0Uj9626yMVDlH26B3/XEAjLnwav+3aHk8Q9ipoeF47iE7jwfL6qZhmuFJyeHr9yYHh9QsXMlVQlL4/fzIwOY5YtqiqO576xDnrxS09YpqtfwgPFABsesQjcyQOoqj8/eeHZ+PBHPxWvX38zlpbXozU3r7FwrZaUbeNhHB0fcK4HJJnAlmBfMKICic/FS1uxuop2OJx304utc1djc/OMDnvyf5lsZHHo1M51Q4Y2hNVqTjT1OnsvV9TK7vcGKjy4jz7hzz2jUMmiEEtyx/nzpOKUFFp0RgNyQUkaq1I+zxUjFEIeU9Po+BPYE0rv7zY4fUYFj+R9K/UjcS3GwmEIlD9AHjVpQulzdHCacLgGE5nX97ZMD57R5G6PnlGjPPXkyos+J8dpV+ud60yjdPWYNQbEeBRuSPvp9XmUOSyVXpe6aemNVBmviAj5sqoOkk6OhTr8vo/+lIGLPtZ8F206/HfK0NXwO1JBIFcxB226ORq/+uqPn4mPfOxT8cZbb8XK2pmYX1mL6QhnVV6n5mFhcTEgOuTlo9I3HXOeRw/FoOkkrl09HwtLEOy02fGPQhEOeiXrwUpWVdHKm8zmCCxS4vIMc9kqRsUbF1Y8mBgV4TXyBql9d5WzLKDvVfQdPIKkqcS2tnjhebfS2cMK0iZhX8EfcdAK34RYeBU3kulAz7HhA8el+oGI1ZJ6txiiCzCG8Z5+i/vxab42Am68gr0Fs3D/FIlpWxZYkLvYV16gEF+XrFCdXjT2Ud1CIykSr3OJfXqJLLgySkVEGXCyTTzRrvTwapPTrAscqZ1F6vdTBHXVU21fes9yYITkDPl5ei+8TzUQaT09+h2eHFztToQpPWQtKPUuTmFe+tEz8bFP/EW8efNmbG1dZLf3/vZNGe7CYrS7HQr5AZV6vQVqIjASTKMpZnH5yjm20kFovzC3EOcvXOPx3bh49gbyHCOVfPHvNjJoe2pdo3BX7uhMPkWC5ZF9Dt+paTf2T5xNT5ae0u+ZDxrWJ9gmf5ZGjqYBncHkh8keRrEcZeydXWCaV74JPi81U+lFyWgx5c0RGpmM+jlAj0IFpRLj3FfCnnrnxOr198wGdiuG+P7Fc+uGnJDm/TmC1OQA1fspqcuhT2TlSP17RF+RIFdsSWlIJx2rAbLceIYmWhvN3aShG0sLPipHE6vWpA6nKEa97jpdRKvHtfDpdc2GhqRm579YObFF9Ohf+BKS0b1CbYFDZdgjDstjWSpu+ZUXnotPfPKv4hgjLaaz6B/vcYjNXG+JGmN6L2bsUi0e7u+xC1szz6dx9d6LHBAPahFn1F+8fD+5dBYDeAJGpVDTLnW4Kzs/TzVwA3SW5nPCrdkR/AXcTjbCtKV9m5s67G1rw4+yZS9xeGEyYC7m0rXKmiwFj8y15ao6geRU19oGKBumMoakENFQraU2T4/IyelkbjIxhFLHqAf212TF3le16iYBs3U5/jw0criJmk3aVWZ7ypvXPS8Vji7Xl/OR1ENS7ESfrbNdTxWBWDHzYctemoQ1ckpmgrRwNnZFXXwom5pJIOjc15SzsfqJ0z7MDvE9y8HOojHp+x1VFHjVm8BWui8Yo2vbajHTi6eXK5k8TpN+6dn4q8/8f9HHQ+IwUEzPVekaIxSw5THfRQ3WQ44nW1/d4IgCXMy9953nuZ7w2EuLa3HuwlU2VUuwL76U8CSVayXBSW9eTwjND5MSVLVSf3C3kMhq1wtCiDhEkYt7gdsfklHXyHJaFj2MpHw4owlCM4VGGaMwrzCFuvIzIzIz5LI4L8OLn14uIQm7dUZjzYys4U96foy709Oy3psfVLhxPmD+n+61jrf5XU/k4lnUWEN0Izk8kd+vcd78PNOIvKVkhtxUIjKnik+Mmpb45nfF3yec8NGVeX3+PEmolcCm7JrDNFRG9qhqGy6NHMtq2bMqei78VTodPsOEkfh5nW3hMxcqgS2JXvzSE7M7d3TSGN4TNGEl5FLorpKVabz66nPx2U//Xdw5OmbDKgZabm/fYDMrF7H2EMiGYIrT3HysreB8z7l48P6LlPW20Du4tBHnLl7zuAwd91LXQtCz+RAndqFYe0Hv2XLjgrEgf5ZN1XyeFXZLg8B7J56TkQLD6wHojwVkNgwUgPR6P0yDhuKh/Ft60EaT1LooCUojSDkxfSAjpmbFQ8iF+eT63Bz3KU+JIf/auIKP+QySgUjuWUcfVnSrImo5CEJjvD0HPpmenMrGZ+5m73RmeW+5nroasTGs0BJXW1hE7J9VYzYP8GhFbhpscoixOPk2/T+WpuopmHIQk8ZcqP1Rnl0HlP+MhNTMFMdh5Ekdfm9WYvkmfpImq3CPxdBxanEO3kn9c94oWsQyEUMYe+O1l+Kzn/qbeO7VF+L8hYuxc/sWR46h7SkpvpRVGgHx7Jvl5YVYW12Kq5fOcThlq9ONjc3zcebMRepkMtGkCi2148mRlwNtq2ZjtsnZPhOzcqfWNFUSFul3SDUZwnBD8HseN1xnajS0TgyUpQ+AE+pav/tPbhCXfMjgJERR1Ki8ePW7xP2OnjkvXj2ymmKASxMUrqSnKQtAtbFiwHWQF4yqRF0vRtXznR49j4OXQZXrutvD14RerOpasqBJXnmwsNgfNZykg5BxF7gl4wAAIABJREFUs7HdWiP03bYsjxbbBUcGFY/zDOPrPGuOEZPPEEbrzWQ1rZic9PqiKMsfySLJ2WtIVZWXwFExGf3CF74yu72zc0rIIwLC7EFpJJDeZfv6m/Hnn/hs/PDFH8bm2Uuxt7sdx/0DJmp4SJvr67F5ZtPJhsJwp9mNuQV0dndjgR3iDR6NfubcpdjchGpRzRKkoZx8cvmSasLle1YLnSd/hr+tQnRYtKijFIyI7xViSO/9VJiH2sYFDvdxCdZYIy1jk/AqCxd1U1e080kfSd0lrs4+xrvUgfr9pBA1WQBnthbGo8yhgVHgTCfpejQu0Bg8C2Yp3PJJysmn0yA9hwafhpEVNAwfI1OPABkt6muTVOoENKUVxnR8ZFmQA0A2K8GZuHe3LWqr8vtoj+OmtedBAZK/h/qJHZhnACpiVox6gSqKLpmTZaaiTJwlFW56Ew95hDqJHjkgwdamhox+/gtflgSgVoLm2OFaJU+nOOgB3bl1Iz75kT+LZ196MVY2z0T/aD/6h3tMIjGS7J9+8JfjwqWt6J8cUcSFBtvRkGNRJcH1zfZ6i3Hx4hWeVlHapXBhbXkEJqeFSkoazjeJS6GGfKL3pYIPD8AHjKXnsYeR00l6D03S8kRo48I9ESkmnVUmA1RdSHWokrRmNlSk4RemJn/fSTkUeLQ5NkXraaaUdgqVI7uTNHICUAZGgs6s3uI89T/CzZhR4iYPezJCIOpX9FzE7FjGoZbJUiQis5OqsAIvNaqvHnH47xre/qlNYLZHVUwhNMJcOhK6CNuRnFTOLcbac4IXDbdKyguDZJJLp0VXJ0vncKuMKth1uYm5caGJT+Yni4KlUq6JENiIG+ub0fjc5x+f7ZBetK+phbIsMWfxBB+yv7sdn/zoJ+IHz/8o1jc3OeLhYH+XoR4V0A+8/31x8cIWp7Xi4c3TkNs8NxKUory2tDCa72ElGihFJqE+GIpD6ZXwJnbLayQEMSMkIZjO3NH4ikovk16SNB28KA4nwMztXpcehMd5Y3PUvXGNC66zCekhKsMQJizwvsZDO+GXoKttA6yV9vGsc2NkQwc2KdYbp7lxVIjzFQyHwv2iBZVbjxFNQ5WIg33EjEovWSzTa1XJdFJsA+akAkPBUnVyIYg1ByezStirjVDu2yyXahVNNZr4GbLxo+RogkoaKFWjA2v9BfS4IDXshPRMhOmZLbmAhFvgETwtDXiVU55okoCrU2TseMaSnBjyO/bbBgYYrUfj8zD0XZwGXOHNErpYHZAYSPc/jf7RUXz0wx+PZ559NlZW0fA8jYODPb4GJx+8510/F5cvbnGoTSPacf7yvcTjXPpUHbo7qIObyuoWRxxgBohANh9GbffL0Pj/6Vey01NfJXzAw9d2SDaDnpvjLSL2dnZjaXGR7V7A7jB0Gis2VclHk6bKFKp6P3m4nMVYsR5kOgyN5KXy4MAcJcf6oK7bIz5oqNkAkZiSh+vqJDqcBcTBnRixjBwmiyL24HzYvsQCezIZr42oy2iWzEiexpF5S+ZifI9SarfrTufnVU+GhufDGSqwQFaDkFp88fzsDU1mxBJsGBI5dUdQwhbXSSTCUhxQnUmEQY5SSbhSHBAPcpDDkb6psmGJvYS7JNP9/Fdmd3Z2bD86ZpHGnbPCPTqYoZFzzvvxsT/9aDzz3HOkB7H+e0cw9Ca1L488eF9cvXYmhv1hNNqduHzlAZ5zkw3AkmZKYkBvXtMj46yaPDc+29oEFWTOaRiCftLWYl/A26EgxSUXyC5FJm4WswDYwNQrw/jRtcOiFIaB6jhHJUIyyNwsGUUq+CL8kQ3ERpEVDpa/OcWSsMriwklhY+jmpJBU5TIjhFrVsHk4uzxPbp7XxNocsIq14FtMNaPm7uij+xYU0bPTPVHViM/KG6sVntRAoipu2owkvdWUZN59aSPE2UeqphM3ZwKZjsZjRKin4amCOCNJRTDKA3wRCWjywLKEuHYxpyhc2Js2gYV5HvXNZos6+8TIobxgfQPN0V/48mx7W4aeu17HnVRDLYlH0fgMtnrYj09/5GPx3Wd/FO3uAqfp7uzcJDRZ7i3FtXsuxgMPXOR4s2h24vzV+2O+g7PgXYZuCbpUM1nENJB1SckldfDywvKCFd7MBAM/waRfNjqg48iJWXowhV5jSVqjaDcWLextUimZHoiYNTXRiV9Ju2Y11lJXVzRLxdHqRlF+GXnk2tIzuRJuOCBNhy7Ic+dzRqPCljQwGDOBRDUwvH/MQ68wRkKMkA4iAxZX995pvM3KQRp0bQRevTBUv35FKwuyahy9NonuBTbPNaIXV94l7bw6ourUZD2vUQHIBUGyNVYgZg3Btkc5LpkcFeD4qVwnOTuwX6iek4r1LBiyV55ho6hURfNEABg3XjB63jR3fnbaOCHlYH+Lh3A8yyc//LH43nPP02MvL61E/3ifYxA6jXZcvHw+Ll0+y4lO2OFL65sOx5rcigaMe++9N5ZWlujps6CjSarG667KaYfmNNv00uZXU05ak+gynJbGDFncKQCSIjDPZMmHAS9HLQypNA3SUURp0YhEh2XpWboZMBnsP5X4w212PrWChqriSIqqBJHT8M0EwRNTK2LfRcyaCZ6iGP5DEwsMmrPD2zotIk+6qxtXiT6Jn2valXKv1v3UHHrZVPhepbCs9DG4dt6HhDhlhAafDy7TbE49quTnVcrDginFpZdDt2pEgwcb1SOqzd3Mk6KpIvzpk6axQPmZcjYS2+F7lOn+w+cfrx2RbiNPXXN2HM2Ch7LeunUrbt66EV/83OOxs38Yo+mIsxhROGLDxlid75DcYpeNcRwgjxJBMWnKjhP0iKJ/FMdvPPa2R2NpGeeDokKpsQZUodUoRMKNU8o/GWVia3oa3r/mqgCEZCJV9yqJ2VPqk9gRDy+rwaS9yNSIe0ZPKyt60NoX3tY4O5WOPMpGho9sIFkZVvywQazaU95juakZo7oXLoZRJqWZwUBedNznQVVYGB1KDHYKa5UntGWN6i7IZel1fTPwKu/y/qdp16o4lZElf05hmgewshLh+6nuuaa/cfQ8DQH1OzRWjw0kVLJ8QtVQYXTCSxq+K/XIpSjzNXVwOnQmO8wQp/tVtMH7s2D0OUCXOzvKdPNcUfK1YDHUf4iH9PTXvhZPfP3J6OPkYgwb5S4fx/btt3hdYFxgcJieSpvgufYqy3PcmMN4p9tjN5EKSKvx8+96Z2xsrPPgJ2yYPH9UZQWTuHY/eMi4CUxtzd2qhTSrkl3oDv3ZBc4HlWPuLAorD98jpUvFkR7cVU57LLY6p9v1Y0iGQ8ZaKeXSePVyeSCF7UxifTOZiBaOvqrs0nB8KDDBjZs4BMvkqXDAAhwERoTQ4CREUbhP2FUrnJSInQUZ1x50Xx6Hh3zJnUP1+y2R4hQLk9DM91gq03Y6FKQJjuqqsDWQ/Ct1YOEoWxUtlSAhwM3b1Fmz1sKokeN0RCTF6WdJ4848VHXAU7CxGPrtbRztUu108syec8KkZzaNl3/8bPz9330+9o+HnKWoKuM0btx8g3qW/NPuLnL+9dH+NnsocZIBw7sNHuXebgeH5/ZosGjOePvb3xYXLp4tR/ThAcL7azRc1Usor1jdcEnsMjHjwqnqSZlu6RSv8hnaCmlFGwWqit4YuFeV/PXwSOOxMgW5sSQF9EB2ChltRMPqUN70Jny0OW1L6auXyFoVRyF5S8Gy/FM8bNKF+BtRli2NOoyYXyPSeEa4DFn3CSfEI85dhyjvl8c51dkatw7mqXeCLromK86coIrZ4LeN2Vl7EK4pEJGV6OT6k5lhjk9GoOQoVX+ou8o8ggRWykSVEFrUaD0iVdencXW8lewkw24vOnT3K+Q03S9+4SuzWzzDKIkXeZYsKeNvtU2N4ntPPxVfe+LpuLO3H0iRoC6+c+cmjwZhwoBpAO2eju6YDsrgICY0XlD8CxQi9jkO6cLhuQ899ED8/Dsf46kHiwvLPDAAr8tJAHJCBIO6zmIUktTK4Cr9BTdtNkWc4sVVXWQS6nOS0P6X8EXTXPWH8/zIPimpLQxBLbNXyLbi8FQXjBInPvCUXyDJMkyqZw4pbEp8mzBABw4kZeYT9JpNrjUEctJ7yBhgpGRk7KXFPFlJWqfcvG7JZGV9hJ1UrDPkvBsfR4OS+l0addmJDDGvVW2XWjntX4/acPQgUmBhTh69bPmSeJs751lWmMnpajSgoPuD03EQghY1qmsurpQzKaWATMwVrg/KWkkAvviV2e3b28WAKkFXNY9EEkro0odx4/U34oUfvhAvvvpy7O7uxPbe7dg5ONQ87E4n5js9/ls64SZPSiiUFY2sFV0UUcbjmGt36KUefeyReOht97M5A5XS+bmFgrnESps2LPyqPbSNMj2WvqxmC6YuRF6g0o2UgaAeYprWXcRXfmhlQCc2012FpGrh67jYLtV8e6axlF8AuvAhy8wrnrg48vIM8JBQtcXrknKrU5bT4UhyZp8GwvtnVVQKUM7WZeWy0nzcnbTiaxmfRGjaNMmGqPkmC1/pXHTSdGplZNT4/fqpHfkMSnxyI4QYqFQkOtn3rHuMVM5mEeRJathAFKtYsFyl4uTqfcK8qOpeKx2Mojt5dGD0nTvSuiSOy65/Lh55TykaeZszDIyfxJ3b2/HaKy/GMz/4fty4fSf2j3GUC/TEOJ2szeQV7wlc3cPBqz2JokAXzXXa1EK0aVCNuP+Be+P8+TM87WJlbZPH7eFHgDl8YPCaRYdsMIaKGg0/wVlVIld5PE+oqyIAPo2en7AIh4fp4K/sL0xPnoOK+PCZ3FSjiesJpDxaVTXXhoN5iI7Nh80rdEHG4mHKFXLNf5ZykAbIWZY5gcC7A++FCm92cqAjy9BGq6n7JVt0F96ufw42Gmom0gN5s6LaZu2PjhzQ5iEb5U4iz+3lezM3yiFM3uNlQH9+7RxKV2Zvn+K6vFbF2RIJUiIBW0lYmYae7ZM5bU0evoouFfOSdoHKqLUu29t30m/KJ9YO7OKD5dHooBgVm0aTsUvP0/jxcz+MN15/M3784gvRPz6Jw4ODmIw1Zng8G8fC3FxsbW7wWJf2XJNVPk718oB3HOTF0cLdbiwuLcfi8krMQQlJ9iVxchmjKYMxtUQjyA6aVN158QqLYbwotkJCfJ1KIS00h1/WGjNK+xdPQNPnSnLgf7uyqdOU8btVMlpoQl6jHi2ucBIT9Yf6YZKhqvU0JuS4G6ebO3CcUkFE6lIZDDh2TpQ1bKkf1UgnUcBEcuTm2k27JkWpdVEhSVyn2ymLWMxVaucnohTzpa5P5GauEbpMEYijT3PsJXdyJpRKRbxvHuzgjhZSkRogpc+jYfsZiL4VTOXPaiO2c8YLLsuG/vjs/2/rbJTkqm4gPDY2IQkFgfd/h0DsAGUCIQ/jpILtOP8Ye+1NdX/d0pl1tlLxMjsz995zdPTTkloW9My30R+qEeuHOQjMJDP+LkRFPufFpETadA1U0nCmH//y58vTp08v//nplTfhN59qTPYHnias9VHV4q8+/tjIC03VTEUQk6xm03z48CN3JnnhD5ZVM9Ca528bKtyxnv7IYuauLzl8OLqdVKPzDwvGgw8/uoiLT/HAvC/4+mK+BFnEQkCOsY64YRJuJS/Sj9qMHBq63TUkbEgsErDpeeXP5uHii67rAs60rlAzju2rtFU9AklpPmVP9XzC18c9iatJWxpCXn+6v9sw1EiUZCm3MlbLB3xd2Lp/k7WOi4TDeB3jNTi2u9Jjb2uBBWWfMrAh9e2mM2wMlo6irRo9GzUa1Ga9QyFOWThCT1E8Xgqoy3c/eBCAUsm6kLqDvOFtiRO0lUIfNL18J7F0laaOgyFfXO7Kq59eXf4r/uyM1lPCR03Xb35+7ZV1kGeGVDQHzRD3EXTNq1HhVwq8HgqaSrqZUtWUxV5URqCTEELALI4F7SDA8cnvLE89j7p3dLB+obAId6TCzcQMonjbkaIy7m/sVtZvhdBTqJFN93S6RIeGYnqsylpR3m9VTQIF3xiNaZ98nFu+axkeuYc5aE3pa0T969dGpyDEh5LNMKEzvdGCM5g3LtWhnc8qxrpTp0/M4cBV4YdwctCcVk6mYIu6qSJJ7KFrfLzlLMaCBy2pQ3jtNqYysdWMaPGtMbKC0vOctIWtj4oVdgbc5dYXBupK0NV44YsUr000zyaEcxtH02iC4EIJnUyKXAK9T0LeUlP9/vrmhloN8zCqdgNyWnfE+GFUjQaUJ8RA2tHVjUJuXPJLhN7FrWay8LiQx/yxE9jVB7S2GaZVpGZYAPx62tfk17U516+j4T1uZfoPJRRwONZ03ry+AWZz6QFCZYs3irm/YQXbcVU/2Pdz4PrWtLEcPgSdaRQkyWIZf/wqPihTb0Xv5p0FXgOvTK9s7knu5YwF+h0kfxDAea1xWuc5naUDyRgXxDF3Zf1vMyZkKnegyYEH60oGKjwPBxaCHIUCzwahKTb3eXJiKV0kyMKO4lxsPT61qVBaHAwkrO/0sK6zTHfQi1AvFLcmOC1FWVib3NaGC+OeUf2r+ZA/azDr28urN5oVj1vjEYW2ABJM1aWbQAafyiTxCmChxxBiI99Xmr19mhbuHDQ/q3L2ODLZy22MAPdGK1sj3unJpKmC2njVeDep5KSQPwvOPfmHo6xUC//vf/3z8suPf+37I/FBQRbXkuyQMygxkIe6mh2XxJldQGv86WJNKIZZ73u8+RFiuw81+bG4+K3L2NtMjLW7xut4tg8+LIr0MCvRyRu8omjvavNJ7x9r2PPcJgwpjg4zOKPvXtNPeVB4NL+BK3VUMZqz5kGK8hY7b5cYjGtlCFhXaS2P6s9b+Zj5svZMMvHi2+//dPvyxcsD7io5DZtmsxX3oUOkTEYp2jrxeUtzm3BUCIuIRsWHfuN5lKKk06lS84U3xiKwKIkEuvOHxOBkX9382BqLXY2OECngcId84CrdkuSSOZ8pVkkJaOGlLTuNINb/y6Des/ULoaX73Bo8ySF7GdnoklbWJ2dj8U73/yMwRisob279t6+h4EpT6wL/dTVsTWI965PjAvOOUuhpP3xoCiGGBEguZ7Oxarx2s3C77puMObR7BX9999YVHbYpWt+OyP+BKhEyElV7kFIXlIDZQEa+8sShTFRUuDWWx72j6vSP2zP9vQo4kzFtFGxauwS5vk1b3SUeHQN7W0H/7gdoo68aLkI/Fkaod2+UyudHQt7idgt+/puJDW+Nj7vx10NZqXHRWHQWS5nO+G4S7Phq9ZOFxnTKmBsP6HPzQsL0lKXNqEdH1pWmCnGQjWpyhKTVhzn1id61SQ/ittR8+/ta1xINLI3q6cThQ+/9lr4t5mUHA1RAEhhjtcNPOEKRoOmwOnUdN6iERD/ccYkeDqFzzBXNXiIhPW86b/R91uwVutarv9dQgUvQVrwT/bHn1MB8CtN4lhXuJd/HjQPHxwO22KZZnVLdHi6uU78/BWVCp1K+zXwB9m6FGJfXFi57ra+gJKTcjBHWVH44GP32DwpGX04pSB+gQ6rMPZibs3+uQNSjTPQ72TQJtIRcAi53xa7OzRtX2wll8H+b5enGqf2mcWmEvqa54OSmQjHdLK5raIoxlXnoUvq53NSQQJSc6zYDNElRk0nXT06+BD3JJG3KTEtQzTzRF9bEbU+6/wTQYidQh4tw3pkczSh3sP1lxvU3JFXtDa4rMQdzdMhg41gWLMEIhg3N+wFrqa6tCUcTBEtP7OD7P3+CVlkbGyaMraXnb97pw+892IrFHsZNyvTtCSa9Hov0lHAI5cAB0WA3KTTVNoGSJJbwmmRYl/sEYNwl6KSUuz/sFchcSU1LUrsQGe/+DEH/o1vpTlPWh7EwC0Y0tEjQKSHXj4RY401EQM/kOgRc3C4u5orgq8heAl4qGp1CMHI9leqLIRcd/uvCeVfCXhqbNvk2SEUcDKO5U8UqgMKnCEnHaDfQ9AalxWonLVA2inC3KZtFJ2H2LnXq0cqm2LoJ9bE0GIKkDXOHvivt2rSbAxMEqBjDmifiicJzFWxDmBbcFJhVn/ser8lOeerSQ+/hyGpcaXS/dpXkymdH67f6j3yFS5hTs2YBbmVrrVXiQH0LzSgpWS7MV83u2AUlJwsvxaNZovwELSs1RmqWyA4vtk9BGx7B8nLyeWv54zyfMdqnqkf/9sn3ty9ewuvS+gB9tO6JatHNyeg0MxlKDgD/ahKCIcQIuWkZklA6cfgKQikcwMnDiR1IoyfbDxICnznt0RKtaxki1mDX1UoUFCmoa9ZPH0QbWJvPyA80kLW7sqTBdgtZWdMnqHVxmQMnLIHmp+refbhc+NXezWrH6GP75GijJmegY7hcHiSAdae9DsrM+WTraaBK507QIPY8jLrlQJ+jEPdBH/YIdXSJO7isuYFEvU5tGveB3JY8Y/0tyErztR2ECq9zFh8MNYpkXIVddD0xtMweQQJ6J9ViTTZgRy2DtmTydVvptJ4hKW3F6MhEe1WVi3HpAz9OR2WYsp9rCJB6hlSP/tnl3pMn32Wgbs3NppelnXuCCz+atsCro0UCT5dLo0W01pfpy8x7Tvm2leXSyRBmI6jp9QJxSlERTj2THH2vsm98yKlbX0yawLQUEWq1a4ktaIs1whGUyj1QYZdcKlcgZrF6MFE4oaWOQPszKQAzU0ECSfx8itGWO/zAm1Wo1maMPClBOjmMAEvDK4NGv2ehrY/PGiqY3WFcULflLwpK0xHYUSp9hvrq6Nbo0lgxqulzrz7gfQf7cdfirJhxeDoFG4+P2hUfVNOUrCZeZAdosffSNXCNTQLVQsaT2NNBLUgQi9+RjAxJRhF5D1PNqbs33cXX3zy5/ZsmRwc7pY2O6cKeFP32jTfHrooRmODqQkBMQImQK+rHv3cLLcU+sFNeJRZI4RMldEyKhSoL7wNlfxv82MITl6QFpMHLJq5wiX5br6JN8PPbZZIUtFPfG/tb8H0oot1lKitUBzwpljA3Z0zzxWpLw4gRtA3OEiBmegi+JAcGvsUmu6hHcZ39QakGYWpw7rSw+RrZIwf0sQjeWKfsEfXB3ZPw8quZPjGJzOkBbSIIFAdIsKHJIlUnHn8qgFv5ChrPPsFtYN744rmhK7d444GiXNn78ChqSIE1tS3STp6z4rMiyhHLXpAuILagZBnnsEpCD/W5WAC++vqb27/bR88JdM9EppBZqJmhaWMsIZb/bUqVHAh/TugLCzTFRqFndrLoaO3y2PAzkRFX4y7W61HhN2RpjUNnTLZ9/dBMEEOZCSQp5fWVa6K72D5bKZvtCBi/R+iOJ8ClUbta+YOHgQVFq6biqtBETEICEas4nEgF67BBXYXDdNTFyk0OhKaUJVS9yiRTosk5QEmAZfOKNsTQTOBX14juofZ4I7VyL5uV7H26ySETJq9QlrGpOTbV7kkoSoOiCHG5AlWgkFQ3aTcm5b1R13WZqs1RQBHYWGCcPYTe2XLnCEItnaDC+yZO8lhky0bCdnJ4oDM8Gr/rWp988vHl3uPff3374vlzaq7lY1kLQ3Ms4XdgaV+OBNG5gXVLCBWZN4niWsIj8F2ESN9FtWEK9jE0+V9qE46AYv26TqWLdXAEzoSJAyFfCCqQ46SIvaNE6OPaaFE801QBEvwuej9jE8HAhfVCs41LQqnudfSPu7L9rFi1PcxaS7QqbWi4Na1zD9B+WLMzFVKORI9i9DoR0pfnhoRhEQsODbbAYeRg7XDCRPfbqqQGp0mrSB2dYOsqlpkg3mQURYrLMvG6ZEbIheKiIFbeZpKMCwbNjaB1Y4Fa33LPJR3ES3aeTDG3a2vgYYboNsZLfZDOQKgzqtBKVPqp2HQfP/4K18VyRmBZPmwLsh4gCypk5S46U9fEtQwe2iVG2MwrzRBXLTzBLW6NNYjHGi633yBHrhWoa7B86ZMgGYyp6EBEXVoiAa5hvNatBDqzOWwdjFGX+5d3xvJjFO2io0lcNmYtUh5BH2N8/IgTVBnb/lYtc9Z5GGxMQgv/+xbrkIFe9XvvHpTF6cNAa23OAQFOw/VTEGhxPnpD664RBHNAYepKv2fSdlBlVHG0qjEBewK8Nuz0MGtvG9+cJb91dU+3hsc9uqpymO0VhOVBL9GYvlBhsXHLSCZ/F648oedei/cR48BbmeceFaBg9PPLvUePH98+e/4cM3TMKxIsSG2KBK9DVmnfcvARTc1Q1gZcLKpHmVRLWM1QF+OD4+AkWiMbhN8OZtuWMw5DMVZQFAtryOIbHZ1m16f/hKBcz04NRnFf3BY8Ugc5jtjVzZj0v4PMAQw3eoi201rafvl8bY5hAqFo9+hPNPFRO6LzRFNDYcD47jnADfr9b3nNB0NvYEgjijV6MsZ145Cn0Du7XpzMcd3KCm2pK7QWjqXyfOJBaY2IY4sIqAXLkOdyU0YD5sDX1WnxXS3IdWmBZeDINs99HKW8c2AONO5MMlW4dc+m2Na9deJ4S3Udx3Dznhz9u8ePbl+8eOaxLOwJDc1NGNnEqIVUfnoTDa1Xjxm032lhJpHkQNB8jYsnN2gtLFr41af+qDGn0SFIif29LFjQFyd2JMCZOzTwUzOP3Yy4JrVGvqdsFnZc2vqoYHQhVKxCawZVBqvERRjF9Jzt7GqJ6yIs6GeCueVYsYbSAraOPfOKfC9Y99NbQUxzWEbrThC92LrilJPUfyxtDmHZdLECsj5SGnCmdI/6GRO4Dt/NIji4rJv88bKJfSANMe5LjcXcMgAOP2cHReWSkeYjGjSPy5ehW1qHzB/qQfBaRJDbr2vlxEmYflLf+/G6r6siPdP83QIvPrZGfxYhpxSSxThhRMbpod05JiUe7XjwlvLqJkrAWSy+Gt/dKWn58vtS8O9nabhvl4ETOqYvTLqtay4i4QVp9N28gu1cHKEZ00gRLGXna97wA3OoMq6wGoKNIQVfk0nHTpljt3+VDQ3ufQjqQKX4LaE0zo1kl6w5AAAE2ElEQVSetSOpXdmxJdiuumto28Y1uC3YJIrH5mDUhTlKDhDqa6iwWh8FhdDg2SyVRzV4cUsJjPbPY+yTnur31gfnPkLn3eK2cTVb157ROYka7Iq1itLIGcFkrT7u4h4ar4yFnPUp9NhDpb+XxbeJMWt0Cfrz588H767f6QVy462gQnoX65fVbbHWV6TNce4TTsA6Puyx+QSk8Tc3mqTHNP6jvy+c12PG3ElCNL8w3go6i0yyglLNFurjvdC5ggZyy1/mESngATFgrIgBusiUCtbuf/jwOEz304WznIos8CIBVxo5LX2IudXDwF61RK3RwJLGGpTFwOuRlrvECySfQmVni7otkPp8/X+EmZ9eC+3Ovdo1LZ101rvuAX9n/tCCD4FrUYOjEKUEKg/6V5luykNoWK/16HdOWFzU5ajLHzfU0IsB8Rn547LgwsCW9q00JaeBT+86GUe35EfkMptk9NGjR7fPnr3YSkUjLYHGjLSEijiCPj6e3Zdg6xU+yycuC4fCEQ+UyfXjDWkFJ+9GeDd6jovc1CxSmXbfzRbXkxx20ZafcbHulIHSEh/oiQtSTdjqyHBAuituW75ubsIs4EyqFpDEB6l2PVsyohYSOEoq5COwsVIE6iBT9VO237JFTptYUiDZ+aLtia22rXW0UGSYQOnaBm6bKc7rQp33Vgtgq5H3kuefo5H7xLffYq/Ujt/pWDoP0hkzjRt71LVzbVh7T7eTvU1djVGztxA0mRMHlxLvRmvtLfG9GU7MuNCrsl+z76L1rdG//PILswDoBqhZyQMn60jrmsaDpGQ3otKTPu+vIDtbGu0aiIl5jgjcNAXHzapP6zYql5MO5QomucRDmVE5iaYp0Swa0VPDCmhz3FGesM9BqL2iZvlSl34Gqi4bpuZl7qtT8WwyUwxmPztknJOLLm60mrK0DSSMkrULlYNvpgKZkoUqADds9LnzWFjN6+CwwrvWIWry+MxVsF4f41j7gRAPMa/FPCsGea1JuPeFdDQ2+CR5luDZC0xwf9wT2dJeq2jSXDPFcXU16c3FtWr1or/FtCTg5cbSja0n4ZS47jNp9C++/O3tj399NkGDA4fcKBgI+Gh5szmlJIwsNvbd4oHmb0oqjR8tYU2SoWtZE/nu5k2q1Yrreut4IAtGhMZaNZs4qV0aHhykxJw67ZtkRK2f7yM9ob2+4bv661bIWiwYfj1Y4NxQT26I43k0UdsuBKGwr0xHCGpgAi2eByu4Gr9JnW7cNXpzz0oFhOPAkFM3QzBPDAWU2IB9LQLPudq88NxozPi5zGQNahELQcaGLKxd1xBb8Z3LM2OEzPwdbXoxeXfyD5lx6i07s8TXCMwc1Nwvz5ZyjuZK3CKYitRYzYGJHYBCbzeoWn36NraLTVfB6NOnT2818fkUQv8+8GB1IO/wwrJ/R7C0csgfVrP0t/q9nGjeYv80dR6JirpHq1+CYtTLJdGwzFBREV2qWI7rr2k7Wysa8ecC1TVjeviy/B1h6f3uN14/23pcfB+uzVEbwst+van9XDnP2E/sI1/9Rh/IJFfuXD1vvdbkE9ivN7jL2/3r49356D5wEnmFHaPRE7vO3k9BRQ/KxBm5aR5+to/LRbNnfe8+7yBXk/6K7GVPJr6dcg5wdF9qDGt/uZh14n9LTGNkPtJNvgAAAABJRU5ErkJggg=="/>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3" descr="data:image/png;base64,iVBORw0KGgoAAAANSUhEUgAAALoAAAB4CAYAAABFLuhOAAAAAXNSR0IArs4c6QAAIABJREFUeF5svfeXbdlRJhjX5k1vn3flnSSQQwhBq5sWwyzoppuG1Qame1avNX/PrJlfGAaGhRwyoBaDaZqeRq6kQrZKJVeqUqmsyrx6Jl/6vHn9rM/EPief9ETxXmbevPecfWJHfPHFF7Eb23fuzMbjcfBPoxGz6SwajQb/HTP/Wz/FC8q/9HJ8PcPL/G+8ooHv8Pv5+tmp98nvVz/Xa+t/6p+ja8Bn/NQffTC/jc/wLZRPrn5n5svRPZXb4K+cfuOf9THVS3Sv+iC8p+4B94v7Pv2neie/7NQr8D3+dn0Z7r6Wn3nTXla+fe0zyz9xjbie5l3Pqvoyr0cL59spv3/XM8Zn+CJ1OdU66/fx87yW6p5lB/U/WiO+vNyz7Idrh0eD37jrAejx2s74L9jCXXZpWy1Xl59hg2i3W9H45lNPzQ4Oj6LZTGNq0rD01rkIuAotgIxbf7fydxpY1IYNEhcxi4YfEi4Kt8JNRCPzDefFerPwhrnRqs+AIXFN8jP9dV7XdDqNZrNZbhxf86W43KmvfzYt15ILVt8Y+p3q4eJr3R8Mxt+fynho1LNpzPgzPBRebNlk5ZH43sqWLptQr9U6NGKC1/FCc8Pqs3Phc/Pm38VssNz2Jbr2pr7E2zSnMZ1Mo9FseG2w5LpuPeM0knRSp58rPgNrij+tRjOmlRXYqc343rmxG9E6ZXj5/rShRiO0vs2IBt5J15QXKwc2i1ZL76Hl1o3x6nytfMb5Nf5dntnpzYzX4FNatEW/X6MZS4tL0fjmk9+ZHR4fVTfROG3oumBfXN3wsSC5k5otviZvint5Nqn8+l3GUG6gfH/GC9QiaIHwh+/nXWn71fdxtdMpFyINvRmNwCfmNWmD+Q+MKf9Z24DlM2qfV16Id6PTnkU4ynnb4cLkfbwPxpNJ2eiKgjK6GdaueOXaRuFmkfHl5sgNkxsvjQCfnetVjMgeMDc6195RlfEF728Hoa91PTD03OT1zZ03wudsW2vbuMK/U38mrRaeNfZqZRf19zv93npDbY60ES+cHSrv1QuRG1LPZhKtZqvcC5+3X6vP0H/p9GUtdrI0dNnuMgz9W9/+zuzg8FAXbaOqFjS9S3oHPawmPhwewobaaLYq+ygGBUOUtywPzYufBsoHJcQUEz+o+iaY1kI3nZi/hids1bxwfh9mk7cvj5vGnh5Z71H3lLq2aUzTmPkZ+DqXzZ6ldof4Gbx6saA0bEKGjIV5JViH9FT6G5+l0JNQSF/juuiN/VkyZKytvJwcP3xoI6b2fnoWMxp6k89Qm6fy3Pm7eG66pnror/87PTk+rtloGU6cjuK8lpkjOB9KGq1DijehbCNNChEd99Xiup724Hr/ynvnsmInCYKViO5og+ePN8/7wVJyTeFw+WzSEBq0k6WFxWh86+mnZwcHx6fCRN1qccNV6NSH1uFCgby+X13wXUCr9oZ1o6f38zXRRxpy4OG1idlsmDakNHZ8v9WUd0gPWHy24Qy8QYL1u407Lwevwb3gb0QI/HsymURuMDwsGnUNDev6J/x+GlRGBryOESXdov11fn6uY/F4NlBFAEGKfF/d2yTa7bYMJkE97r3VwlYM2jWNDkFnKu9n54Jci14c19uQC6BBlA1R3wy64mLovu6Eo/n9vO6CtOg94XENFXBNgQ2iFavnLY2mNkiJDLhfR4t8HojKxQlybca81/yTTjNtiOuJPWT4iujTBBI0RMMNw04WFxai8c2nvzs7OgR0yd2nkEQPZ9xdGWezLMbdXprYyB6l2hh+5I7yijbVTs/QLeOA97VH5EMHrqv8I6O8nrh2uqGSjI0+WIsIj20jzJ9Vhie4o//w0pr3M9CZTCe8bxiEvEYzJtgE9jqCRHofubz0yoYztT1eN+y7DVnWCevCpkGeMQ3aAowko8wEn9uioWolsCYwSP2uMDnMI6NdRpPTRoz3pJGk97UjvhtuNOk9hYexxvgfPh8bH+vA9+CmEoTQehvCMOLwgkrqmE5Sn2Pjr0V4XY7Wls96hnXIDF35Tz5T3Gcd1sGo8xGUfZloEs6YUE33sry0GI1vfvs7s8PDI3mJU4lZ3kTdQwGL62t5dXsK7ExmumlEP9ujI4ww7Nisy46nJ9fD4CavZdVcDN3z6YSwBnWQNML4tJ51aJKbNz0lfgZDDhpvGl8avx7iWIksrqcFkJCbtf6+1Qap1qz6uTbY6a/ze5VxTfU5zGX00IQE9LQmo7GMC8kePaVjX0v5idYIP/faIyHN5L24rRqJYWOlDft3xHRU3hwwAfAnDR3OQ1A1DU6QJX8L3rJAHzqORtBzp9OEdy8OtPLW+fwTvmEDMpdgfqif4utkaXjNNvRTaMKwtw65AOloR15LBLOlpaVoPPn092b7BwenDBg4McMWP6TsQuPAzN75M+10PrBkG2zMP4XNnSiV96tyxPK78jrIxLUwTDBPeUkZfUl8Ge6VgMmY5NmLx/VCTyaiUBVVp6EEsvJ8lWEKQ1dessKowsz5eRWWv/t9kp3J79fsrhiJMDc+S/SQItSE94brB+UrL4qvAUnsExuIANUzKfisISPlNdrTGp2LPbmLoUqIgDCfjqWKoknpKseh98bzmOJ6cC1aOzjHuiMgbCGtkA8MjqtyjgnNYLQKhloDIQFBDu5+M3D8DDNAfGw1UqMYvAK/fh9WDtvkV8p18DsrS8vReOo7MPTD6lnUWI808gzhSWMBWzGs2csUXDUdF8bh9MP1RSIcFvquES14YhhOuWHdqGg9LzaTn9rlGdfXb5y/n0abnqAksjDMcYWzmfDJawqjy9vnNWT4SKiUm1LYudqZ3Ay1z82LlEHqYeFDmCTVNiANnH5Em3M8Gken3RFsS/ZnNqOh8yEzyvl94G1nYCJMt/l9RBvqadNbFzvz9zLZ84OfcI1n0Wm19Zn8P72WPHct0c9/F3xup6fPcVQp0ESsmbyJ4ZLoBj1Av/ep5Dzhj6+NNKSTAPI0jiaZN1V5glk6vy8TaDuGsZmvvKGVZXv0o+OjinXws0xMxizZ+EyYqFl4ZFBQyVbkzWSiluEkcWqzBf5TlGNZSHofPzQl5k6cgBb1OiSHuZPpEUydNb2gac8JibgFTzEo+HoSU1N9vB7FZtFw9KazoMe30eOnuIK89urvjFpOF4oRm0VJuNKsIBxjAw3Sn1WsSdd1fHQcvYV5YWM/IDxU3beuM1mudDwysqxL4JE4X9BdxQwJKnnzdvEQeE+8n7z+pMAyrn8tAmdyl79YRXPtntM5AYwLXlyJLl/BhNOv5TedlOZmIJNSQRr9Tm4KpSFidnRPcISFUiybwfmJNybvyUwcbcQxJe1sWdDluywYKawgyVAYydCghT5NzGsRdDPj8SQ6nY5Da0WN1ReKMAPOyZ6G7AotbBaNqd5/DO+KsGgqjeFyKujCBWailgmY6QPbF4wiryeTpTQcQZr0qsjkTRsiDPMnMEDAgQkNnX+mWdiRscFwZAyAGtp45Q/hh4sTpr3kwGr5itxkBR+w4b3hionyloRNsR4jQpc0HHny3PAI0TTArMrCrm3I+RzlUVvlecrQca/NAgemDcBC4GpbjHaSEl7j5VowLUljRvBqEfB7enbKpatIQnuyYwFjyciTZIPfIDeaNpIvIdfYBENu8kIO1PKDhMz8XKINZvku+oUKRsDoSEaF+05fJC4qPfupm+LDAGbDL1W7c4KHUU8k09066w9wxBmenXEXIoUX7vDmD0tMBw8taz/NJmAj6DUy9GrBMpQLHuBaMzIUflx1IIALU3q4Fz8Ih2V5fC2a3r+CLuXa7H3lDJKNuWu1CsvjpBoQj+9ZedNpYO0U9glpxmNSi3njBR6y0mtrKBXYrCAITqJQog0N3G6JAmlFGTJeVTkiGZecqGGM+Xa6AjsXvJ6QyTZyd/5lXFJVTGvcuJyOIqfuu6JR8T6ieG0bfH97+LpDqS0pMf5dmF0QLKnU0/BrGRhdHv1YhYoWCSbzog4ZWXGr7VIaMx8qIpUNvRRnTlchsxQLY0XSIaenMIrwykfEL6rwl3qGesJSZ2Jwk8m5pgHLyOyQafjV4tYNtM6GkCZzBfa0kVZMU74+Gaa6CZNjN1zRPaiamn8KFiVnrIeZCWgmStg7Les8Ji4kTJBTzJTsMalyLaPKhU7LFvh5dBKpG0m8Dk5bVVuuWVJy5t5pYDPlKbrWJrltIVTpnqp0k1kp34dJaM2Q9TxV2CqFx5ohnsL5M/yu8rCEZndvGhIKyfQ4wjFHqhl+OuD6+gPCqRqK8CgsjHtZWaahf4+VUa5V4WVVOs3lSkapumCsP2g6cLxiDGaTiWsXVcbORE9cnbC9HQ88cXpg4iuE0DrOy8RoCj+Hizdv64iQrEPdaCscnV7Y1wXPzSRZd5MFGf6btiGqTt4b0EbXVopFd1Vs5Xm0VnVsq/cVNMrfzfDJLWBKEO8uiKhIJLw90frYowuKqTqJMKyIJOdwt4GlZ5OtJ3S00ZF3185L+KnrF6TRfVRSBvrbrJCbbSmGZO2MOP4Z4SqdDJkSrXVGH8EqXllJsnndXO+kEAUcE9z/FByiLVaJLa/DkCodoK61Ev3B0Hmf+Cwuoe5tCcnot75dYXSVW/1zhgcLc1xupSxnWhHxdQouPWKd59QF1cI93hqMR41G0QK4Qsq8TXyOkhh5/Pwj3UgqLGU8qe3Ijaq/9Vtp1DAqGpp9W2bwibvF9CT0qSBIYr86hqx7kPr301vLeJIyrK6BuBoehxcIDj0LHjT9ws5gPUajkfOeKqmrb+qyHrSxmpiOZUEC4VM4ub4ZtFES6jADK+IvEAaZtJLbziKZEAwrrynyIuQoupOkmE17uqhEg6/9J29awQ49ED9hJ9cl/zF8qcsWtCntsclcIAJV+RffzowUrpebOZqxTEOHRz86LlUz/dC7L1khe20arvFyWYQirKq0LTXbrIyU4USQImk60p7wuGZcFHGy0ihvK/GTDdzelgZfgwx1L/2zvHx6VF6zsSBf591xKtHLhLkYQ7Iz8qj5WYnRq0ihRBU3JCcq9kd/cL2AEVNvTntSF1hwO3UYBE8JfF4P+XX2qRAFNVFcqVQmlVd3EHeF/FMVxvTDZL/s5Wj8ZksQ5ew125AY1PLwhJwJOxMiFWNFJHN0QgTQ+gvmlGdR2MeSlicOO3X/9YTTpm24pdwqP7NOnIhRaiR0+QExeuoO6hfJHcKdnbvQBQ7jNNxE5cEryJJrnJ4twx1lvTVDyzQv/5bdFY2gvHLN8LNQQcOZzEg9kY35GbqTNES8R3r0+vfqYFqbIzeqKFMENCW5SfuJliuQy5j79KYGdJHGRpFRD0+wxUW1hIg2noQ8E2wKF5Dw2c1GWwmlPVh9rYuHJlMzccEF95C5TsV6JDPDdagxFfmcEzKIBJK3TLaHUKEu5bd2JLG4UI/gUUWSJDnhe4d2aDqNbrd7mr1L2pGEjxWfdjxZuU1pQNpFxQTWKqUsLHqd8JGpc9ENE15TAvDUt38w2zs4iFarLc+a+CollPBETCxOe7T6AxabBpyZksnkAeWdp1nMgLcrXk7vQAx/Sv5TvTOLOK7c8YGY9ya7g+qhk8n6eyY3rjBnKS8586oRoIoAWUqvqqslUtWSn9NVWOHn3DQFpycxWoxV3ivpTO2ZhEdiREpOwEKa/KHuJYVkyF8qXF59LnKOLAnKD+uPoiU3CcUwoWSyTtXdxTFXG8Avs5SjAQ6+KBNNOZaN4vwnYawvvg5TjDK47ncnjkWoZdo2C5AS8Oi9C01J6rTOolRwTp9XZ9tMLMIJFc69FSvg0Z96+vusjJL45+LVKMZTeCqx1Ezht6gYqySspCBFvpu5kC6APzcPLWfnZDUZnbIJ5OOVgLhjibS73AsT1NlYRoD3qdGWVVKqBSgRqiSaCRuUDWRFsp474PcGg0Hs7uzE1pkzxRPV8XldF5SUJSOX1Y7KWYyFYfB8hsllW5TmjasnCdyeJX9VixOe1RNJuwcXmPysYOnMAfArWQ+QiKsOfyyj4fqlUZbo4K3C17PuIahBH1ZXZRY2pKJ6teZNyjayWp651anP0YeV5gtFIOwWQaYUOZvb0fP2NYiCVKRVkmuHA7PNXMGIgNbjHgk8g5XllWh866nvzo6Oj+Uh+IHAT3S1ZTHqSRnZgjqHxjevIMwp4/JuwwKLtkzMas4aCZmwhRRxbjJIXpWL7ASVeZYhRmqxcY11VSEjRE2YVr/u/H4a5f7+XiwuLRRqU/oWkeuoov7k1Z9Er9eLM2fPnGoKoxeu43yvBf5qthqkadMYaQDWqIM1UeFMUY725I2gFrKqHQ8PjlClJc/Gy+LmRiQT5ajKrv04E7D07BULIRLcVQAbE32+nUwaYQVfsqyuiiYTQXPr/CRK1DPxzGeZjlGGrjdX5Ucsi9kTVaEYfQoEuTsx9WvZhJO6eXP53HSNWmXdDGHSF9WGFgRTN5N0OTT0J7/9/dnhUd8MS3r0TCsyJMoD1Q3nlEG7UJJhP38r6atUotFwnVAK6yrhAQ7Ho2tVayej9lNRUicDGiceI1qqczL61PS6dRGTPstX5SR2MhlJsckCTCNGrMwqJxmNVblstaWtrsvr60Ze31iKPoo60rc4ohAyaelJEbpcX7FR2fihhgSKuYpeUY0DXDOG4zEryanT1T1VHHadzVKCqKokl5FuUm2FNIJWJQ9Ir17lZ/o9+r6smiYx0WwXsiKpPX1uSxsjHQ2LA05ojf3rNHVGUtlMUtl+hmbH5KkrufgsIMyr8g++2qwLdTE1iCZnoha+lZVi6CfF/Ytflaflwy7lZRVgpihAJJ7M0FYrT1dGXmsj4+Kmp6kSvLKNYBxMfIxFLOyaNGD8FQTIRJURz3ClDlUyzNYZmdxY3ErmvpkQO4rk5hiNUIlUPoINxDUgnIChy2PWN1Jee/6diSoNzFQZcwxgFq5hLfUuxTW9tzx7NqFAdDZBnZQPTmuitjwnPGIQUwTG94fx2fU72ZXXtHNN+OGgL6O3vpw419y+NU2sBUQKvuRMhLOB+LUWjOx+P1F+0rInND3dgmcZsrXz8vj1TidHjlqRKTdfZcgVVKon0lhbMk78XVE4vG0umz5jZWUZevTvz46O+26dqpRv6Z35plYMwrUl1QRjqAu39HpLX50QqRgjo6lz13d7fsITP5XEkaoyVtReiQal+16VxlNe3JtTC5GVWDMheiVDKxspIDIz7qeaz5VhMh8Tedfy3plUKusuQjaUs1Q5qhKm9OZ8JaBYbpCMZoYoJT+gclKoURIAe/is/uqNzGlbr448oCVvCUiHv6HPrDxyLc/i++H6pIbE8k1C3UjpR5nwn5IFVNiePY4t6GPc6ZT4nusH2ULy8NpVqSBU8UsIIf/UqT/CpqySuxpbh1BK1nUf6qeuktB8XdUJJmEb6rgqPKrQln/Io3/z28/Mjo+PS/KXF1PfNbwo3qArh6bNctcRJojZsgtBAcRoI8XktAeLfgqE0S6l96G16NeZLNFBVZpxbjJwsubySxdUiSpuxcPvQCjGDhm8byWgKrAjYQWTYzEc6lGX0dS5chm7qqtlgUmhVPShUipdvAqgYoUk/bXRuSil9MfVSLfScVOyqmqQk564dm9caxYdhO35TCjWSS8mj56b3A+iqn7aW6rVzCpEJnfZYW8MncQAHZyhGEg6S3rriV81VcDxiA0PNgQbea5ZboKMwGnovM4kHHyNcoRK0Fj9NDZnhpCvrdUG6MPNaOEK2pwqULFsgi5P/9ASgGpnVsDeHKVFPxkL+RAt5M8HTu9tiWTi0/puziQwUZuMIj2Vu4OcKCkZd3KYmTQ6f4xJmR+YMszNlguYCZ4euiADE0jLckVv25JYnUyjVYLIfMClcdUB5HtxrbkBJmNxw4xv/D6ihBJybEBKfh2NCGkm0xjbaPh6CMGskc9pBjLgWSC6ZL8rin+Z23HERiOi02hGt92K7sJCzC8uBDryM+oy+VMK+FPFFuVUhhfpj2pYmPs2q46ZMFIlmaIvJ6dWTdZrK6XygeaPjEo1tsQ4uGhlin1ZYZgwpvL82ixspKBOKKGIN6WfLf1qobT5hQtd+nd6/NU0dCSj2WxsQYVbm9TClQ+DRlrzMpk9y/DSo5syoq0qeaBxOXGsk/71imS1carEMQ0SRiHDrsKgHGp6UYupYCjjsQwGOJciqikND5+P76HRAbqc4XAUo8mYctjZeBzj8SjGU6kGIT2eTKYxHA9jMhzHdDyJ8XTsTqaI48OjGA+HMRkN+X7A94NQNZM0LRmWGRNnbjR8LqIRPKihA64N9wxDHU/Uuc5rpazBs1Amkk3TdJFTmLVYaHVjfmUpLl6+GFevXYpz586SIapLoXOlCpwx1UNeG7As2aLs4rEeSaDPUwDMeIibbxUJA5uwLRVOR0MPXSq1euqNVrsiDWEjSPhyk7k8rw1o/F3yQSectD0lnDS7tD17fJcxiSYMnARZpZKTnKEZsbqymh79uFA+qV9IEosyVwYkC6yS0DcV8dN0nkM1mh0KZlYhhA+r1quZTEoyJammY95ofUXB4QAh02mcHA9i+9bNuPHm9bizcyf6J4PoDwYRMEYY63gao9EwZuNZDKYyMEoJJvKko/FIsGqmjUDaDlVWtu1l0ufoNGV5lBMJRAfOAsW1/Z0dEwgqCHHTTWfRbnfj3PkLKt/jfYmMtHaENmwqTiLQUlqwKTBoYAppQqsxIhYxMaewRJaVSktwW412tDut2Npaj2vXLsU9167F5uZatDodJ2NVApdGQnux102XpHY1yXtxn1mRJNljibIghAwK3+fcl4aKU+l06hg8Nyc3Qin4QJviPoAsTjLR1x8l2Cm9rk0UcPJMFMyeEjWOiFSoTV5wAiqhmRqE8OZrazVDLzuS6+1BQLn9eCUO47zA3AaneWtHEhoOpZhp6Py73sup34NsdzJzlc+42eiEhjSdjeiF+8fHsb29Ha++9JN48cVX4satW/yeEr9GjBAtWpLcwmO1SAk2YqyyonyUpZ9owDU6kSfhYtRFScKbWA+U5aHvaKJRwhW67Tvbcevmm0rsCqWlR9Wd68Wli5ejEW3nK4AiObUsp4rBa4tIh30hGsCIVAhpxaTZiBaTWK1Lwfi0UG08cdxtF6FAR+K9I5aXl+PKpctx9vxanNvcjI1zZ6Kbmpki5RDQAH9ysL8f/ZO+IkYDCSdUjdR3cLPiHtudbrTaHVKtxOksGOUGMlzItDaNuBitMLsihKrTaWdZJOJWynEVvBCtJWELYZMiOZNSsyi0z5qMN22rliRWhSb0jK5Rpvvs7BCiLhsE27A8giA9rTCgNBVM2jw/pIIPVSWzxCYzLir+CAer7c6VrFJosUTVr1FbG1rM+nH9zdfjlZdfiVdffjluvbUdJ6MRDXuMLnnc9ARabngiNBh49JyNRmrBNmUC48mQGwtJCjwK/kdNCh8CII12vvIMibGAw7EJGTunM/LsYGOQuB8fH/LBtdptwiIwNKnRhqYjpk2xOvgf9mCtmkjpMlSA0H+0xRzhfufn59k7ChPstKFzQUJrBak5B/weoQ8iADh3PCfmYcgPcM1g9+DlxrG1vBL/7Nd/Na7ec4lrX+hAeOxoxN6tnfibv/6vsbevxng+UxoV1qkT3XYnFnrdWJjvxfLaaqyub8TZM2djdWM11tfWojXXoSRDYgbRiz8l+Mo5nqhSFgbFzSY1KCJEQrdRw6aKbgmNMjIkbagK/mkmpmwiwy/9LujFVUgAnvXsxWpcAotYTsCEuxTkckJUMgpCUknxVdhcpEz2/WVC6MSGmAzGPKW3A85Fuf1g/yB2bt+O7Zs34rU334rt7b04ONyLk5ORChxOLppt8bdoUjD6J7uCJe+QlYBhooteOBu6mOP+IcdHwNCRNE4nwtuANeOJPCqwvTa2OG392yG1VuTSytN0hANJVaZMIX9BEKj+2MQqnaKmKompp1e1O8D4kii3Ox1CIWwcGD42Fb6GJ2+0sVHMdHAeTFJc8n6T6YjFtw/80nvi5975WGGSsN64P0Cw5773THz1q0/FyCoFsaRVQ0dyOTJiFZjm5jqxtLQYZ89txT2XrsSVe67F6uZ6dLtzWpPEIAkhBKw9mu/0gKT6JIAqb7OxG1uX2Ze28sTpOTEhOzwT0auuVkEhVXansbq6Bo/+zOzgqF8ZUm06jhiKSttTenBNNyoCq8kXFyX8PaYxMRkcATNPYjgYMvkbwKiPj2JwMoijw4PY2z+Mw53duLO3FwcHh9E/QpI3RtCm1+OIBT4AeGwnLQjrxrX44RgJ42QUg8GQxYrRaMDPRLJINgRYfIx3VMKMa1MRwgkLY0Pq7m3FbL8T1SSaKp9iluk92IiVzqReK2MvrJBjhuCYqMDC7DjRqwpeWMt6pVeyWVwHjA0GD2gEo5qbm49Wey6A0ZsdRBPTpMSKE2Ln6XgcW+srcWZzlXnEcKx7QQRCdNrd3onDo0GpPp8eHCrEDOfRZCNzpWEnpRiTWGzPxdbWmbj/gXvj/ocfiI0zZ6LXm5NLInZOg5Oxs6hTG3Kqn1eK1yqZzbXib4ky9QwhIgtvnlTBifaW4znNBFVAhh4dhq65Lqp8KRmVErFAF/cejofH0T88iiESvuEwBifHcTIYRB/G2z+Ok+OTODg8iMPj4zg8Oozx8SBOBsPoH/VjMBrxWfcnMEzgSk2AEvRoMbxz2lcLcKMaLAEDR5UOD5C54WQao/EwRicncbh/yGvAq8FwKHFFNVELSL0IvB8rnYo+5NbdPiamRzSW4K/57TTMUuypunHYr+nScG6A9NNgbRA1ZCZ1PXotIjOc5pTZWnUw9172gVqEljrz/B08UOQN8O6ddjdWVtait9iziEm8Mzh/XONwOIj9vd04OembgRJU47iPiNjY2Iz5hXkzO7UkuHaNbbItmlbG6N5oxigm1CVhJZB2b22uxdseeSwefMejcfbsGeL5atJbNqF2QVK9AAAgAElEQVTn7EetBecvWoKdbE1qnE7Jcc20VKyc3g9RVHAYzBXWM1vzEtJkPuABRk/B0I80BYA4i7ZSNfnC/A527sSN62/FM08/HS++8kqMJhHj0SRGCP305qDgxpp7BxhBDK1ynxr0NWKa9RmX4jMk4nUtZMil+gUDAd5TYoTsnoxHTLmh9vf2YzA4wvgBwhSGY3pHhWTqKzKBcWVSFFaKygR4sncJobzVwBQDhf+CC22bgmn6jQyRGaPrVKveX/daIiEDRDUZoVxHjSfN74l31xZRFmb8WaBS2T7RmOge9boWmZfFxcVYWFiOue58dDqalzkYDuLNN1+L4cmgapkrzQ/NWF9fj9W1tWhDou1iXCHqTOGReHAtggkwrpASdE864y1OoteZizNnz8Yjb38oHn704Vhf3zB7wyHOZbZlHUfn3apKfZeIMGFQbQKwPIibQowLlfflMNYq2c1IiU2zpJ7RZ2bwwFUBhuWREmIP79yIP//kx+LN67fjpD+OERoJAFMIiCi6IKzggyErl10oKdpVdS2fy9RdNvAUbI5mPmAmhC+C4SEZAxWljnckk/v7u3G8fyDqMOQ5eaWmDat8QUkRK3LUNWfxWBVLJHvktu119XmKLizZcz9KC5ONDCxemazle6SUuVRp9ekgf3IDMxo6iijv0qiJu42dX1MMVSF64fmMLt5klgYQPKkFVxVb08v43Ha7E73eAjtq5no9OoDDg70YDgb2yIrYdEfE3L2Ym5sjPJJaMvMKTeclIMDaWLQHk1Xiz/qxbQDefiLoOx5Ht9uOhx64L973gV+Kq9euSlriVDPjdM6CUY3A91+rdJ6Of8LdorHznSoYpNc60WBzt9LaogWKRqytEro8Ozs4AotQTc2lobvD5tmnnohPfOKz0QeTALaAzT1SHBK9+XkgWZoCc7Br28ZkqadgieanSFOhATvZac4CBo1Mr4GhS3kWcXxwFNt7t2IyHCYgICdOSDKW1oRe1zAD06eGwOQ2RmyEoskhnFAxhjseew1N3aVMb/KejLrasOipqaGvaQoJ702DFZhjNsmFFP3cYq0ca2y8Ca+UA4oUtuXbOFa5qDOrJF/VeH2N6KIxFDl8SUFAW83v0mzF/MICkzBgel17UJXZAVvUCOoAQct2IGTj58s8EptL+91WotsE06N15AEDdhYcyEopseAgE/3RhM/q7e94NH7jt34zNrfOiM2KBvM0COdgH7QR4usKh9eHKdUlo4m9BV+4/U7p6VPAUU0iUNVHbGEj1lQZFb34U2EVbmMyjs/99afjc49/O4aNRrS9A8EDs/Mru/NpH2IhZDTV4HdmyC6V0/iYa+BCjafLBrOKGO/JQfMqzgA2DcYDe5EcwaGSPK4Z3hhlc+hA9P6eF24PgAXNvkV5YsELGkdTBR+VirGzPa/GozP4MAjNlFxVfxKn58g5oXV6HqY3iHhY6Iy/4vcTFlQj92rN02morjILmNh8GV1Mh+amYNSqOmwKB1Vrakaf5hw8/NJatOc6GlVKaUXej4XxtXbEOmzKjYU8ioUxcYQ0bB0GACmE1l3TskAGoLI8jsVuK/7Fb/7LeNf73ss8KEdqJDOSVVLeo5GaYI2HWHmabxIFdEzwTakwrQ1NLfDPUSHtT78zi1Xq0al1ObamoD6ebBqz8TA+8cd/GN957pUY0xPowcvIsf+b0SI+yiYCSzlpxHYzFjdBA0EMTxuD5xpTyARVHDYOorfgGKLFJPYP9uJgb18l/dpsDyYqHtlAb027JZ+iEDzGCAYUonBdvMKKJkxIk5SZOXv1pYrdwFuNPXFXkAN8fXbBWHbAz5MSMDUkxOJ0tD6yJUVGXvxM7AVxcgy1JulmhElcqSgy1uZKcjp1YJYKZBjPaJQtZSUKJQsaEfM9ePf1aHfRaKLKYhuGOhkx1zruH5t8kDafs9YpjBKblo4nB6xm8zaIAzEqYqFyVEjqU37x7e+OX/vXvxHLSwt39avWlYlyIISa3NAqxIkUy9K/vABpzp85NS6bOQSjqUEq811msUro8u1nZkfHJ+SUM9tVFQt6kMP4w//9/4hXbuwx1MCIeAHWLZCpIZ6vPKxamBREmXyyMtiIjjEuiD4YNrwESh7YwbSjJjaNpJY379yKw4NdcC1lNrewrDCd8JpBan6/1lnE8M8kVskpdd2sJHoDemFLuAeedhsY7jGLPcL36nOllNVMFNfJWrBcfA2AqprHkyWpSyTygSbdmD+rxG1u1lCJtwogEpCXxl84Am3LSu+TzEWVIKcuSRCn2ezG5sZW9BYW6RSEqiZxeHgYOzu7ZpKU6KnZPFsRq5oCjFDjMJItMl43TATu1/QAeN523HPuYvze//af4uqlS4oEteadlHZU08gsHckqa2J22+KphFWtTl4joQdKVThMy/A4A/CsDDD64ezwUNCltrQ04Du33oz/6//8g7h9MGAlbjYdyUgh1mHLmXYctDqSt+Jn2Hry7OPJyDgpMaboPeJMDMEhI9GMSbQYGXDx+3t7sbu7S3Wf1IB6yDJWe42iLqxpsK3Oo9owQykrh5CYSqcsj+NQWcKcEhd+nrE0YSn462aDBSUlolIWooIIGh55RE6UklGCbcLJGcK5rquLZnQITa9U9huYIqsfySyZBlVFVjOypMDJDmEbXUHjFTLnE6gldNonLtdTadmITqdL3D4/v8ByP+4N1OOtmzc1TIn4+/T7ZIthrh23AFseVX9YWlmMbgcJrZqpQR0fHOxz/X79Q/88/tXv/nYs9nq8h3oxR2uR16j7kFfXmUVOsqRiZWU5axgVPtfaOpJyIwkOixBxY3yjIVHXN5/6wez4+ERS1uxhpGhoFi8/97340498KvojS1enYyr8yLRgfJ2eP5Mb7mIyIR7GQ266yeIEd1lWWOm1bbiSjvPiuq1WHB/tx61bNxVeTUlxOoFLNuSovSER9OsNEnktmg5W6awBt6iNSH1yyR+MgE1HCg77KDt3CCUbkd0yuHJV21jCIoQjBKDlSvuuUJ7eC/i/0giRp+c+8MIZhgDGccVB206G2lSMekj8ddSMy1fiE8Tv0ThKdHMdtvK2p7vjM9VstTqxvrbJyivueTDox4233mIeg7VqteWllWyBD3cTMl2f2IeULOOzFpZWYml+gYwPPmM4GMXB0X4sL8zH7/8vvx/v/cX3sEoL8ReffJnMLHuDnoYkR60PNx1cdsFWhSAxV4QvlgCURJ67xtV3/rsqvhU9+u7+vkY/0mvZa0wn8Y0nPhd//d8eD3YxUlctSIKMttlAx4p2MZAydhy8dGJRNVFb84gCjYfJsNqW3nTWkqHjtZNx7Ny6GRNWOoVPEwNWUCmiCRqOPH3F9QvbadQa/vDcH7MGqiuo/xQakW63Q+Nh4CeDoRDO9yDIVoILjwdBFP7udDvR6qEiCTYoooMIgWtuNKLT6poFmLEqS0PvtKLbgm5FOcRoPGW9YTKexXg4ojGAGTrsH8Zo0JfhANKBsYBgZTKNwXhEKk8NHxpASgrUijzBnyzGVFLXxDsJJ4Vp3XfqSi8KTb3ePCvPg8EJBXLavI1YmJ+PjbNb0et2Y3fvIPr9o1g/czbeePklFuXguSl39kEFS4srOiOIz6vFe8Aph0u9hfjQr3ww/vm//J+i1+uW8YVZAON7gH/vzllurfiVcyaBTrLxvcyGtPMUxHYOY+yeULHAb7KGkkGzMvqNJ38w20eocccKM+mZJK9/+5k/i69998WYQbVmpWDVkDyqtBxZLOGJYFr84clRDIZQH+qkCVBPMD5qS6xW21jfik53jpBgd3s7+seH9JCqXIJNmVFgVMJGjTguXDk9An7HLI6/puiKrWOALk0mmFgwhG9surlON9bX8ZDmKVzqzi/E/Hwv2t1WzHU7/A9eD1iT+QPwp89OgvEr6lQYWZjWUgh2SOmYGsVGbSY6BSQkUxj/OI76RxSJCSfvxfHBQeztHMTh0UkcD45jAM27T8FImTFJS3s/teBlgUpRU390+AE3Y048NqbVfUCV2KFHRbJ/dIQzrBrRbXfj2qUr8dBjb4sr187Fk9/+RhztD2Pr7Nl48utfZYGQMG8kmSyqkdLiyMHA0DmoqAEnMRf3nr8Y/+rf/Zu4cPViUXqK8kuY7FyLxuqklKyOJifVoZiCgU/oI2OWFJ4oTwGDCnwXxqvRkEz3G099b7a/f6jmCsISdc8Mhyfx6T/9g3ju9V20FAi7lSYMFFkU6uXBZWTscm81+YDeeuMVPRCfaqECTtU8AaNb29gk9TUaHMedO7eV+GUBBOo80Iegssr4ZAutamrAXAxSXDZyPHAoLVEanmvNxcLCQiyvLcfWmTUq7xYWUEVciKWlBYulKvkDLgCGzHqAZ/gTsmSl0NBEME+yWXLcLuiAbxZcsYTCs9DZVOF2OUlalC9oLjyKYuMYj4bU22PODmTJN2/e4N+7e/sxPIFyUx1HhI+eg0HzYCeOEnCNxVDo5togl7IhwZjAY6NYNze/QPiJ5Pv27dt8joCGZ7bOsho9HB/T0y+tbvAZ7Ozdpu4f8gtGQsLU7G4SvIGRQyoMQwdEWussxP/8W78R7/rFd3sOoiBuPmNGJ/5xC4UVkGJdrI2vOiw9LkNRV8Iu5YaFjSHzpc1ep3bJunz9W9+ZHRwcFIzO4fuTSRwd7MSf/tEfxI2DERdSs0GBz9w7iXCLzp2YxXA0ihFVg2higIBoFEdHmP4lDTMWFwYAHEfPxy6aZpwMTmJr82wcH+7FaDyQ9sWUFS4YSRm4YFRJYSg8isQmQjPJCiWqgv4ZvHen0Y7ufDfuue9K3HPPPZSXYoYLPY9pJ7JDKCqAjSlnpqb5CaBlBws9ZD4gGlLEcDjkg1USn3471YMuJiVzAqkCJwroVGeU2xH64a2xdtwsdZYlz+QcQ4t/FK/ffCteeeHVuHl9m3BnhrwAIzmUxitieg4Mm0gcMXV2kSAQDGNuDjALkaYdc/PzvBZcw+7tbRbgsLYI88uLy/HWzesxHg2iN78Ui4vYFK3Y3bsTh4cHfI/6sYiaViysnY0YeK+LW2fjf/3P/zkefuzhmDU1kwW5DY70EXI0NZKcOfXsSrzLDFA3YohGz0OXU+hlXauLTunRkxrNfGVtbU2Gvr8PQzcDQM1DM7Zv34j/8ulPxPUbOynJJqtyMjphGR7VL+x4QBO1reVJy/BoOr0iPXHidhomjIaNGWi10ly84+Mj0o0S0yvJI1xop7BMSj54Go768+kckLWSxyF9iclSEWtb6/GORx+Le+67GsvLi2oYqLd5FWrM2IOLpKpfMgpmEoVt6XzlGfU/e4vMR+hlmaXQ4JK9yvbD5IcBz9TaZCWxzxEFRITKE84Bxq8o6PF+3s2oRMPb7+8exMs/eTWefe5H5L8zcukUjoqPZrOH1xpvwTyj3ZEHH01iiFqD29qyzRCGjPVdXFiifODm9q04OTmmc8E69+Z6dES7uzu1Rok0VI/YY0+AJCDLvfn49//+38Uv/5NfZoJbL/zANhAhcZ2EnalM9Zz11MMkRKu8dJbQqhK/6iouZBXHp3k06TyKRwd0wa7MaqMkt+N4+aUfx+Offzyu37wZYzcAj4Z4IAOqGKFUhM6bjA2bfrMQb5qTD15d+PpQ42YaCzZCKzodsOU+x5JW5XAI6NFW6bnd6lp3iJBJn6QMG8yPZiHE/Nx83Hf/PfFz7/r52NpY1zGKORMwD5ElvpHCTx5dG8uHJBejZtHBxaBivPDEhVsWNEguWAudiaM3MYYtwWnYU9cLRjAYPkR64hHhA5SGaPODE5mi3Y9njJq7t0wWjgB5zzPf/2E8/8ILZq9EuWZXVD0wiOVEwtxRT7Crq7gs5CzinhENNS89O4rw/A8PIZ47Mbuh3GZhfiH29ndLjlBGQJMSUtTNBhQcS/67//Z34j3veXfMz8/xGSGJ1wSEnOdpiQWepgfGEnbwWuUUMp+TseeUAfkekRoexWdKt9DRnkyG9yDrAo++tyePzt1NozRAaDTi5muvxn/9+/8e12/cZLMwnNJwcBz9g37s7u+oiJSGbkqH3iX55AaaGwQz5N1kyDA0enFADZ6BJAMhDZX/9mDWVhMh19ReA1iyy89F8gTjA/PxS//k/fHgQ/eXYgh9L+yk2ZRXgkeDdgOfz6lMYopocE2N5yDXbk8rBkBSX2E+VUi5qc3fqncTNq9kN0+54/W7ZK05OJIA62hvrEPqWLB5BGWmIxj8iLw2kj40pPAhsoNIn6mt1ozJcBpv3bwRb15/I966fjOmeZKIdUbKl9QRRsNrdTxzHZPAVGwaMHrUuqOy8srOwkYMT/rqt3VC2+10Y3FpMY6ODtX+l8erIC/COlHnFOyU4madTOKey5fiP/z+f4wHH3qg9HZKSpE4WpX4QhdmVOQZrz89SSztwsDe7XUprNCJLfWcTc4VHUYr0fjaN56eoZ0KHkqGriRAo9okx7x+8634+le/EXe2t+P6G2/Gfv8ojvbROLFHdoY6DOZfecKFHhDeBzRgTcfo4gn451a00VjB5E8sAEMWR5tZ5WeJpqqtwnU8k5L/J+YDOPkDH/gAW8Z4HQ73wOwdNCt05kiDpkcgnmUCmSMzJM/lBucsyGRPEpVrsYpHNlaUwYKhUuJpUMJHlZ4+2QVQswRILAqhMQL36RZDqj513CKbIkZoUhnGdDSm4UM8Uz8OgVGX/Po0xsNp3HjrRjz//MtxMh56LiKatDucLIA/6E467qsZRbptT+518Y3X6w0ryjVnM0oDxIFHswmdBdZyYJ4f60kGx2eNIgIhoV6YXzKZMYzF+bn47X/9O/HBX/0gqVqOuG5KEp0y41PMikkGGTQ2UCofXTgrozZUT1EBkTG3dGsl7KkSUrfSfRWGvrcvysed8QLxPhqRrm4Wh4d9cqpP/I8vxLe///3YPdyPne3b3PVKLsWZV6G6bFyfcmDLt/ILn9GBd61RUywHo43Mu5neNzt9CDdcFfOWXlxYjHe/951x8dK5kjhSftqbi/kuGBWPUKtX042TKzxdHQUjB5BIPGk8LWTiPaoOaRBiPqSBF9TJqJUVOyXeSlAhdiXr4voz6zBmTlIzg4gAqIYTL4DJid0Hg5hOh9UaUzWmz0VmAAPb3d2P6zduxa1bu4Q/yo0ks8ClopMLLhVRMDl5+gPCBVdCs0jk6MV0nHslJQQgFqQhYq0BuL/TJSwCH49rPjk5iU57jl4dg2uxRr/0nvfFv/m3vxMbmxvKeDz7ho6m9lwQ2ZMoSM9dOozkJvjZgkYZCVQLkaFnlKhXdpV7LS+vRuMfv/7t2e7uXrStuAN1xQ8it+baFFrWzC4c7ezEX3zqU/Hjl16Jt27c4GwUDdzBk0Y/pkVWUpLSW3c6vZLsgp7CmrK73nQYx0Og+51ZeysQJinJtOacMt5aaZonL8Qs3veL74tLF8/yc/F78/PL1FcjmdJZOS6ymHfOLJxemI64Cs0yZ/Hdst2KCcmFT0/NB2QjLZ7eaC/pVg03yg2iXngWubTDqo2Ra5zyA7tUYHY4EDRNjEb9mI4H7OoSLNJDBWQZzSbRns1iOJnFm9dvxauvvcF8qt1sa5oADP3okF6ZVC+YFp9owVPm8tkRD1eQooORd8129E9OyLglHk7bgAPqzc1FrzsvoQIax0+OuIhLS8txMhzy2q+cuxD/4fd+Lx75uUeYhTfJvBnGupDVAqngkR7pkXMd1YivQhJlhB6ZUjx3HhWpcnuBvfLo4ucJXZ742pPk0bFnkBgp4OVIMI2aEyOTnm4Wb77xavzNf/mr+M4Pfhj9wYkw69i6bxdveHFTVCnhy/QeCM8snKC8TUNH5o1dCmiBTpkm28M0Q0QwAqEXr2HhyOQieOBHH3s0rt17mV4Gr+nNL8Ti4ko0UeDJQkmCubTL2tdKoK0zpyv3sCF7dO5bU6Ep5spyDL2aMW3KV1WPSdijxDsflv2i1I5u9VYkqEaAZAFMhqwLhXGCLgTNNxkNWNtAVRWMC/oyp2hqc4cEDGUwmsVbt67H66/figY0/ag8U5w3jGUMPDp/PoaDE7Y/HmGSAYpE83Ox2JsXdOT0XKyfVIAwph+98HLs7aOgJKOBQeNeETUAG2HocET4fDShg/bEs8BG6B+dxFynHb/5678ZH/rNX1NluaZ5SbowcXoyV5mEs6DFyCfnA9s4VRSybon1E8/NL7mD+XS81wp49Ce+9hShizD1NIYZmmkcFT5VIiXcPpoN4xtf/lJ86tP/b+wdH0avs8AH24G4BzLX0YAcOwyCVCSKEW0kQhgehNAvykvVrcymm9FFtwsMF+GQHsZUIsr6FpLhc86fOxvvfPc7nMh2aeBIlMTBC1XIoCq+FZevhcyDsZQkUiJMnYpH3pk5SqWjfLF58cTqtFytjaCaZKH8tvXrZAhcAaTm3SFDwkQ3i1gLrw1vVaBhoD5CEYAqSkRVTAZj4/coRgNg+WMmraxnoAGaTdDDeOvNO3Hr9n5MJmpDhFHfd9998eDD98fRwV70jw9ihjEduHzKHJTDZBSVJGMUw9EgXnr19bh5E+pG4OuuporNdFQLnA8aohGRQRkP0fx+csI5MGjt6x/3CWkee/iR+N3f/e24eO0yoY2JspInqX4s/hz3i80Ex7l9+3a89pPX4s6dO7G1tRrveNf7YnFpXjDV1XiyL948xfuYpaKCFXr0VXt0sC7qApmp6uaHAYzHEr55a+E2dPX345N/8sfxre8/HyfDMXsVwbkCE1tZwWZpcMMqo6v5gW1w8FKcauXRDjRMzYoBfcXXosm4VENVWqYoC7u62473f+D9sbjYZWKD3bq0tFopHWtdaAqzzk8d7tkenBu4QAlpJ3zjbpK2Mo543AxMemCKswxLPESVBZuU8cJIfcQ5I4cZJ72/6oDE/Ewq/bFlbIigjV5a8cN8vfcWWS5AEGD44SCGJ/D0x9EfnnD6Af575fWbsbN/RHJh0B/ElatX47G3PxKDk8M4OtiPyehEHAeLN0gUdT0dzMJhISNiNBzE9u5u7O8ekQuHnBunjCMvA1NGPdBcl3ARUJHzePrH3KCLi8tcg36/T4jz6IMPxTve+ba49+o15mXYANiso5MxI8FwMCE6QE6Chvqd3b24/sZ12gw++1c++Evxzz70a9GbhzPN8dVaEtZcXBZh1dSVVUamWSOWYehf+ccnZ+BGadQegFkivFkMrIE4dnjDMeetfPj//pN45oUXYzRqUOOshAo88IlSB/LOqRHGLtV8w9S+0NBTHO+xyXMszS/GycmAlTomJz4ggHh+OouHHnkw7r3nKlmbpeWVWFlepQch9zoGxeSTz9IL20jLM82N5YOu0qQobyh8v8CGPLTLypinWDvBo8yqhDmigUNjdPk7GhunCjApQbJEFTecZy4pFlQl66QurShwu5xHwaU23hRoJrCKYBpMijEioClHkN7u7Marr78Zw6E0/w8/9FBsbEJu0aemBl5dMETFHJ3n6jOPXHyDzBrPDAwXGrB39w/i2edfIP7Gs0PPKZwQ/gYtjCFSR0dycOhsQq51fITNpuaHhflurPSWOHiJdPZQRoncRcdjai0k54UsHI4t4j3vfXf82od+NRZWloQEkj+nT/AR7/xVTTzzilqFOY1lYPQvP/FNibqccDoqVOF67M54nsOjsv/u7s34kz/+aPzopZfoDaBgQ6g7RDEBVBSN2EIr86b4PcIYTpEF9pZYSwYsuWZnbiEWllco7EIhCmESUKZlA4RK7hd+8b3Rm+vEwuJSrK1vaHiOPSVvMDua0kiN45KHlz16UAW6gJx8F726cxJFLz0I5SkVY4KEjvMK81wkTMmyoWfCK8yuEjupOPe1ip3RppLzqLRYCWlywyX/nklWMj8ZeerHOxLje+IYkj54aHjGsUMGPDC21RgYvd+Pw709RgJ4KHpFJvyIdnBTajIW5TmS/r7Voszjuz/4YewfD5hYohGaNG6n5yljjRiOB6wFNFudWFxaicHxMQdUQVu0uLgUbeQOroBL2kwOW0jQDSYoImKNANM67Vk89PCD8dijj0ZvvscJ6JQYIwEejii+O3vpQiwsLcZkNI3b2zfjeP8wVlYX48KVq4SzrIw+8cQ3ZxANwR4UkbPL3VgXlBcyczMIuJ4bb7wSf/aRv4iX37wevZWVON7boYcAL96dmy+vZQILA2536UkgwWVhhedoiibSDY34+d3ufCyvrsfq8mqMB6M4GvQ1MhgU5mQab3/bY3HpyiX2P25sbcV8F/NM1PWforP0wt7Wzj3cW0lMrQcKDiQTSOFwe2H+rZOm8+gZjnuw5xaESPFQDi3SO1YHdQl+ZJOLJBGOGN6MWYhSIgZ2SPIIbR5tgLKDgeHdaZ9MjvVaVJWWejRG541GMRhLh6NE3qdWG27B44MGPDnCLJ4+K8gURzFVUlOMoJ1YJ0iP8bywsfFeP3751bhxaydQIYd2Bvoh0oztuSxhcGQfIPDC/DI3wN7eDp/32uomv2Z3GciFlsahCEJ5igIeT57e5wYYFKg0rSyiyQnDERN2qDViZa4b565eit78YhwdHsUbb7zGHPFdP/e2+NC/+K1YXl+ONUzqgqEDo+ukN90gP5dez83DLj5I3RjxykvPxWc+83exj0IEpmOdAJfpipnQQIAPbMUdK2ZleHKs/s8JCkwq72ttmxx5vIApVPO96HUXiP9Y3YsGpbvA+9Bb/Mr73x+dXjdWN9ZjcWWF3gGGDp00KMcy2sLUZvaa4ro5iYD3ZNCu07+kyMyupDwEIMfp5YwYSpfFOuWpaK44m1atCkqJGTFdIE+6FhavGgGSvqwXojQ5QTgcI0GSeak8vz6DiXP2jTLKVH+4WXOOu1Ws+Ck1JS5QYWNwM5z046R/FGOIytgA47OX/IYkQymrxhS0gYyx1Ypbt3fiuRdeisFAzgDlfUSDbmfeqs+Ik8Exc4e5bo/529HRPiHU8tJS9OYW6BwLaQgAACAASURBVJHxjEkxo3eAqthJzIaTGE6G0TEpgZoISQTWU3S+E3MfM4R4pqDF2912zGHawWzG6QdX770av/Ced8WFy1fIyq2tr0XjK/bo8mj2crJ0VeQYDhWaWbqezeL5Z78ff/nX/xCHJ8M46R+Q9mKRgxeBcWjSt2AhNGtkjio8hXfopNtx9crl6HTR1NCK+d4iaaqVtY1YW9u0YnEW7c5cvPXm6/H0k0/GhcsX4sEH7yfeQgKK8WwJVbL4wcO+fGSIjEgbqeYey4gNMT5VUkmWhp4NgFo6FnHxp0+h47SBmWY4VlBD40F+ClqwwUObPb1uwhIZrRNjNwJnVGFU4kxF0GYWkzlPYtJn/l8RxPfJVsHaZmJS5ijh/FYyD/H7GOV3cnxEKIPnxeNtTOflAcV67hMaOqq0KLH3T0bx3Weei8NjNMhM2FSBfAtGDWPH+w+GJzEY4gC4WayurHPD7O/vM2kF1IH3RTsfCBD1P6hhG6wSDFpa+UzYZzHXmePmHnnuvH8hunPtOLO1SXUl+gtWl5bivgceiIcfe4x0akqVqUd/4qtPzrbv3OFFlX5SY08GRR8bKNtXOPvut74Rn/nb/0HdQ7fZjN3dOyp7M+lSKgBMhy4W8ruDAXcWS9eTcfS6vXjvu34+WmgmRjUWzRHtubhw+VpsbJ2XAMknDmOBn3vm+3Hh0oVYX18lR4tiCEJZKeOb4CZ8cSVVkUl3pDkoRKCe/JM4Gfg5EYIqPmrDq81aqXVNMQkyqKbBZnLgwf0kL71GMnpHjFpSm5tDHH51zlHSe4RM/j4/K4tOte9R8GpmlrPVWaZPTbw75+tVT6yUh7rmZgT2Hg1OYoBiEoR6NDqTCHjmgJiud8M7g+HRGjbjuZdfiddfv0EMDUiCiAxj77R69OqozqJ4hI2wuLBCR4fZmDTqySTW18+wYry/v00nqT5kOQTICACF6GinU3pqThdOtIDKdwfyaFDOjbhw4XysLCzE+cuX4hd+4T1x8dIVrqt6E+T4WDBCMrq7t2dvJDFSLgaLPIAtNNBKvPWtrzwen/37z8fe7VtMMkgvNZpxhCQEFU5UOqfTODw45C7tzc8zwcSAeizg/FwvHn7wHkoA1BLXiLneYpy/dDVWN7Z8kKoO2yIr4DN3MEmX38szUEWoKrTZ7HUstieDlaiu19ADFtWbI5htF94THqvCp9lClAmjoUPt4DFcVyab9P42aKl6BZd0lItmwecksFL+JvXoqJL7zVXTdCwJI5UDeGull8/zOMeOF566kA0j0gW5o4csUEWtku4dD2JyrFY6yq1h6Bivy/2l9xyBIwGlfJInF85ie+cgnvnh83Hc79OQUPLnxC+2IIoBQ+cU1I/QG6E5GZsCX6N1DhVs/Nk/ANYfKBlugyLUaBK2Qpp9oXy4rSYP0dDSwCzMdeLM1kacPX+OByA88tijsb654YiuSW6aNTNTh9GXn/j6bGd338mXZoxrPFtFr5Ffp4BJhc0nPvff4m//4fHY392JhQWECBk3ztTBa6F82755k1W2bg/VMzEj0KCg+2hhYS7uu+didJsdccwRFPhfvHSNQzNpMpjJkkpHN0Vr+L68MT01YEQe6WdJK0vF5lIpwzWkYMWs6p6oIVsCBTc3K8bz9/Nodw4iEo1FD12qrqfnOfIhWCMkQ8kk0+pHa6alZvRBW5ZVaNaNmZ2cKZ6N2qxIs8xlaUJl7CWXqm0Ag5nShMwqs2Go9pTeB4bOotDJSQz6J/ybCkRHEHjT8XQUYzRMTIPc/Awy1FaL+Px7zzwbO3uH9N4wTDgz0IkwQhQOkfD2B0ekmXGgLdru0HeADbGKZwyFpAfPYlMx2SxsjJJ7PDO8J9oOR0O0QkKO3Ykr1+6Ld/78O+Ls+bOxvLQcy6tLLF6xq8gHBvB5Uy4wi3UY+uNPfJ1al/TideVd8VCkHq0MnEb8/V9/Nj73xDc5129xcZ2hCzAEhaR+fxhLiwvRZ+GgyR7MDosPo5ifX2S1bWV5Ka5ePRctN7siFKOz5dzFq2pkNb6XQg4Sguw4ETtQzY6pZm6DP+doC8AetlQpGjCZMbdO/8+d4n5EFkuq3kRx5p4H44Zlzq1hkoqoIE1HpYS0Lqg2C11iq5T2KuJQrUeFY4X3MxG+O0mF99SEYc+TMf2CB4ZmbJ4LlRAqcSxwd7LQSWMa3uhoFssZJrPA2a2EILhXJKbDQZxwErLJAtDJkAl76CogDcdYQCuPHlZ2DzbildfejFd/cp3wB8ZOOQAOMyA1Ir0/ikUgJeZ7OORgTrKDZjPQK8wDE6JB3l3SaE3FZZ4wHvP3lheW+LrDwyNi+jOb6/HQw/fFu9793jh/+Yo6zmgjPmTYRS8+eURwjU6QR3/8K18jvZhneoo/tujdoVhJpE5mwBr/5Z9/Kr7yze+yCQCtcJimunfnFpt92515zfJmczEOkEJyikOtRtFbmKfBb26sxaXzm9Jakx5sxMr6Zpy7cJlhMC9Uwh1ZZyku4SY0SEaeMVvjoG5MYZIfZmrbU/9A42K5TGV1jhrO4yFrkUKGqYl+cqP4LESKqtlC3xPtl9cAQ2BF18egi7lKoZEMTGtYFafSQDnr0Hx9xSyK1lXXVQ7TSE1OHhPpXAERxFoarGd+Ts49pxrVm61KenVwAp4NvO3wROO4QfeCXMCNgwYkTUzNzAmnE+BZHPQH8dyPXwk4Scy/R0QD/w2P3ZnTgQXYI2iXxBUu9BZZR8FEBRT58pngWc8D43c6LDwuLMzza+D6LvQ3LN424uKlS3Hu/PlYWuxRKtLGfHjnIWyktsQXa5tamRzqRYz++BPfoEfn8SbmkEtct8HrpDRtAOy2P//kp+LpZ34cvYUFGvHe9nZMZqPo9kAxdciVIsyxg6jbZhaOEWvYAPAWm5vrcfHcBjNtDjdtNmN963xsnbsY83Mo7Qtf0RM5oaAxcWipp0n9LEOHF+TQS0tQPQabEoIsz3sTkKJKw3einSwO8xQ3M9DKzZ3nurDy6/NJi1ECzw7xICE8EhQR2BUkwXUjGogNGvvscdMhuE9DBlwDjq6Rc3JzuZNkMTXqzQWPzCYKj3XIzZPXmBVo6cXdEshBoYJVpPTYAqh7IWs2BIvWJ78Oh8Rr9Yg9Fps48AjPksg9bt3eixdfeTOOjvqeea92SJ7cgUISRVg497MdkFRvba7HAo6MbHdiY2Mt1tZXOYUB5ESrC5EYbAcaGvy+aizk6KGS7GGOu96fp+J5Aps0L+qUYqTNajrlvHoKLBjB0Hd24NH1TTbTunKY0EUSSswdQbVyGJ/62KfjtVv7lO7GTMeIsAQPrGhRE/vREfJwtMrxAR8+cBQW9uLFzVhfxnEgaljA7tzYuhib5y5QSSfV4CwabbfMmTJUA64xOkccqA2MJJozbeFolYkRRXXt6GaSwo4bhfMdfc57WoarJlWTSNKH6njiCI4ashf37oH+GAYM9sPwAvQkNzDYWXtwPgPRI0VqQG/u2eApHaYUo+hxTPN6/p2ehwdNiTuVzLbG6mQ0JgyzqK2+CerPtrp1JaAUjE3GUkmeiGnhyBKPKmHje3/gTjOI9SJubO/Gyy+/Ef3RiB4Wa0sBHvO2TjnfaWtjI37lgx+I1dVlRV4c9ecm6w4MF8+Pm1KN3Gysb3dJW0J2nS16gp95nqghSjq2PC7dM/X1umawOfpLgC7G6CpkVA0HOexd3kthDpnzpz76sXjj5lEcDZEk7MWMGhY13WKj0KNOQd4vMhlF0sGKWLNLj3TPtXOxvDAnFgKDaprtOHfpWqxt4BQ1vC75QvV0kjZ0AgoaKv8wOfVULMEZjaVQP6jP5mQVU5m6NNWegW78xsWASSR9J5JRB5PRiITzNb3J65BH1GWjNd+rxm74hOfE5yyzpw7Gjp7vWJv5LTpNY8+YKJr9EmTT7zMRpux/omq5aXNOZlD8cFRW9E0vx0hgXF/n+s2A1oaDZkKsbjMKr8ZIWAfm0sc8d7V/chyjIU6zE6zbvnMQr711g6Iv3DOSUdQ5uBfN3V+5dCk+8E9/mecg8YlCV4PRGy0UjgRfcyQ04B+kHYBN0DxxIoAhSU4fSOjDXobkiG3Y/FkjmzTg0QFdvvJ18uhV8cOlcHeSF1oR2Trw3HAQH//j/yeef/UGk6PByEUHhkPQS00q4FBIwLgKZMww3uXFFZ8HNIn77jnP7Jl5QWMac735uHD5nlhd3dRJyPbQFBkxqdTgdxlszvHQZqChI5x5HB6+5s0TQ1vhQ/vW4nJR8oBWz15JGi4ViFVXvz5DPZ7WryfH7mYEGaQ2RHpONHBPkfWxACfzG050WBi2FQ7nzdfCIQjWaBwEKU5DCTZxO4Snp1b+4EMGyPhKZcl8whifTR4WSXFcoA1BlVd1DknhVxuGVDqvEKWqKMHkmsrTEWENGjFG+PvwgJ591oRdNONwMIztWzuxs7fPE1HQzwvnAqw9Nz8X91+7Fg+//TFShYiuZNRagCFtd0JlvuU+V8JX1UUUheXxBV1t+LYV9cVmBUfPH4aer1tbW4nGl74MenG31rBbhVYmWyzcuMGXssuD+LM/+nA8/ewz0eosxOr6esx1OuRNT8aTmAdP2mnHjdvXo98f8LSBDkRYHD2GDpN2PPKAGibsH2NpeS0uXLwSSwsrrIwJK5thcTKqoULmzDmFS4ZMQ2drYY7LqGaO8KApe0QylgKo+p0CuPNQKbecMHDpgFs0L2QiVhyxC6pkhiB14Pg8eC5NW9Wcy2y2FtuRFUt502SFdAXsIbXEgtOCE9/bC6tvsyr151QF7UCcMuGB99n3Kjfqpm8de5gOQZtVPyObhWebXTn6NXrpfN7cfNlHSzgZPC4GjBoo5MMjVMVH0ZiOWbXE9c8vLcf+4Uns3rpDz/7gI4/EyupyzOMgL09UxucA1iSerpMKzKecRdKobew5I0iz1lFbkeRVw5Jqxp8bw3kZ7n0dEoAv2NBp1COdV0nvnsq8WmUQ3z882I6P/NHH4rs//lF02j3OAYEXX1lcoiAISen1N16lEc8tLMXC/GLMpuDOe0x2AGceuu8SDRWHPkEYur62FRcvXiUNlYMl82YTj6UWpB66OP01Z2Y7VOHGtEAOeVkp9RMvRg4cn40NJejL09GjeUoXS/h4nbl1eXgBBXlTn3BTKqU+9Mtzw0sF1EN52FYri+KDlkhLySCksJT0zvLQNPcH2ABz2H4dCjV4qWJeVJyiqbpkkJVha5dqnp33UMbZ6V6YnBuOSFkpo+ftmpJEgQ84ng3dKNuD40YjN9w4mrFdPMTXkH9ASg2DzAGxXH/kMxD18WggRWRxDqYJWzo/FrYBI4aTk6Hb65u+VM6mQwn4HtkKiBZOigbl3al1+eKXv8aCEXc79NxF0KRQmDecGo39vTvxkT/6SHz/xedjbm4xVpY3ArNGu81WHB2DXmzH0SHUkImzmjEbn8Ti0hKFPquLi3HfvReIxzhwv9mOM2cuxJmzl5hh43M4YdVzWzSYpzopWBtAXjk7inKHZ6gSnoOxy1uDRy+wojZIXrAZJ2zIqiX6yqJRvYlII5WVpvhQABdp8Jksl4NBAnxCsikM4bndmp9it6r7Sr16+Sw1F1fjJ7AOMlaqLBGynC8klLICRgpLXzc7mbJF0BGQ92d+WQRShferTatNpxbBqmiUrxXi0aaj7pOz9N2/YFaJLEi1fyWyI1bWLHN1+ziRxLrnaAofSanArdMJLdIhxAEhgTVus+IqxoW0J3M5z/UhDarKdqGSQXJgg4DR21hHMvr12Z07u6WsXrJ2N1lkhM/v79y5HR/+wz+N537yavQWlmJz42ycDA55bDhiGzz2HFWIi5o/CA59POAcbXivtaWluHJ5q/hQVL42z1+Kza3z8sS4WBqDq55eiPTU+Bu9pUqwKq/N++d4B41DznBdjwz4no4k8YQoJ4jaOB7r5mmxqihmKbWa55JhFq1eWPhSYMMxMSzCZHsggYkrnp7VnclzZo6pGMwOJgwzyh5aQyEepYhilTqyXYAyQ5YzZvhdNS8kjSqtt7w9x+MnoUAGS7BLBbKctKs1Y+k/JdmWDVCmTYbME8u8bhSCcXw3V1vMmje5nIwiCufoe6JWYux8PqzZwRv7nNpuoRYFW2ZtzIsE5ob8Iwe+KuLJsampW5hfESDp3CQxNjY2gNHh0XfdHO0kxOF5RChDMq6IbG7fvh4f+eOPx1vbd2JpdZ3nWB4d7JIjh5Hz4XseOWDLZIKTofvkMseDYayuL8WVK2ejyUVGgWE+zl68TK0yT0woRaAqiUrjKtiNTI3Dspus8zViYrJ5oJIRlMzcar9CSWbZvrS7ZWO4rDGhDBmPIgFA2x3bfPkgKX6jN0WHE54sp8540FEt5/GEm+yo1yax0dp7Ey4gqlEhp0PP6CmduPB0O2rQLYMw/DHFUaQCuj7Pik9W3waaFcMcU5KeHRuAE3PzdU5e6dnT2SdkM1TK7cyeWXcsOSsuRRwatb17kh7V9zQpIoty5Ml9jFCjbajCkzTknctGKd1p6URy7J6kIcTG/KvFoyBp6JgLgu8Sexm7qSyrIf9qodMb3r7xWnz8I5+J4xEWf8oCAjNpzopz+dzDkLC7UGKGehFJKf69vrkaFy+ucwfDHOYXF+PCxXtjGQcqGXNpR1ZVTwl5KpaFa5a7uF4dLXSjkhTSjTlRKmlETUWQRpuUm+4P3kCCNhisCzmspiiZ5CwRMxvoltL1VGfx6OAqnY6RdFjpIzXMkY4m5zkaSVuLUq9WZsIJek2zKiUDLjGiRCKiWG0R4F6IzDhmwyc3k67U2BGuadHeWwJHeay9umsMeGsd9pBDnbi9YzJ2n0IaOu63TnFmo4nrFT8r0VQDOdl9jwUUZBIcMUvmqFsYJ0Oweuul8rYqAc3oANjDw7xqxUTYEaHLF7701RkOAtAxhVWBQx0wPqrPQ9/xMDEO+s8+8TdxxJFmmBGIMrXmqU9HwHHQN4tWnF9cjl4Xg+PHsbS0xILT2XMbcfbcKrEstAqLS6s0dDRG69yhij1JuFLK/+QHFaoqKaaxn/n1XAACIJ95VM0ryTCtM5oywVV1UZwvvRtlwqIAk4nQAxIDJRmveW0OTJVwCm2CxI9WDdJZ2MBy8Stvmcc+ZlTQ5tL7WoaR1T+WunNeF3efrhMMkk+m01AfKTKTzcoQrvdUR7w+wxqfmlcmRi8N3p5mkBVgYm93P5UkFddgMVxN8ZqQCRsXpxjWBwsRCJoORog6lWPRydWdWTW6kHURi/eSiVHrXyUDEYwxo+ahpinPRgW28cUvf3V2Z3ePT5plcfOveXYNvZ85Xhr6ay/Fxz76l/HW/i6rchDvBx5wnhuEQtFcJ7rdXvSHA5Z4YUjIvkGFnT2zHltby3Src61OLK1sxIUL16hvkJbcHSW1E8ikWnQHNbUuWhB9PzNxeYnUxTB0s0Lng1gNcXPBmCAa/2d1UQ5bHocFIlNzwrJY1bqE2Zpw4gBTheTTrQ/3oFL54Uxwq8JXGfnH3xV9WDRGVt3xSkw3SheEeeo1NyqqRbMPa/ic8IdVQp1qp2ihe5C0x5vFMImwLBNmbh5lFzkMVTqo1EBZ3FASW0eapG2THrX2qHD4peAnA+WZR+5bEIz0qSkeR1gcFpuhNX6wTkOSjOCAWEtFTCMz+vN7kk9wDj8qo198/B/LSLqcAoAb46y+NDB3n8D4X3/lxfj4Rz4ZL12/EWtr69HrdqKPflCo7tAUHc2Ya6sZA93gUI6hbWphaZnnll44uxnrG0s0fpyKsLZxPs6cv0gBj0J+Jhh5Vo0470IjcshO5VF5szX4wiNGuFjCtfx3kpa2GiY5bApWD3rJXrOU7vmT+QoVhcxIFbsVxZBn0AuSKOSTqs2JZ3nIWO3UPL7Wg4AyGcwJA/L4vmdvgBrpL/himJEYXwVfsSUlOXYxRW6vokQZoWA4KOv7zk9hciekRmk2dvP9/BicK6gKrfh29dZm9NAS+/hDaMt9rHoOOeq2ulx7as+dpMrw1UqYCWbC2ByHrUgvyjA3z93/pjLXIw5FI4t+Jo/+JRs6Ew4PlJfgx8oievjqZItXX3o+Pvzhj8dr129zoOQ81GQ9jCUTMzDoH8Xt2zdIM2J0BQwYzApUaYA5F85vxPr6ks4HanVjHRqXs+ej24EeWQlE0oQ52yVxNn/ODWwBvmIXH3LBeVY3srrp8MaFzBY7c8cI8Bkq06Dr+YkWHwUZde4gqvHYmVqxXVBZC0qv79O2ixczlk4PmfchMVUWrXT9GgFRFfIVQNRcXgUFyxWyqOPRyIW+FNntglgeo6jpuNYxWMekzyaUSDjDHSSOX0Uj9626yMVDlH26B3/XEAjLnwav+3aHk8Q9ipoeF47iE7jwfL6qZhmuFJyeHr9yYHh9QsXMlVQlL4/fzIwOY5YtqiqO576xDnrxS09YpqtfwgPFABsesQjcyQOoqj8/eeHZ+PBHPxWvX38zlpbXozU3r7FwrZaUbeNhHB0fcK4HJJnAlmBfMKICic/FS1uxuop2OJx304utc1djc/OMDnvyf5lsZHHo1M51Q4Y2hNVqTjT1OnsvV9TK7vcGKjy4jz7hzz2jUMmiEEtyx/nzpOKUFFp0RgNyQUkaq1I+zxUjFEIeU9Po+BPYE0rv7zY4fUYFj+R9K/UjcS3GwmEIlD9AHjVpQulzdHCacLgGE5nX97ZMD57R5G6PnlGjPPXkyos+J8dpV+ud60yjdPWYNQbEeBRuSPvp9XmUOSyVXpe6aemNVBmviAj5sqoOkk6OhTr8vo/+lIGLPtZ8F206/HfK0NXwO1JBIFcxB226ORq/+uqPn4mPfOxT8cZbb8XK2pmYX1mL6QhnVV6n5mFhcTEgOuTlo9I3HXOeRw/FoOkkrl09HwtLEOy02fGPQhEOeiXrwUpWVdHKm8zmCCxS4vIMc9kqRsUbF1Y8mBgV4TXyBql9d5WzLKDvVfQdPIKkqcS2tnjhebfS2cMK0iZhX8EfcdAK34RYeBU3kulAz7HhA8el+oGI1ZJ6txiiCzCG8Z5+i/vxab42Am68gr0Fs3D/FIlpWxZYkLvYV16gEF+XrFCdXjT2Ud1CIykSr3OJfXqJLLgySkVEGXCyTTzRrvTwapPTrAscqZ1F6vdTBHXVU21fes9yYITkDPl5ei+8TzUQaT09+h2eHFztToQpPWQtKPUuTmFe+tEz8bFP/EW8efNmbG1dZLf3/vZNGe7CYrS7HQr5AZV6vQVqIjASTKMpZnH5yjm20kFovzC3EOcvXOPx3bh49gbyHCOVfPHvNjJoe2pdo3BX7uhMPkWC5ZF9Dt+paTf2T5xNT5ae0u+ZDxrWJ9gmf5ZGjqYBncHkh8keRrEcZeydXWCaV74JPi81U+lFyWgx5c0RGpmM+jlAj0IFpRLj3FfCnnrnxOr198wGdiuG+P7Fc+uGnJDm/TmC1OQA1fspqcuhT2TlSP17RF+RIFdsSWlIJx2rAbLceIYmWhvN3aShG0sLPipHE6vWpA6nKEa97jpdRKvHtfDpdc2GhqRm579YObFF9Ohf+BKS0b1CbYFDZdgjDstjWSpu+ZUXnotPfPKv4hgjLaaz6B/vcYjNXG+JGmN6L2bsUi0e7u+xC1szz6dx9d6LHBAPahFn1F+8fD+5dBYDeAJGpVDTLnW4Kzs/TzVwA3SW5nPCrdkR/AXcTjbCtKV9m5s67G1rw4+yZS9xeGEyYC7m0rXKmiwFj8y15ao6geRU19oGKBumMoakENFQraU2T4/IyelkbjIxhFLHqAf212TF3le16iYBs3U5/jw0criJmk3aVWZ7ypvXPS8Vji7Xl/OR1ENS7ESfrbNdTxWBWDHzYctemoQ1ckpmgrRwNnZFXXwom5pJIOjc15SzsfqJ0z7MDvE9y8HOojHp+x1VFHjVm8BWui8Yo2vbajHTi6eXK5k8TpN+6dn4q8/8f9HHQ+IwUEzPVekaIxSw5THfRQ3WQ44nW1/d4IgCXMy9953nuZ7w2EuLa3HuwlU2VUuwL76U8CSVayXBSW9eTwjND5MSVLVSf3C3kMhq1wtCiDhEkYt7gdsfklHXyHJaFj2MpHw4owlCM4VGGaMwrzCFuvIzIzIz5LI4L8OLn14uIQm7dUZjzYys4U96foy709Oy3psfVLhxPmD+n+61jrf5XU/k4lnUWEN0Izk8kd+vcd78PNOIvKVkhtxUIjKnik+Mmpb45nfF3yec8NGVeX3+PEmolcCm7JrDNFRG9qhqGy6NHMtq2bMqei78VTodPsOEkfh5nW3hMxcqgS2JXvzSE7M7d3TSGN4TNGEl5FLorpKVabz66nPx2U//Xdw5OmbDKgZabm/fYDMrF7H2EMiGYIrT3HysreB8z7l48P6LlPW20Du4tBHnLl7zuAwd91LXQtCz+RAndqFYe0Hv2XLjgrEgf5ZN1XyeFXZLg8B7J56TkQLD6wHojwVkNgwUgPR6P0yDhuKh/Ft60EaT1LooCUojSDkxfSAjpmbFQ8iF+eT63Bz3KU+JIf/auIKP+QySgUjuWUcfVnSrImo5CEJjvD0HPpmenMrGZ+5m73RmeW+5nroasTGs0BJXW1hE7J9VYzYP8GhFbhpscoixOPk2/T+WpuopmHIQk8ZcqP1Rnl0HlP+MhNTMFMdh5Ekdfm9WYvkmfpImq3CPxdBxanEO3kn9c94oWsQyEUMYe+O1l+Kzn/qbeO7VF+L8hYuxc/sWR46h7SkpvpRVGgHx7Jvl5YVYW12Kq5fOcThlq9ONjc3zcebMRepkMtGkCi2148mRlwNtq2ZjtsnZPhOzcqfWNFUSFul3SDUZwnBD8HseN1xnajS0TgyUpQ+AE+pav/tPbhCXfMjgJERR1Ki8ePW7xP2OnjkvXj2ymmKASxMUrqSnKQtAtbFiwHWQF4yqRF0vRtXznR49j4OXQZXrutvD14RerOpasqBJXnmwsNgfNZykg5BxF7gl4wAAIABJREFUs7HdWiP03bYsjxbbBUcGFY/zDOPrPGuOEZPPEEbrzWQ1rZic9PqiKMsfySLJ2WtIVZWXwFExGf3CF74yu72zc0rIIwLC7EFpJJDeZfv6m/Hnn/hs/PDFH8bm2Uuxt7sdx/0DJmp4SJvr67F5ZtPJhsJwp9mNuQV0dndjgR3iDR6NfubcpdjchGpRzRKkoZx8cvmSasLle1YLnSd/hr+tQnRYtKijFIyI7xViSO/9VJiH2sYFDvdxCdZYIy1jk/AqCxd1U1e080kfSd0lrs4+xrvUgfr9pBA1WQBnthbGo8yhgVHgTCfpejQu0Bg8C2Yp3PJJysmn0yA9hwafhpEVNAwfI1OPABkt6muTVOoENKUVxnR8ZFmQA0A2K8GZuHe3LWqr8vtoj+OmtedBAZK/h/qJHZhnACpiVox6gSqKLpmTZaaiTJwlFW56Ew95hDqJHjkgwdamhox+/gtflgSgVoLm2OFaJU+nOOgB3bl1Iz75kT+LZ196MVY2z0T/aD/6h3tMIjGS7J9+8JfjwqWt6J8cUcSFBtvRkGNRJcH1zfZ6i3Hx4hWeVlHapXBhbXkEJqeFSkoazjeJS6GGfKL3pYIPD8AHjKXnsYeR00l6D03S8kRo48I9ESkmnVUmA1RdSHWokrRmNlSk4RemJn/fSTkUeLQ5NkXraaaUdgqVI7uTNHICUAZGgs6s3uI89T/CzZhR4iYPezJCIOpX9FzE7FjGoZbJUiQis5OqsAIvNaqvHnH47xre/qlNYLZHVUwhNMJcOhK6CNuRnFTOLcbac4IXDbdKyguDZJJLp0VXJ0vncKuMKth1uYm5caGJT+Yni4KlUq6JENiIG+ub0fjc5x+f7ZBetK+phbIsMWfxBB+yv7sdn/zoJ+IHz/8o1jc3OeLhYH+XoR4V0A+8/31x8cIWp7Xi4c3TkNs8NxKUory2tDCa72ElGihFJqE+GIpD6ZXwJnbLayQEMSMkIZjO3NH4ikovk16SNB28KA4nwMztXpcehMd5Y3PUvXGNC66zCekhKsMQJizwvsZDO+GXoKttA6yV9vGsc2NkQwc2KdYbp7lxVIjzFQyHwv2iBZVbjxFNQ5WIg33EjEovWSzTa1XJdFJsA+akAkPBUnVyIYg1ByezStirjVDu2yyXahVNNZr4GbLxo+RogkoaKFWjA2v9BfS4IDXshPRMhOmZLbmAhFvgETwtDXiVU55okoCrU2TseMaSnBjyO/bbBgYYrUfj8zD0XZwGXOHNErpYHZAYSPc/jf7RUXz0wx+PZ559NlZW0fA8jYODPb4GJx+8510/F5cvbnGoTSPacf7yvcTjXPpUHbo7qIObyuoWRxxgBohANh9GbffL0Pj/6Vey01NfJXzAw9d2SDaDnpvjLSL2dnZjaXGR7V7A7jB0Gis2VclHk6bKFKp6P3m4nMVYsR5kOgyN5KXy4MAcJcf6oK7bIz5oqNkAkZiSh+vqJDqcBcTBnRixjBwmiyL24HzYvsQCezIZr42oy2iWzEiexpF5S+ZifI9SarfrTufnVU+GhufDGSqwQFaDkFp88fzsDU1mxBJsGBI5dUdQwhbXSSTCUhxQnUmEQY5SSbhSHBAPcpDDkb6psmGJvYS7JNP9/Fdmd3Z2bD86ZpHGnbPCPTqYoZFzzvvxsT/9aDzz3HOkB7H+e0cw9Ca1L488eF9cvXYmhv1hNNqduHzlAZ5zkw3AkmZKYkBvXtMj46yaPDc+29oEFWTOaRiCftLWYl/A26EgxSUXyC5FJm4WswDYwNQrw/jRtcOiFIaB6jhHJUIyyNwsGUUq+CL8kQ3ERpEVDpa/OcWSsMriwklhY+jmpJBU5TIjhFrVsHk4uzxPbp7XxNocsIq14FtMNaPm7uij+xYU0bPTPVHViM/KG6sVntRAoipu2owkvdWUZN59aSPE2UeqphM3ZwKZjsZjRKin4amCOCNJRTDKA3wRCWjywLKEuHYxpyhc2Js2gYV5HvXNZos6+8TIobxgfQPN0V/48mx7W4aeu17HnVRDLYlH0fgMtnrYj09/5GPx3Wd/FO3uAqfp7uzcJDRZ7i3FtXsuxgMPXOR4s2h24vzV+2O+g7PgXYZuCbpUM1nENJB1SckldfDywvKCFd7MBAM/waRfNjqg48iJWXowhV5jSVqjaDcWLextUimZHoiYNTXRiV9Ju2Y11lJXVzRLxdHqRlF+GXnk2tIzuRJuOCBNhy7Ic+dzRqPCljQwGDOBRDUwvH/MQ68wRkKMkA4iAxZX995pvM3KQRp0bQRevTBUv35FKwuyahy9NonuBTbPNaIXV94l7bw6ourUZD2vUQHIBUGyNVYgZg3Btkc5LpkcFeD4qVwnOTuwX6iek4r1LBiyV55ho6hURfNEABg3XjB63jR3fnbaOCHlYH+Lh3A8yyc//LH43nPP02MvL61E/3ifYxA6jXZcvHw+Ll0+y4lO2OFL65sOx5rcigaMe++9N5ZWlujps6CjSarG667KaYfmNNv00uZXU05ak+gynJbGDFncKQCSIjDPZMmHAS9HLQypNA3SUURp0YhEh2XpWboZMBnsP5X4w212PrWChqriSIqqBJHT8M0EwRNTK2LfRcyaCZ6iGP5DEwsMmrPD2zotIk+6qxtXiT6Jn2valXKv1v3UHHrZVPhepbCs9DG4dt6HhDhlhAafDy7TbE49quTnVcrDginFpZdDt2pEgwcb1SOqzd3Mk6KpIvzpk6axQPmZcjYS2+F7lOn+w+cfrx2RbiNPXXN2HM2Ch7LeunUrbt66EV/83OOxs38Yo+mIsxhROGLDxlid75DcYpeNcRwgjxJBMWnKjhP0iKJ/FMdvPPa2R2NpGeeDokKpsQZUodUoRMKNU8o/GWVia3oa3r/mqgCEZCJV9yqJ2VPqk9gRDy+rwaS9yNSIe0ZPKyt60NoX3tY4O5WOPMpGho9sIFkZVvywQazaU95juakZo7oXLoZRJqWZwUBedNznQVVYGB1KDHYKa5UntGWN6i7IZel1fTPwKu/y/qdp16o4lZElf05hmgewshLh+6nuuaa/cfQ8DQH1OzRWjw0kVLJ8QtVQYXTCSxq+K/XIpSjzNXVwOnQmO8wQp/tVtMH7s2D0OUCXOzvKdPNcUfK1YDHUf4iH9PTXvhZPfP3J6OPkYgwb5S4fx/btt3hdYFxgcJieSpvgufYqy3PcmMN4p9tjN5EKSKvx8+96Z2xsrPPgJ2yYPH9UZQWTuHY/eMi4CUxtzd2qhTSrkl3oDv3ZBc4HlWPuLAorD98jpUvFkR7cVU57LLY6p9v1Y0iGQ8ZaKeXSePVyeSCF7UxifTOZiBaOvqrs0nB8KDDBjZs4BMvkqXDAAhwERoTQ4CREUbhP2FUrnJSInQUZ1x50Xx6Hh3zJnUP1+y2R4hQLk9DM91gq03Y6FKQJjuqqsDWQ/Ct1YOEoWxUtlSAhwM3b1Fmz1sKokeN0RCTF6WdJ4848VHXAU7CxGPrtbRztUu108syec8KkZzaNl3/8bPz9330+9o+HnKWoKuM0btx8g3qW/NPuLnL+9dH+NnsocZIBw7sNHuXebgeH5/ZosGjOePvb3xYXLp4tR/ThAcL7azRc1Usor1jdcEnsMjHjwqnqSZlu6RSv8hnaCmlFGwWqit4YuFeV/PXwSOOxMgW5sSQF9EB2ChltRMPqUN70Jny0OW1L6auXyFoVRyF5S8Gy/FM8bNKF+BtRli2NOoyYXyPSeEa4DFn3CSfEI85dhyjvl8c51dkatw7mqXeCLromK86coIrZ4LeN2Vl7EK4pEJGV6OT6k5lhjk9GoOQoVX+ou8o8ggRWykSVEFrUaD0iVdencXW8lewkw24vOnT3K+Q03S9+4SuzWzzDKIkXeZYsKeNvtU2N4ntPPxVfe+LpuLO3H0iRoC6+c+cmjwZhwoBpAO2eju6YDsrgICY0XlD8CxQi9jkO6cLhuQ899ED8/Dsf46kHiwvLPDAAr8tJAHJCBIO6zmIUktTK4Cr9BTdtNkWc4sVVXWQS6nOS0P6X8EXTXPWH8/zIPimpLQxBLbNXyLbi8FQXjBInPvCUXyDJMkyqZw4pbEp8mzBABw4kZeYT9JpNrjUEctJ7yBhgpGRk7KXFPFlJWqfcvG7JZGV9hJ1UrDPkvBsfR4OS+l0addmJDDGvVW2XWjntX4/acPQgUmBhTh69bPmSeJs751lWmMnpajSgoPuD03EQghY1qmsurpQzKaWATMwVrg/KWkkAvviV2e3b28WAKkFXNY9EEkro0odx4/U34oUfvhAvvvpy7O7uxPbe7dg5ONQ87E4n5js9/ls64SZPSiiUFY2sFV0UUcbjmGt36KUefeyReOht97M5A5XS+bmFgrnESps2LPyqPbSNMj2WvqxmC6YuRF6g0o2UgaAeYprWXcRXfmhlQCc2012FpGrh67jYLtV8e6axlF8AuvAhy8wrnrg48vIM8JBQtcXrknKrU5bT4UhyZp8GwvtnVVQKUM7WZeWy0nzcnbTiaxmfRGjaNMmGqPkmC1/pXHTSdGplZNT4/fqpHfkMSnxyI4QYqFQkOtn3rHuMVM5mEeRJathAFKtYsFyl4uTqfcK8qOpeKx2Mojt5dGD0nTvSuiSOy65/Lh55TykaeZszDIyfxJ3b2/HaKy/GMz/4fty4fSf2j3GUC/TEOJ2szeQV7wlc3cPBqz2JokAXzXXa1EK0aVCNuP+Be+P8+TM87WJlbZPH7eFHgDl8YPCaRYdsMIaKGg0/wVlVIld5PE+oqyIAPo2en7AIh4fp4K/sL0xPnoOK+PCZ3FSjiesJpDxaVTXXhoN5iI7Nh80rdEHG4mHKFXLNf5ZykAbIWZY5gcC7A++FCm92cqAjy9BGq6n7JVt0F96ufw42Gmom0gN5s6LaZu2PjhzQ5iEb5U4iz+3lezM3yiFM3uNlQH9+7RxKV2Zvn+K6vFbF2RIJUiIBW0lYmYae7ZM5bU0evoouFfOSdoHKqLUu29t30m/KJ9YO7OKD5dHooBgVm0aTsUvP0/jxcz+MN15/M3784gvRPz6Jw4ODmIw1Zng8G8fC3FxsbW7wWJf2XJNVPk718oB3HOTF0cLdbiwuLcfi8krMQQlJ9iVxchmjKYMxtUQjyA6aVN158QqLYbwotkJCfJ1KIS00h1/WGjNK+xdPQNPnSnLgf7uyqdOU8btVMlpoQl6jHi2ucBIT9Yf6YZKhqvU0JuS4G6ebO3CcUkFE6lIZDDh2TpQ1bKkf1UgnUcBEcuTm2k27JkWpdVEhSVyn2ymLWMxVaucnohTzpa5P5GauEbpMEYijT3PsJXdyJpRKRbxvHuzgjhZSkRogpc+jYfsZiL4VTOXPaiO2c8YLLsuG/vjs/2/rbJTkqm4gPDY2IQkFgfd/h0DsAGUCIQ/jpILtOP8Ye+1NdX/d0pl1tlLxMjsz995zdPTTkloW9My30R+qEeuHOQjMJDP+LkRFPufFpETadA1U0nCmH//y58vTp08v//nplTfhN59qTPYHnias9VHV4q8+/tjIC03VTEUQk6xm03z48CN3JnnhD5ZVM9Ca528bKtyxnv7IYuauLzl8OLqdVKPzDwvGgw8/uoiLT/HAvC/4+mK+BFnEQkCOsY64YRJuJS/Sj9qMHBq63TUkbEgsErDpeeXP5uHii67rAs60rlAzju2rtFU9AklpPmVP9XzC18c9iatJWxpCXn+6v9sw1EiUZCm3MlbLB3xd2Lp/k7WOi4TDeB3jNTi2u9Jjb2uBBWWfMrAh9e2mM2wMlo6irRo9GzUa1Ga9QyFOWThCT1E8Xgqoy3c/eBCAUsm6kLqDvOFtiRO0lUIfNL18J7F0laaOgyFfXO7Kq59eXf4r/uyM1lPCR03Xb35+7ZV1kGeGVDQHzRD3EXTNq1HhVwq8HgqaSrqZUtWUxV5URqCTEELALI4F7SDA8cnvLE89j7p3dLB+obAId6TCzcQMonjbkaIy7m/sVtZvhdBTqJFN93S6RIeGYnqsylpR3m9VTQIF3xiNaZ98nFu+axkeuYc5aE3pa0T969dGpyDEh5LNMKEzvdGCM5g3LtWhnc8qxrpTp0/M4cBV4YdwctCcVk6mYIu6qSJJ7KFrfLzlLMaCBy2pQ3jtNqYysdWMaPGtMbKC0vOctIWtj4oVdgbc5dYXBupK0NV44YsUr000zyaEcxtH02iC4EIJnUyKXAK9T0LeUlP9/vrmhloN8zCqdgNyWnfE+GFUjQaUJ8RA2tHVjUJuXPJLhN7FrWay8LiQx/yxE9jVB7S2GaZVpGZYAPx62tfk17U516+j4T1uZfoPJRRwONZ03ry+AWZz6QFCZYs3irm/YQXbcVU/2Pdz4PrWtLEcPgSdaRQkyWIZf/wqPihTb0Xv5p0FXgOvTK9s7knu5YwF+h0kfxDAea1xWuc5naUDyRgXxDF3Zf1vMyZkKnegyYEH60oGKjwPBxaCHIUCzwahKTb3eXJiKV0kyMKO4lxsPT61qVBaHAwkrO/0sK6zTHfQi1AvFLcmOC1FWVib3NaGC+OeUf2r+ZA/azDr28urN5oVj1vjEYW2ABJM1aWbQAafyiTxCmChxxBiI99Xmr19mhbuHDQ/q3L2ODLZy22MAPdGK1sj3unJpKmC2njVeDep5KSQPwvOPfmHo6xUC//vf/3z8suPf+37I/FBQRbXkuyQMygxkIe6mh2XxJldQGv86WJNKIZZ73u8+RFiuw81+bG4+K3L2NtMjLW7xut4tg8+LIr0MCvRyRu8omjvavNJ7x9r2PPcJgwpjg4zOKPvXtNPeVB4NL+BK3VUMZqz5kGK8hY7b5cYjGtlCFhXaS2P6s9b+Zj5svZMMvHi2+//dPvyxcsD7io5DZtmsxX3oUOkTEYp2jrxeUtzm3BUCIuIRsWHfuN5lKKk06lS84U3xiKwKIkEuvOHxOBkX9382BqLXY2OECngcId84CrdkuSSOZ8pVkkJaOGlLTuNINb/y6Des/ULoaX73Bo8ySF7GdnoklbWJ2dj8U73/yMwRisob279t6+h4EpT6wL/dTVsTWI965PjAvOOUuhpP3xoCiGGBEguZ7Oxarx2s3C77puMObR7BX9999YVHbYpWt+OyP+BKhEyElV7kFIXlIDZQEa+8sShTFRUuDWWx72j6vSP2zP9vQo4kzFtFGxauwS5vk1b3SUeHQN7W0H/7gdoo68aLkI/Fkaod2+UyudHQt7idgt+/puJDW+Nj7vx10NZqXHRWHQWS5nO+G4S7Phq9ZOFxnTKmBsP6HPzQsL0lKXNqEdH1pWmCnGQjWpyhKTVhzn1id61SQ/ittR8+/ta1xINLI3q6cThQ+/9lr4t5mUHA1RAEhhjtcNPOEKRoOmwOnUdN6iERD/ccYkeDqFzzBXNXiIhPW86b/R91uwVutarv9dQgUvQVrwT/bHn1MB8CtN4lhXuJd/HjQPHxwO22KZZnVLdHi6uU78/BWVCp1K+zXwB9m6FGJfXFi57ra+gJKTcjBHWVH44GP32DwpGX04pSB+gQ6rMPZibs3+uQNSjTPQ72TQJtIRcAi53xa7OzRtX2wll8H+b5enGqf2mcWmEvqa54OSmQjHdLK5raIoxlXnoUvq53NSQQJSc6zYDNElRk0nXT06+BD3JJG3KTEtQzTzRF9bEbU+6/wTQYidQh4tw3pkczSh3sP1lxvU3JFXtDa4rMQdzdMhg41gWLMEIhg3N+wFrqa6tCUcTBEtP7OD7P3+CVlkbGyaMraXnb97pw+892IrFHsZNyvTtCSa9Hov0lHAI5cAB0WA3KTTVNoGSJJbwmmRYl/sEYNwl6KSUuz/sFchcSU1LUrsQGe/+DEH/o1vpTlPWh7EwC0Y0tEjQKSHXj4RY401EQM/kOgRc3C4u5orgq8heAl4qGp1CMHI9leqLIRcd/uvCeVfCXhqbNvk2SEUcDKO5U8UqgMKnCEnHaDfQ9AalxWonLVA2inC3KZtFJ2H2LnXq0cqm2LoJ9bE0GIKkDXOHvivt2rSbAxMEqBjDmifiicJzFWxDmBbcFJhVn/ser8lOeerSQ+/hyGpcaXS/dpXkymdH67f6j3yFS5hTs2YBbmVrrVXiQH0LzSgpWS7MV83u2AUlJwsvxaNZovwELSs1RmqWyA4vtk9BGx7B8nLyeWv54zyfMdqnqkf/9sn3ty9ewuvS+gB9tO6JatHNyeg0MxlKDgD/ahKCIcQIuWkZklA6cfgKQikcwMnDiR1IoyfbDxICnznt0RKtaxki1mDX1UoUFCmoa9ZPH0QbWJvPyA80kLW7sqTBdgtZWdMnqHVxmQMnLIHmp+refbhc+NXezWrH6GP75GijJmegY7hcHiSAdae9DsrM+WTraaBK507QIPY8jLrlQJ+jEPdBH/YIdXSJO7isuYFEvU5tGveB3JY8Y/0tyErztR2ECq9zFh8MNYpkXIVddD0xtMweQQJ6J9ViTTZgRy2DtmTydVvptJ4hKW3F6MhEe1WVi3HpAz9OR2WYsp9rCJB6hlSP/tnl3pMn32Wgbs3NppelnXuCCz+atsCro0UCT5dLo0W01pfpy8x7Tvm2leXSyRBmI6jp9QJxSlERTj2THH2vsm98yKlbX0yawLQUEWq1a4ktaIs1whGUyj1QYZdcKlcgZrF6MFE4oaWOQPszKQAzU0ECSfx8itGWO/zAm1Wo1maMPClBOjmMAEvDK4NGv2ehrY/PGiqY3WFcULflLwpK0xHYUSp9hvrq6Nbo0lgxqulzrz7gfQf7cdfirJhxeDoFG4+P2hUfVNOUrCZeZAdosffSNXCNTQLVQsaT2NNBLUgQi9+RjAxJRhF5D1PNqbs33cXX3zy5/ZsmRwc7pY2O6cKeFP32jTfHrooRmODqQkBMQImQK+rHv3cLLcU+sFNeJRZI4RMldEyKhSoL7wNlfxv82MITl6QFpMHLJq5wiX5br6JN8PPbZZIUtFPfG/tb8H0oot1lKitUBzwpljA3Z0zzxWpLw4gRtA3OEiBmegi+JAcGvsUmu6hHcZ39QakGYWpw7rSw+RrZIwf0sQjeWKfsEfXB3ZPw8quZPjGJzOkBbSIIFAdIsKHJIlUnHn8qgFv5ChrPPsFtYN744rmhK7d444GiXNn78ChqSIE1tS3STp6z4rMiyhHLXpAuILagZBnnsEpCD/W5WAC++vqb27/bR88JdM9EppBZqJmhaWMsIZb/bUqVHAh/TugLCzTFRqFndrLoaO3y2PAzkRFX4y7W61HhN2RpjUNnTLZ9/dBMEEOZCSQp5fWVa6K72D5bKZvtCBi/R+iOJ8ClUbta+YOHgQVFq6biqtBETEICEas4nEgF67BBXYXDdNTFyk0OhKaUJVS9yiRTosk5QEmAZfOKNsTQTOBX14juofZ4I7VyL5uV7H26ySETJq9QlrGpOTbV7kkoSoOiCHG5AlWgkFQ3aTcm5b1R13WZqs1RQBHYWGCcPYTe2XLnCEItnaDC+yZO8lhky0bCdnJ4oDM8Gr/rWp988vHl3uPff3374vlzaq7lY1kLQ3Ms4XdgaV+OBNG5gXVLCBWZN4niWsIj8F2ESN9FtWEK9jE0+V9qE46AYv26TqWLdXAEzoSJAyFfCCqQ46SIvaNE6OPaaFE801QBEvwuej9jE8HAhfVCs41LQqnudfSPu7L9rFi1PcxaS7QqbWi4Na1zD9B+WLMzFVKORI9i9DoR0pfnhoRhEQsODbbAYeRg7XDCRPfbqqQGp0mrSB2dYOsqlpkg3mQURYrLMvG6ZEbIheKiIFbeZpKMCwbNjaB1Y4Fa33LPJR3ES3aeTDG3a2vgYYboNsZLfZDOQKgzqtBKVPqp2HQfP/4K18VyRmBZPmwLsh4gCypk5S46U9fEtQwe2iVG2MwrzRBXLTzBLW6NNYjHGi633yBHrhWoa7B86ZMgGYyp6EBEXVoiAa5hvNatBDqzOWwdjFGX+5d3xvJjFO2io0lcNmYtUh5BH2N8/IgTVBnb/lYtc9Z5GGxMQgv/+xbrkIFe9XvvHpTF6cNAa23OAQFOw/VTEGhxPnpD664RBHNAYepKv2fSdlBlVHG0qjEBewK8Nuz0MGtvG9+cJb91dU+3hsc9uqpymO0VhOVBL9GYvlBhsXHLSCZ/F648oedei/cR48BbmeceFaBg9PPLvUePH98+e/4cM3TMKxIsSG2KBK9DVmnfcvARTc1Q1gZcLKpHmVRLWM1QF+OD4+AkWiMbhN8OZtuWMw5DMVZQFAtryOIbHZ1m16f/hKBcz04NRnFf3BY8Ugc5jtjVzZj0v4PMAQw3eoi201rafvl8bY5hAqFo9+hPNPFRO6LzRFNDYcD47jnADfr9b3nNB0NvYEgjijV6MsZ145Cn0Du7XpzMcd3KCm2pK7QWjqXyfOJBaY2IY4sIqAXLkOdyU0YD5sDX1WnxXS3IdWmBZeDINs99HKW8c2AONO5MMlW4dc+m2Na9deJ4S3Udx3Dznhz9u8ePbl+8eOaxLOwJDc1NGNnEqIVUfnoTDa1Xjxm032lhJpHkQNB8jYsnN2gtLFr41af+qDGn0SFIif29LFjQFyd2JMCZOzTwUzOP3Yy4JrVGvqdsFnZc2vqoYHQhVKxCawZVBqvERRjF9Jzt7GqJ6yIs6GeCueVYsYbSAraOPfOKfC9Y99NbQUxzWEbrThC92LrilJPUfyxtDmHZdLECsj5SGnCmdI/6GRO4Dt/NIji4rJv88bKJfSANMe5LjcXcMgAOP2cHReWSkeYjGjSPy5ehW1qHzB/qQfBaRJDbr2vlxEmYflLf+/G6r6siPdP83QIvPrZGfxYhpxSSxThhRMbpod05JiUe7XjwlvLqJkrAWSy+Gt/dKWn58vtS8O9nabhvl4ETOqYvTLqtay4i4QVp9N28gu1cHKEZ00gRLGXna97wA3OoMq6wGoKNIQVfk0nHTpljt3+VDQ3ufQjqQKX4LaE0zo1kl6w5AAAE2ElEQVSetSOpXdmxJdiuumto28Y1uC3YJIrH5mDUhTlKDhDqa6iwWh8FhdDg2SyVRzV4cUsJjPbPY+yTnur31gfnPkLn3eK2cTVb157ROYka7Iq1itLIGcFkrT7u4h4ar4yFnPUp9NhDpb+XxbeJMWt0Cfrz588H767f6QVy462gQnoX65fVbbHWV6TNce4TTsA6Puyx+QSk8Tc3mqTHNP6jvy+c12PG3ElCNL8w3go6i0yyglLNFurjvdC5ggZyy1/mESngATFgrIgBusiUCtbuf/jwOEz304WznIos8CIBVxo5LX2IudXDwF61RK3RwJLGGpTFwOuRlrvECySfQmVni7otkPp8/X+EmZ9eC+3Ovdo1LZ101rvuAX9n/tCCD4FrUYOjEKUEKg/6V5luykNoWK/16HdOWFzU5ajLHzfU0IsB8Rn547LgwsCW9q00JaeBT+86GUe35EfkMptk9NGjR7fPnr3YSkUjLYHGjLSEijiCPj6e3Zdg6xU+yycuC4fCEQ+UyfXjDWkFJ+9GeDd6jovc1CxSmXbfzRbXkxx20ZafcbHulIHSEh/oiQtSTdjqyHBAuituW75ubsIs4EyqFpDEB6l2PVsyohYSOEoq5COwsVIE6iBT9VO237JFTptYUiDZ+aLtia22rXW0UGSYQOnaBm6bKc7rQp33Vgtgq5H3kuefo5H7xLffYq/Ujt/pWDoP0hkzjRt71LVzbVh7T7eTvU1djVGztxA0mRMHlxLvRmvtLfG9GU7MuNCrsl+z76L1rdG//PILswDoBqhZyQMn60jrmsaDpGQ3otKTPu+vIDtbGu0aiIl5jgjcNAXHzapP6zYql5MO5QomucRDmVE5iaYp0Swa0VPDCmhz3FGesM9BqL2iZvlSl34Gqi4bpuZl7qtT8WwyUwxmPztknJOLLm60mrK0DSSMkrULlYNvpgKZkoUqADds9LnzWFjN6+CwwrvWIWry+MxVsF4f41j7gRAPMa/FPCsGea1JuPeFdDQ2+CR5luDZC0xwf9wT2dJeq2jSXDPFcXU16c3FtWr1or/FtCTg5cbSja0n4ZS47jNp9C++/O3tj399NkGDA4fcKBgI+Gh5szmlJIwsNvbd4oHmb0oqjR8tYU2SoWtZE/nu5k2q1Yrreut4IAtGhMZaNZs4qV0aHhykxJw67ZtkRK2f7yM9ob2+4bv661bIWiwYfj1Y4NxQT26I43k0UdsuBKGwr0xHCGpgAi2eByu4Gr9JnW7cNXpzz0oFhOPAkFM3QzBPDAWU2IB9LQLPudq88NxozPi5zGQNahELQcaGLKxd1xBb8Z3LM2OEzPwdbXoxeXfyD5lx6i07s8TXCMwc1Nwvz5ZyjuZK3CKYitRYzYGJHYBCbzeoWn36NraLTVfB6NOnT2818fkUQv8+8GB1IO/wwrJ/R7C0csgfVrP0t/q9nGjeYv80dR6JirpHq1+CYtTLJdGwzFBREV2qWI7rr2k7Wysa8ecC1TVjeviy/B1h6f3uN14/23pcfB+uzVEbwst+van9XDnP2E/sI1/9Rh/IJFfuXD1vvdbkE9ivN7jL2/3r49356D5wEnmFHaPRE7vO3k9BRQ/KxBm5aR5+to/LRbNnfe8+7yBXk/6K7GVPJr6dcg5wdF9qDGt/uZh14n9LTGNkPtJNvgAAAABJRU5ErkJggg=="/>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56;p3"/>
          <p:cNvSpPr/>
          <p:nvPr/>
        </p:nvSpPr>
        <p:spPr>
          <a:xfrm>
            <a:off x="1524001" y="-48399"/>
            <a:ext cx="65" cy="55399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br>
              <a:rPr lang="pt-BR"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57" name="Google Shape;57;p3"/>
          <p:cNvSpPr txBox="1"/>
          <p:nvPr/>
        </p:nvSpPr>
        <p:spPr>
          <a:xfrm>
            <a:off x="391279" y="115890"/>
            <a:ext cx="7910513" cy="5048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000"/>
              <a:buFont typeface="Arial"/>
              <a:buNone/>
            </a:pPr>
            <a:r>
              <a:rPr lang="pt-BR" sz="2000" b="0" i="0" u="none" strike="noStrike" cap="none" dirty="0">
                <a:solidFill>
                  <a:srgbClr val="000000"/>
                </a:solidFill>
                <a:latin typeface="Arial"/>
                <a:ea typeface="Arial"/>
                <a:cs typeface="Arial"/>
                <a:sym typeface="Arial"/>
              </a:rPr>
              <a:t>Overview (Product/purpose) </a:t>
            </a:r>
            <a:r>
              <a:rPr lang="pt-BR" sz="1800" b="0" i="1" u="none" strike="noStrike" cap="none" dirty="0">
                <a:solidFill>
                  <a:srgbClr val="000000"/>
                </a:solidFill>
                <a:latin typeface="Arial"/>
                <a:ea typeface="Arial"/>
                <a:cs typeface="Arial"/>
                <a:sym typeface="Arial"/>
              </a:rPr>
              <a:t>概要　製品/目的</a:t>
            </a:r>
            <a:endParaRPr sz="1800" b="0" i="0" u="none" strike="noStrike" cap="none" dirty="0">
              <a:solidFill>
                <a:srgbClr val="000000"/>
              </a:solidFill>
              <a:latin typeface="Arial"/>
              <a:ea typeface="Arial"/>
              <a:cs typeface="Arial"/>
              <a:sym typeface="Arial"/>
            </a:endParaRPr>
          </a:p>
        </p:txBody>
      </p:sp>
      <p:graphicFrame>
        <p:nvGraphicFramePr>
          <p:cNvPr id="58" name="Google Shape;58;p3"/>
          <p:cNvGraphicFramePr/>
          <p:nvPr>
            <p:extLst>
              <p:ext uri="{D42A27DB-BD31-4B8C-83A1-F6EECF244321}">
                <p14:modId xmlns:p14="http://schemas.microsoft.com/office/powerpoint/2010/main" val="150175244"/>
              </p:ext>
            </p:extLst>
          </p:nvPr>
        </p:nvGraphicFramePr>
        <p:xfrm>
          <a:off x="211165" y="4766586"/>
          <a:ext cx="11700071" cy="1314626"/>
        </p:xfrm>
        <a:graphic>
          <a:graphicData uri="http://schemas.openxmlformats.org/drawingml/2006/table">
            <a:tbl>
              <a:tblPr>
                <a:noFill/>
                <a:tableStyleId>{A6DD7A83-4E89-4636-ABC7-2F98FFF4DE42}</a:tableStyleId>
              </a:tblPr>
              <a:tblGrid>
                <a:gridCol w="156304">
                  <a:extLst>
                    <a:ext uri="{9D8B030D-6E8A-4147-A177-3AD203B41FA5}">
                      <a16:colId xmlns:a16="http://schemas.microsoft.com/office/drawing/2014/main" val="20000"/>
                    </a:ext>
                  </a:extLst>
                </a:gridCol>
                <a:gridCol w="1445840">
                  <a:extLst>
                    <a:ext uri="{9D8B030D-6E8A-4147-A177-3AD203B41FA5}">
                      <a16:colId xmlns:a16="http://schemas.microsoft.com/office/drawing/2014/main" val="20001"/>
                    </a:ext>
                  </a:extLst>
                </a:gridCol>
                <a:gridCol w="950851">
                  <a:extLst>
                    <a:ext uri="{9D8B030D-6E8A-4147-A177-3AD203B41FA5}">
                      <a16:colId xmlns:a16="http://schemas.microsoft.com/office/drawing/2014/main" val="20002"/>
                    </a:ext>
                  </a:extLst>
                </a:gridCol>
                <a:gridCol w="703370">
                  <a:extLst>
                    <a:ext uri="{9D8B030D-6E8A-4147-A177-3AD203B41FA5}">
                      <a16:colId xmlns:a16="http://schemas.microsoft.com/office/drawing/2014/main" val="20003"/>
                    </a:ext>
                  </a:extLst>
                </a:gridCol>
                <a:gridCol w="895218">
                  <a:extLst>
                    <a:ext uri="{9D8B030D-6E8A-4147-A177-3AD203B41FA5}">
                      <a16:colId xmlns:a16="http://schemas.microsoft.com/office/drawing/2014/main" val="20004"/>
                    </a:ext>
                  </a:extLst>
                </a:gridCol>
                <a:gridCol w="707688">
                  <a:extLst>
                    <a:ext uri="{9D8B030D-6E8A-4147-A177-3AD203B41FA5}">
                      <a16:colId xmlns:a16="http://schemas.microsoft.com/office/drawing/2014/main" val="20005"/>
                    </a:ext>
                  </a:extLst>
                </a:gridCol>
                <a:gridCol w="551997">
                  <a:extLst>
                    <a:ext uri="{9D8B030D-6E8A-4147-A177-3AD203B41FA5}">
                      <a16:colId xmlns:a16="http://schemas.microsoft.com/office/drawing/2014/main" val="20006"/>
                    </a:ext>
                  </a:extLst>
                </a:gridCol>
                <a:gridCol w="693535">
                  <a:extLst>
                    <a:ext uri="{9D8B030D-6E8A-4147-A177-3AD203B41FA5}">
                      <a16:colId xmlns:a16="http://schemas.microsoft.com/office/drawing/2014/main" val="20007"/>
                    </a:ext>
                  </a:extLst>
                </a:gridCol>
                <a:gridCol w="750150">
                  <a:extLst>
                    <a:ext uri="{9D8B030D-6E8A-4147-A177-3AD203B41FA5}">
                      <a16:colId xmlns:a16="http://schemas.microsoft.com/office/drawing/2014/main" val="20008"/>
                    </a:ext>
                  </a:extLst>
                </a:gridCol>
                <a:gridCol w="4737672">
                  <a:extLst>
                    <a:ext uri="{9D8B030D-6E8A-4147-A177-3AD203B41FA5}">
                      <a16:colId xmlns:a16="http://schemas.microsoft.com/office/drawing/2014/main" val="20009"/>
                    </a:ext>
                  </a:extLst>
                </a:gridCol>
                <a:gridCol w="107446">
                  <a:extLst>
                    <a:ext uri="{9D8B030D-6E8A-4147-A177-3AD203B41FA5}">
                      <a16:colId xmlns:a16="http://schemas.microsoft.com/office/drawing/2014/main" val="20010"/>
                    </a:ext>
                  </a:extLst>
                </a:gridCol>
              </a:tblGrid>
              <a:tr h="0">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r h="488706">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gridSpan="3">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Currency K JPY</a:t>
                      </a:r>
                      <a:endParaRPr sz="1400" dirty="0"/>
                    </a:p>
                  </a:txBody>
                  <a:tcPr marL="8775" marR="8775" marT="8775"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hMerge="1">
                  <a:txBody>
                    <a:bodyPr/>
                    <a:lstStyle/>
                    <a:p>
                      <a:endParaRPr lang="pt-BR"/>
                    </a:p>
                  </a:txBody>
                  <a:tcPr/>
                </a:tc>
                <a:tc hMerge="1">
                  <a:txBody>
                    <a:bodyPr/>
                    <a:lstStyle/>
                    <a:p>
                      <a:endParaRPr lang="pt-BR"/>
                    </a:p>
                  </a:txBody>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Investment</a:t>
                      </a:r>
                      <a:br>
                        <a:rPr lang="pt-BR" sz="1400" b="0" i="0" u="none" strike="noStrike" dirty="0">
                          <a:solidFill>
                            <a:srgbClr val="000000"/>
                          </a:solidFill>
                          <a:highlight>
                            <a:srgbClr val="BDD7EE"/>
                          </a:highlight>
                          <a:latin typeface="Calibri"/>
                          <a:ea typeface="Calibri"/>
                          <a:cs typeface="Calibri"/>
                          <a:sym typeface="Calibri"/>
                        </a:rPr>
                      </a:br>
                      <a:r>
                        <a:rPr lang="pt-BR" sz="1400" b="0" i="0" u="none" strike="noStrike" dirty="0">
                          <a:solidFill>
                            <a:srgbClr val="000000"/>
                          </a:solidFill>
                          <a:highlight>
                            <a:srgbClr val="BDD7EE"/>
                          </a:highlight>
                          <a:latin typeface="Calibri"/>
                          <a:ea typeface="Calibri"/>
                          <a:cs typeface="Calibri"/>
                          <a:sym typeface="Calibri"/>
                        </a:rPr>
                        <a:t> amount</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Collected</a:t>
                      </a:r>
                      <a:br>
                        <a:rPr lang="pt-BR" sz="1400" b="0" i="0" u="none" strike="noStrike" dirty="0">
                          <a:solidFill>
                            <a:srgbClr val="000000"/>
                          </a:solidFill>
                          <a:highlight>
                            <a:srgbClr val="BDD7EE"/>
                          </a:highlight>
                          <a:latin typeface="Calibri"/>
                          <a:ea typeface="Calibri"/>
                          <a:cs typeface="Calibri"/>
                          <a:sym typeface="Calibri"/>
                        </a:rPr>
                      </a:br>
                      <a:r>
                        <a:rPr lang="pt-BR" sz="1400" b="0" i="0" u="none" strike="noStrike" dirty="0">
                          <a:solidFill>
                            <a:srgbClr val="000000"/>
                          </a:solidFill>
                          <a:highlight>
                            <a:srgbClr val="BDD7EE"/>
                          </a:highlight>
                          <a:latin typeface="Calibri"/>
                          <a:ea typeface="Calibri"/>
                          <a:cs typeface="Calibri"/>
                          <a:sym typeface="Calibri"/>
                        </a:rPr>
                        <a:t> amount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Margin</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Margin %</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Collection</a:t>
                      </a:r>
                      <a:br>
                        <a:rPr lang="pt-BR" sz="1400" b="0" i="0" u="none" strike="noStrike" dirty="0">
                          <a:solidFill>
                            <a:srgbClr val="000000"/>
                          </a:solidFill>
                          <a:highlight>
                            <a:srgbClr val="BDD7EE"/>
                          </a:highlight>
                          <a:latin typeface="Calibri"/>
                          <a:ea typeface="Calibri"/>
                          <a:cs typeface="Calibri"/>
                          <a:sym typeface="Calibri"/>
                        </a:rPr>
                      </a:br>
                      <a:r>
                        <a:rPr lang="pt-BR" sz="1400" b="0" i="0" u="none" strike="noStrike" dirty="0">
                          <a:solidFill>
                            <a:srgbClr val="000000"/>
                          </a:solidFill>
                          <a:highlight>
                            <a:srgbClr val="BDD7EE"/>
                          </a:highlight>
                          <a:latin typeface="Calibri"/>
                          <a:ea typeface="Calibri"/>
                          <a:cs typeface="Calibri"/>
                          <a:sym typeface="Calibri"/>
                        </a:rPr>
                        <a:t> method</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Expense accounting method</a:t>
                      </a:r>
                      <a:endParaRPr sz="14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229250">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rowSpan="2">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MAE asset</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rowSpan="2">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Nitrogen Generator</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This Time</a:t>
                      </a:r>
                      <a:endParaRPr sz="14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8,279</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dirty="0">
                          <a:solidFill>
                            <a:srgbClr val="000000"/>
                          </a:solidFill>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r" rtl="0">
                        <a:spcBef>
                          <a:spcPts val="0"/>
                        </a:spcBef>
                        <a:spcAft>
                          <a:spcPts val="0"/>
                        </a:spcAft>
                        <a:buNone/>
                      </a:pPr>
                      <a:r>
                        <a:rPr lang="pt-BR" sz="1400" b="0" i="0" u="none" strike="noStrike">
                          <a:solidFill>
                            <a:srgbClr val="000000"/>
                          </a:solidFill>
                          <a:latin typeface="Calibri"/>
                          <a:ea typeface="Calibri"/>
                          <a:cs typeface="Calibri"/>
                          <a:sym typeface="Calibri"/>
                        </a:rPr>
                        <a:t>-</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r>
                        <a:rPr lang="pt-BR" sz="1400" b="0" i="0" u="none" strike="noStrike" dirty="0">
                          <a:solidFill>
                            <a:srgbClr val="000000"/>
                          </a:solidFill>
                          <a:latin typeface="Calibri"/>
                          <a:ea typeface="Calibri"/>
                          <a:cs typeface="Calibri"/>
                          <a:sym typeface="Calibri"/>
                        </a:rPr>
                        <a:t>Depreciation  8 Years</a:t>
                      </a:r>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229250">
                <a:tc>
                  <a:txBody>
                    <a:bodyPr/>
                    <a:lstStyle/>
                    <a:p>
                      <a:pPr marL="0" marR="0" lvl="0" indent="0" algn="l" rtl="0">
                        <a:spcBef>
                          <a:spcPts val="0"/>
                        </a:spcBef>
                        <a:spcAft>
                          <a:spcPts val="0"/>
                        </a:spcAft>
                        <a:buNone/>
                      </a:pPr>
                      <a:endParaRPr sz="1000" b="0" i="0" u="none" strike="noStrike">
                        <a:solidFill>
                          <a:srgbClr val="000000"/>
                        </a:solidFill>
                        <a:latin typeface="Calibri"/>
                        <a:ea typeface="Calibri"/>
                        <a:cs typeface="Calibri"/>
                        <a:sym typeface="Calibri"/>
                      </a:endParaRPr>
                    </a:p>
                  </a:txBody>
                  <a:tcPr marL="8775" marR="8775" marT="8775"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vMerge="1">
                  <a:txBody>
                    <a:bodyPr/>
                    <a:lstStyle/>
                    <a:p>
                      <a:endParaRPr lang="pt-BR"/>
                    </a:p>
                  </a:txBody>
                  <a:tcPr/>
                </a:tc>
                <a:tc vMerge="1">
                  <a:txBody>
                    <a:bodyPr/>
                    <a:lstStyle/>
                    <a:p>
                      <a:endParaRPr lang="pt-BR"/>
                    </a:p>
                  </a:txBody>
                  <a:tcPr/>
                </a:tc>
                <a:tc>
                  <a:txBody>
                    <a:bodyPr/>
                    <a:lstStyle/>
                    <a:p>
                      <a:pPr marL="0" marR="0" lvl="0" indent="0" algn="ct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Sub total</a:t>
                      </a:r>
                      <a:endParaRPr sz="14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lnSpc>
                          <a:spcPct val="100000"/>
                        </a:lnSpc>
                        <a:spcBef>
                          <a:spcPts val="0"/>
                        </a:spcBef>
                        <a:spcAft>
                          <a:spcPts val="0"/>
                        </a:spcAft>
                        <a:buClr>
                          <a:srgbClr val="000000"/>
                        </a:buClr>
                        <a:buSzPts val="900"/>
                        <a:buFont typeface="Calibri"/>
                        <a:buNone/>
                      </a:pPr>
                      <a:r>
                        <a:rPr lang="en-US" sz="1400" dirty="0"/>
                        <a:t>8,279</a:t>
                      </a:r>
                      <a:endParaRPr sz="1400" dirty="0"/>
                    </a:p>
                  </a:txBody>
                  <a:tcPr marL="8775" marR="8775" marT="877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a:solidFill>
                            <a:srgbClr val="000000"/>
                          </a:solidFill>
                          <a:highlight>
                            <a:srgbClr val="BDD7EE"/>
                          </a:highlight>
                          <a:latin typeface="Calibri"/>
                          <a:ea typeface="Calibri"/>
                          <a:cs typeface="Calibri"/>
                          <a:sym typeface="Calibri"/>
                        </a:rPr>
                        <a:t>-</a:t>
                      </a:r>
                      <a:endParaRPr sz="140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r" rtl="0">
                        <a:spcBef>
                          <a:spcPts val="0"/>
                        </a:spcBef>
                        <a:spcAft>
                          <a:spcPts val="0"/>
                        </a:spcAft>
                        <a:buNone/>
                      </a:pPr>
                      <a:r>
                        <a:rPr lang="pt-BR" sz="1400" b="0" i="0" u="none" strike="noStrike" dirty="0">
                          <a:solidFill>
                            <a:srgbClr val="000000"/>
                          </a:solidFill>
                          <a:highlight>
                            <a:srgbClr val="BDD7EE"/>
                          </a:highlight>
                          <a:latin typeface="Calibri"/>
                          <a:ea typeface="Calibri"/>
                          <a:cs typeface="Calibri"/>
                          <a:sym typeface="Calibri"/>
                        </a:rPr>
                        <a:t>-</a:t>
                      </a:r>
                      <a:endParaRPr sz="1400" dirty="0"/>
                    </a:p>
                  </a:txBody>
                  <a:tcPr marL="8775" marR="8775" marT="8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ctr" rtl="0">
                        <a:spcBef>
                          <a:spcPts val="0"/>
                        </a:spcBef>
                        <a:spcAft>
                          <a:spcPts val="0"/>
                        </a:spcAft>
                        <a:buNone/>
                      </a:pPr>
                      <a:r>
                        <a:rPr lang="pt-BR" sz="1200" b="0" i="0" u="none" strike="noStrike" dirty="0">
                          <a:solidFill>
                            <a:srgbClr val="000000"/>
                          </a:solidFill>
                          <a:highlight>
                            <a:srgbClr val="BDD7EE"/>
                          </a:highlight>
                          <a:latin typeface="Calibri"/>
                          <a:ea typeface="Calibri"/>
                          <a:cs typeface="Calibri"/>
                          <a:sym typeface="Calibri"/>
                        </a:rPr>
                        <a:t> </a:t>
                      </a:r>
                      <a:endParaRPr sz="1200" dirty="0"/>
                    </a:p>
                  </a:txBody>
                  <a:tcPr marL="8775" marR="8775" marT="877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endParaRPr sz="1000" b="0" i="0" u="none" strike="noStrike" dirty="0">
                        <a:solidFill>
                          <a:srgbClr val="000000"/>
                        </a:solidFill>
                        <a:latin typeface="Calibri"/>
                        <a:ea typeface="Calibri"/>
                        <a:cs typeface="Calibri"/>
                        <a:sym typeface="Calibri"/>
                      </a:endParaRPr>
                    </a:p>
                  </a:txBody>
                  <a:tcPr marL="8775" marR="8775" marT="8775" marB="0" anchor="ctr">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sp>
        <p:nvSpPr>
          <p:cNvPr id="59" name="Google Shape;59;p3"/>
          <p:cNvSpPr txBox="1"/>
          <p:nvPr/>
        </p:nvSpPr>
        <p:spPr>
          <a:xfrm>
            <a:off x="4951407" y="4677078"/>
            <a:ext cx="181968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200" dirty="0">
                <a:solidFill>
                  <a:srgbClr val="484848"/>
                </a:solidFill>
                <a:latin typeface="Arial"/>
                <a:ea typeface="Arial"/>
                <a:cs typeface="Arial"/>
                <a:sym typeface="Arial"/>
              </a:rPr>
              <a:t>プロジェクト投資概要:</a:t>
            </a:r>
            <a:endParaRPr dirty="0"/>
          </a:p>
        </p:txBody>
      </p:sp>
      <p:sp>
        <p:nvSpPr>
          <p:cNvPr id="60" name="Google Shape;60;p3"/>
          <p:cNvSpPr/>
          <p:nvPr/>
        </p:nvSpPr>
        <p:spPr>
          <a:xfrm>
            <a:off x="3044216" y="949236"/>
            <a:ext cx="4447835" cy="307736"/>
          </a:xfrm>
          <a:prstGeom prst="rect">
            <a:avLst/>
          </a:prstGeom>
          <a:noFill/>
          <a:ln>
            <a:noFill/>
          </a:ln>
        </p:spPr>
        <p:txBody>
          <a:bodyPr spcFirstLastPara="1" wrap="square" lIns="91425" tIns="45700" rIns="91425" bIns="45700" anchor="t" anchorCtr="0">
            <a:spAutoFit/>
          </a:bodyPr>
          <a:lstStyle/>
          <a:p>
            <a:r>
              <a:rPr lang="pt-BR" dirty="0"/>
              <a:t>GERADOR N2 – MEMBRANA - NGM35+ 230 IEC</a:t>
            </a:r>
            <a:endParaRPr lang="pt-BR" altLang="ja-JP" dirty="0"/>
          </a:p>
        </p:txBody>
      </p:sp>
      <p:sp>
        <p:nvSpPr>
          <p:cNvPr id="62" name="Google Shape;62;p3"/>
          <p:cNvSpPr txBox="1"/>
          <p:nvPr/>
        </p:nvSpPr>
        <p:spPr>
          <a:xfrm>
            <a:off x="636833" y="3349300"/>
            <a:ext cx="6559925" cy="1160857"/>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400"/>
              <a:buFont typeface="Arial"/>
              <a:buNone/>
            </a:pPr>
            <a:r>
              <a:rPr lang="pt-BR" sz="1400" b="1" u="sng" dirty="0">
                <a:solidFill>
                  <a:srgbClr val="484848"/>
                </a:solidFill>
                <a:latin typeface="Arial"/>
                <a:ea typeface="Arial"/>
                <a:cs typeface="Arial"/>
                <a:sym typeface="Arial"/>
              </a:rPr>
              <a:t>Purpose overview:</a:t>
            </a:r>
          </a:p>
          <a:p>
            <a:pPr marL="0" marR="0" lvl="0" indent="0" algn="l" rtl="0">
              <a:spcBef>
                <a:spcPts val="0"/>
              </a:spcBef>
              <a:spcAft>
                <a:spcPts val="0"/>
              </a:spcAft>
              <a:buClr>
                <a:schemeClr val="dk1"/>
              </a:buClr>
              <a:buSzPts val="1400"/>
              <a:buFont typeface="Arial"/>
              <a:buNone/>
            </a:pPr>
            <a:endParaRPr lang="pt-BR" sz="1000" b="1" u="sng" dirty="0">
              <a:solidFill>
                <a:srgbClr val="484848"/>
              </a:solidFill>
            </a:endParaRPr>
          </a:p>
          <a:p>
            <a:r>
              <a:rPr lang="en-US" dirty="0">
                <a:solidFill>
                  <a:schemeClr val="dk1"/>
                </a:solidFill>
                <a:latin typeface="+mn-lt"/>
                <a:ea typeface="+mn-ea"/>
                <a:cs typeface="+mn-cs"/>
              </a:rPr>
              <a:t>Replace an old nitrogen generation system that has been operating since 2017 on the paint line, as it is no longer in working properly order and spare parts are unavailable for maintenance.</a:t>
            </a:r>
            <a:br>
              <a:rPr lang="en-US" dirty="0"/>
            </a:br>
            <a:endParaRPr sz="1300" dirty="0">
              <a:solidFill>
                <a:srgbClr val="484848"/>
              </a:solidFill>
              <a:latin typeface="Arial"/>
              <a:ea typeface="Arial"/>
              <a:cs typeface="Arial"/>
              <a:sym typeface="Arial"/>
            </a:endParaRPr>
          </a:p>
        </p:txBody>
      </p:sp>
      <p:sp>
        <p:nvSpPr>
          <p:cNvPr id="2" name="Retângulo 1">
            <a:extLst>
              <a:ext uri="{FF2B5EF4-FFF2-40B4-BE49-F238E27FC236}">
                <a16:creationId xmlns:a16="http://schemas.microsoft.com/office/drawing/2014/main" id="{1C8D9751-75D7-AE58-373E-FD62ADB6ADA0}"/>
              </a:ext>
            </a:extLst>
          </p:cNvPr>
          <p:cNvSpPr/>
          <p:nvPr/>
        </p:nvSpPr>
        <p:spPr>
          <a:xfrm>
            <a:off x="3142071" y="1398916"/>
            <a:ext cx="4252127" cy="138499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Nitrogen Generation System went into operation in 2017 and experienced a membrane failure in January 2026. We assess the need to replace the equipment during FY 2027, given that this nitrogen generator system has already reached its projected lifespan of 8 years.</a:t>
            </a:r>
          </a:p>
        </p:txBody>
      </p:sp>
      <p:graphicFrame>
        <p:nvGraphicFramePr>
          <p:cNvPr id="3" name="表 13">
            <a:extLst>
              <a:ext uri="{FF2B5EF4-FFF2-40B4-BE49-F238E27FC236}">
                <a16:creationId xmlns:a16="http://schemas.microsoft.com/office/drawing/2014/main" id="{37B8BECB-121A-5634-FECF-BD0670F98284}"/>
              </a:ext>
            </a:extLst>
          </p:cNvPr>
          <p:cNvGraphicFramePr>
            <a:graphicFrameLocks noGrp="1"/>
          </p:cNvGraphicFramePr>
          <p:nvPr>
            <p:extLst>
              <p:ext uri="{D42A27DB-BD31-4B8C-83A1-F6EECF244321}">
                <p14:modId xmlns:p14="http://schemas.microsoft.com/office/powerpoint/2010/main" val="1080800654"/>
              </p:ext>
            </p:extLst>
          </p:nvPr>
        </p:nvGraphicFramePr>
        <p:xfrm>
          <a:off x="7749220" y="785004"/>
          <a:ext cx="3805947" cy="2394172"/>
        </p:xfrm>
        <a:graphic>
          <a:graphicData uri="http://schemas.openxmlformats.org/drawingml/2006/table">
            <a:tbl>
              <a:tblPr firstRow="1" bandRow="1">
                <a:tableStyleId>{B301B821-A1FF-4177-AEE7-76D212191A09}</a:tableStyleId>
              </a:tblPr>
              <a:tblGrid>
                <a:gridCol w="1235741">
                  <a:extLst>
                    <a:ext uri="{9D8B030D-6E8A-4147-A177-3AD203B41FA5}">
                      <a16:colId xmlns:a16="http://schemas.microsoft.com/office/drawing/2014/main" val="20000"/>
                    </a:ext>
                  </a:extLst>
                </a:gridCol>
                <a:gridCol w="2570206">
                  <a:extLst>
                    <a:ext uri="{9D8B030D-6E8A-4147-A177-3AD203B41FA5}">
                      <a16:colId xmlns:a16="http://schemas.microsoft.com/office/drawing/2014/main" val="20001"/>
                    </a:ext>
                  </a:extLst>
                </a:gridCol>
              </a:tblGrid>
              <a:tr h="421143">
                <a:tc>
                  <a:txBody>
                    <a:bodyPr/>
                    <a:lstStyle/>
                    <a:p>
                      <a:r>
                        <a:rPr lang="pt-BR" sz="1200" dirty="0">
                          <a:solidFill>
                            <a:schemeClr val="tx1"/>
                          </a:solidFill>
                        </a:rPr>
                        <a:t>Product  name</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1" dirty="0">
                          <a:solidFill>
                            <a:schemeClr val="tx1"/>
                          </a:solidFill>
                          <a:latin typeface="Arial" pitchFamily="34" charset="0"/>
                          <a:ea typeface="Meiryo UI" panose="020B0604030504040204" pitchFamily="50" charset="-128"/>
                          <a:cs typeface="Arial" pitchFamily="34" charset="0"/>
                        </a:rPr>
                        <a:t>Nitrogen Generator</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421143">
                <a:tc>
                  <a:txBody>
                    <a:bodyPr/>
                    <a:lstStyle/>
                    <a:p>
                      <a:pPr algn="l"/>
                      <a:r>
                        <a:rPr lang="pt-BR" sz="1200" b="0" dirty="0"/>
                        <a:t>Final customer</a:t>
                      </a:r>
                      <a:endParaRPr kumimoji="1" lang="en-US" altLang="ja-JP" sz="1200" b="0" dirty="0">
                        <a:ln>
                          <a:solidFill>
                            <a:schemeClr val="tx1"/>
                          </a:solidFill>
                        </a:ln>
                        <a:solidFill>
                          <a:schemeClr val="accent4"/>
                        </a:solidFill>
                        <a:latin typeface="Arial" pitchFamily="34" charset="0"/>
                        <a:ea typeface="Meiryo UI" panose="020B0604030504040204" pitchFamily="50" charset="-128"/>
                        <a:cs typeface="Arial" pitchFamily="34" charset="0"/>
                      </a:endParaRPr>
                    </a:p>
                  </a:txBody>
                  <a:tcPr>
                    <a:lnR w="12700" cap="flat" cmpd="sng" algn="ctr">
                      <a:solidFill>
                        <a:schemeClr val="tx1"/>
                      </a:solidFill>
                      <a:prstDash val="solid"/>
                      <a:round/>
                      <a:headEnd type="none" w="med" len="med"/>
                      <a:tailEnd type="none" w="med" len="med"/>
                    </a:lnR>
                  </a:tcPr>
                </a:tc>
                <a:tc>
                  <a:txBody>
                    <a:bodyPr/>
                    <a:lstStyle/>
                    <a:p>
                      <a:r>
                        <a:rPr kumimoji="1" lang="pt-BR" altLang="ja-JP" sz="1200" kern="1200" dirty="0">
                          <a:solidFill>
                            <a:schemeClr val="tx1"/>
                          </a:solidFill>
                        </a:rPr>
                        <a:t>MAE Plant</a:t>
                      </a:r>
                      <a:endParaRPr kumimoji="1" lang="ja-JP" altLang="en-US" sz="12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497105">
                <a:tc>
                  <a:txBody>
                    <a:bodyPr/>
                    <a:lstStyle/>
                    <a:p>
                      <a:r>
                        <a:rPr lang="pt-BR" altLang="ja-JP" sz="1200" b="0" dirty="0">
                          <a:solidFill>
                            <a:schemeClr val="tx1"/>
                          </a:solidFill>
                        </a:rPr>
                        <a:t>Purpose of Use</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r>
                        <a:rPr kumimoji="1" lang="en-US" altLang="ja-JP" sz="1200" dirty="0">
                          <a:solidFill>
                            <a:schemeClr val="dk1"/>
                          </a:solidFill>
                          <a:latin typeface="+mn-lt"/>
                          <a:ea typeface="+mn-ea"/>
                        </a:rPr>
                        <a:t>Nitrogen Generator for painting</a:t>
                      </a:r>
                      <a:r>
                        <a:rPr kumimoji="1" lang="en-US" altLang="ja-JP" sz="1200" baseline="0" dirty="0">
                          <a:solidFill>
                            <a:schemeClr val="dk1"/>
                          </a:solidFill>
                          <a:latin typeface="+mn-lt"/>
                          <a:ea typeface="+mn-ea"/>
                        </a:rPr>
                        <a:t> system</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21143">
                <a:tc>
                  <a:txBody>
                    <a:bodyPr/>
                    <a:lstStyle/>
                    <a:p>
                      <a:r>
                        <a:rPr lang="pt-BR" sz="1200" dirty="0"/>
                        <a:t>Installed Model</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r>
                        <a:rPr lang="pt-BR" sz="1200" dirty="0"/>
                        <a:t>GERADOR N2 – MEMBRANA - NGM35+ 230 IEC</a:t>
                      </a:r>
                      <a:endParaRPr lang="pt-BR" altLang="ja-JP" sz="12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561524">
                <a:tc>
                  <a:txBody>
                    <a:bodyPr/>
                    <a:lstStyle/>
                    <a:p>
                      <a:r>
                        <a:rPr lang="pt-BR" sz="1200" dirty="0"/>
                        <a:t>Specifications / Performance</a:t>
                      </a:r>
                      <a:endParaRPr kumimoji="1" lang="ja-JP" altLang="en-US" sz="1200" b="0" dirty="0">
                        <a:solidFill>
                          <a:schemeClr val="tx1"/>
                        </a:solidFill>
                        <a:latin typeface="Meiryo UI" pitchFamily="50" charset="-128"/>
                        <a:ea typeface="Meiryo UI" pitchFamily="50" charset="-128"/>
                      </a:endParaRPr>
                    </a:p>
                  </a:txBody>
                  <a:tcPr>
                    <a:lnR w="12700" cap="flat" cmpd="sng" algn="ctr">
                      <a:solidFill>
                        <a:schemeClr val="tx1"/>
                      </a:solidFill>
                      <a:prstDash val="solid"/>
                      <a:round/>
                      <a:headEnd type="none" w="med" len="med"/>
                      <a:tailEnd type="none" w="med" len="med"/>
                    </a:lnR>
                  </a:tcPr>
                </a:tc>
                <a:tc>
                  <a:txBody>
                    <a:bodyPr/>
                    <a:lstStyle/>
                    <a:p>
                      <a:r>
                        <a:rPr lang="pt-BR" sz="1200" dirty="0"/>
                        <a:t>36m³/h @ 99,5%; / 230V / ≤ -40 °C</a:t>
                      </a:r>
                      <a:endParaRPr kumimoji="1" lang="ja-JP" altLang="en-US" sz="1200" i="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pic>
        <p:nvPicPr>
          <p:cNvPr id="4" name="Picture 4">
            <a:extLst>
              <a:ext uri="{FF2B5EF4-FFF2-40B4-BE49-F238E27FC236}">
                <a16:creationId xmlns:a16="http://schemas.microsoft.com/office/drawing/2014/main" id="{10F59EE4-57FE-8DFE-A9A7-60B16ACCDCA7}"/>
              </a:ext>
            </a:extLst>
          </p:cNvPr>
          <p:cNvPicPr>
            <a:picLocks noChangeAspect="1" noChangeArrowheads="1"/>
          </p:cNvPicPr>
          <p:nvPr/>
        </p:nvPicPr>
        <p:blipFill>
          <a:blip r:embed="rId3" cstate="print"/>
          <a:srcRect/>
          <a:stretch>
            <a:fillRect/>
          </a:stretch>
        </p:blipFill>
        <p:spPr bwMode="auto">
          <a:xfrm>
            <a:off x="921208" y="949236"/>
            <a:ext cx="1865842" cy="2203565"/>
          </a:xfrm>
          <a:prstGeom prst="rect">
            <a:avLst/>
          </a:prstGeom>
          <a:noFill/>
          <a:ln w="9525">
            <a:noFill/>
            <a:miter lim="800000"/>
            <a:headEnd/>
            <a:tailEnd/>
          </a:ln>
          <a:effectLst/>
        </p:spPr>
      </p:pic>
      <p:sp>
        <p:nvSpPr>
          <p:cNvPr id="8" name="Google Shape;34;p4">
            <a:extLst>
              <a:ext uri="{FF2B5EF4-FFF2-40B4-BE49-F238E27FC236}">
                <a16:creationId xmlns:a16="http://schemas.microsoft.com/office/drawing/2014/main" id="{062E3274-7B5D-6388-C5DB-98E897217D9C}"/>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3</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3"/>
          <p:cNvSpPr/>
          <p:nvPr/>
        </p:nvSpPr>
        <p:spPr>
          <a:xfrm>
            <a:off x="491454" y="816617"/>
            <a:ext cx="2055914" cy="421540"/>
          </a:xfrm>
          <a:prstGeom prst="rec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pt-BR" sz="1400" b="1" i="0" u="none" strike="noStrike" cap="none" dirty="0">
                <a:solidFill>
                  <a:schemeClr val="lt1"/>
                </a:solidFill>
                <a:latin typeface="Arial"/>
                <a:ea typeface="Arial"/>
                <a:cs typeface="Arial"/>
                <a:sym typeface="Arial"/>
              </a:rPr>
              <a:t>CURRENT</a:t>
            </a:r>
            <a:endParaRPr sz="1400" b="1" i="0" u="none" strike="noStrike" cap="none" dirty="0">
              <a:solidFill>
                <a:schemeClr val="lt1"/>
              </a:solidFill>
              <a:latin typeface="Arial"/>
              <a:ea typeface="Arial"/>
              <a:cs typeface="Arial"/>
              <a:sym typeface="Arial"/>
            </a:endParaRPr>
          </a:p>
        </p:txBody>
      </p:sp>
      <p:sp>
        <p:nvSpPr>
          <p:cNvPr id="53" name="Google Shape;53;p13"/>
          <p:cNvSpPr/>
          <p:nvPr/>
        </p:nvSpPr>
        <p:spPr>
          <a:xfrm>
            <a:off x="6122003" y="772093"/>
            <a:ext cx="2055914" cy="421540"/>
          </a:xfrm>
          <a:prstGeom prst="rect">
            <a:avLst/>
          </a:prstGeom>
          <a:solidFill>
            <a:srgbClr val="00B050"/>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pt-BR" sz="1400" b="1" i="0" u="none" strike="noStrike" cap="none">
                <a:solidFill>
                  <a:schemeClr val="lt1"/>
                </a:solidFill>
                <a:latin typeface="Arial"/>
                <a:ea typeface="Arial"/>
                <a:cs typeface="Arial"/>
                <a:sym typeface="Arial"/>
              </a:rPr>
              <a:t>AFTER</a:t>
            </a:r>
            <a:endParaRPr sz="1400" b="1" i="0" u="none" strike="noStrike" cap="none">
              <a:solidFill>
                <a:schemeClr val="lt1"/>
              </a:solidFill>
              <a:latin typeface="Arial"/>
              <a:ea typeface="Arial"/>
              <a:cs typeface="Arial"/>
              <a:sym typeface="Arial"/>
            </a:endParaRPr>
          </a:p>
        </p:txBody>
      </p:sp>
      <p:sp>
        <p:nvSpPr>
          <p:cNvPr id="55" name="Google Shape;55;p13"/>
          <p:cNvSpPr txBox="1"/>
          <p:nvPr/>
        </p:nvSpPr>
        <p:spPr>
          <a:xfrm>
            <a:off x="185739" y="4796531"/>
            <a:ext cx="5286374" cy="1384954"/>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dirty="0">
                <a:solidFill>
                  <a:srgbClr val="000000"/>
                </a:solidFill>
                <a:latin typeface="Arial"/>
                <a:ea typeface="Arial"/>
                <a:cs typeface="Arial"/>
                <a:sym typeface="Arial"/>
              </a:rPr>
              <a:t>Current Situation :</a:t>
            </a:r>
            <a:endParaRPr dirty="0"/>
          </a:p>
          <a:p>
            <a:pPr marL="0" marR="0" lvl="0" indent="0" algn="l" rtl="0">
              <a:lnSpc>
                <a:spcPct val="100000"/>
              </a:lnSpc>
              <a:spcBef>
                <a:spcPts val="0"/>
              </a:spcBef>
              <a:spcAft>
                <a:spcPts val="0"/>
              </a:spcAft>
              <a:buNone/>
            </a:pPr>
            <a:r>
              <a:rPr lang="en-US" sz="1400" b="0" i="0" u="none" strike="noStrike" cap="none" dirty="0">
                <a:solidFill>
                  <a:schemeClr val="accent4"/>
                </a:solidFill>
                <a:latin typeface="Helvetica Neue"/>
                <a:ea typeface="Helvetica Neue"/>
                <a:cs typeface="Helvetica Neue"/>
                <a:sym typeface="Helvetica Neue"/>
              </a:rPr>
              <a:t>The nitrogen generation system has 2 broken membranes.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r>
              <a:rPr lang="pt-BR" sz="1400" b="1" i="0" u="none" strike="noStrike" cap="none" dirty="0">
                <a:solidFill>
                  <a:srgbClr val="000000"/>
                </a:solidFill>
                <a:latin typeface="Arial"/>
                <a:ea typeface="Arial"/>
                <a:cs typeface="Arial"/>
                <a:sym typeface="Arial"/>
              </a:rPr>
              <a:t>Results</a:t>
            </a:r>
            <a:r>
              <a:rPr lang="pt-BR" sz="1400" b="0" i="0" u="none" strike="noStrike" cap="none" dirty="0">
                <a:solidFill>
                  <a:srgbClr val="000000"/>
                </a:solidFill>
                <a:latin typeface="Arial"/>
                <a:ea typeface="Arial"/>
                <a:cs typeface="Arial"/>
                <a:sym typeface="Arial"/>
              </a:rPr>
              <a:t>: </a:t>
            </a:r>
            <a:r>
              <a:rPr lang="en-US" dirty="0"/>
              <a:t>Loss of efficiency in nitrogen generation, leading to increased ink consumption.</a:t>
            </a:r>
          </a:p>
          <a:p>
            <a:pPr marL="0" marR="0" lvl="0" indent="0" algn="l" rtl="0">
              <a:lnSpc>
                <a:spcPct val="100000"/>
              </a:lnSpc>
              <a:spcBef>
                <a:spcPts val="0"/>
              </a:spcBef>
              <a:spcAft>
                <a:spcPts val="0"/>
              </a:spcAft>
              <a:buNone/>
            </a:pPr>
            <a:r>
              <a:rPr lang="pt-BR" sz="1400" b="0" i="0" u="none" strike="noStrike" cap="none" dirty="0">
                <a:solidFill>
                  <a:srgbClr val="000000"/>
                </a:solidFill>
                <a:latin typeface="Arial"/>
                <a:ea typeface="Arial"/>
                <a:cs typeface="Arial"/>
                <a:sym typeface="Arial"/>
              </a:rPr>
              <a:t> </a:t>
            </a:r>
            <a:endParaRPr sz="1400" b="0" i="0" u="none" strike="noStrike" cap="none" dirty="0">
              <a:solidFill>
                <a:srgbClr val="FF0000"/>
              </a:solidFill>
              <a:latin typeface="Arial"/>
              <a:ea typeface="Arial"/>
              <a:cs typeface="Arial"/>
              <a:sym typeface="Arial"/>
            </a:endParaRPr>
          </a:p>
        </p:txBody>
      </p:sp>
      <p:sp>
        <p:nvSpPr>
          <p:cNvPr id="56" name="Google Shape;56;p13"/>
          <p:cNvSpPr txBox="1"/>
          <p:nvPr/>
        </p:nvSpPr>
        <p:spPr>
          <a:xfrm>
            <a:off x="5629273" y="4833765"/>
            <a:ext cx="6215065" cy="1384954"/>
          </a:xfrm>
          <a:prstGeom prst="rect">
            <a:avLst/>
          </a:prstGeom>
          <a:noFill/>
          <a:ln w="28575"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dirty="0">
                <a:solidFill>
                  <a:srgbClr val="000000"/>
                </a:solidFill>
                <a:latin typeface="Arial"/>
                <a:ea typeface="Arial"/>
                <a:cs typeface="Arial"/>
                <a:sym typeface="Arial"/>
              </a:rPr>
              <a:t>Proposed Situation :</a:t>
            </a:r>
            <a:endParaRPr dirty="0"/>
          </a:p>
          <a:p>
            <a:r>
              <a:rPr lang="en-US" dirty="0">
                <a:solidFill>
                  <a:schemeClr val="dk1"/>
                </a:solidFill>
                <a:latin typeface="Meiryo UI"/>
                <a:ea typeface="Meiryo UI"/>
                <a:cs typeface="Meiryo UI"/>
              </a:rPr>
              <a:t>The nitrogen generation transforms compressed air from the compressor network into nitrogen gas with 99% purity for use in paint guns.</a:t>
            </a:r>
            <a:r>
              <a:rPr lang="pt-BR" sz="1400" b="0" i="0" u="none" strike="noStrike" cap="none" dirty="0">
                <a:solidFill>
                  <a:srgbClr val="000000"/>
                </a:solidFill>
                <a:latin typeface="Arial"/>
                <a:ea typeface="Arial"/>
                <a:cs typeface="Arial"/>
                <a:sym typeface="Arial"/>
              </a:rPr>
              <a:t> </a:t>
            </a:r>
            <a:endParaRPr dirty="0"/>
          </a:p>
          <a:p>
            <a:r>
              <a:rPr lang="pt-BR" sz="1400" b="0" i="0" u="none" strike="noStrike" cap="none" dirty="0">
                <a:solidFill>
                  <a:srgbClr val="000000"/>
                </a:solidFill>
                <a:latin typeface="Arial"/>
                <a:ea typeface="Arial"/>
                <a:cs typeface="Arial"/>
                <a:sym typeface="Arial"/>
              </a:rPr>
              <a:t> </a:t>
            </a:r>
            <a:r>
              <a:rPr lang="pt-BR" sz="1400" b="1" i="0" u="none" strike="noStrike" cap="none" dirty="0">
                <a:solidFill>
                  <a:srgbClr val="000000"/>
                </a:solidFill>
                <a:latin typeface="Arial"/>
                <a:ea typeface="Arial"/>
                <a:cs typeface="Arial"/>
                <a:sym typeface="Arial"/>
              </a:rPr>
              <a:t>Results</a:t>
            </a:r>
            <a:r>
              <a:rPr lang="pt-BR" sz="1400" b="0" i="0" u="none" strike="noStrike" cap="none" dirty="0">
                <a:solidFill>
                  <a:srgbClr val="000000"/>
                </a:solidFill>
                <a:latin typeface="Arial"/>
                <a:ea typeface="Arial"/>
                <a:cs typeface="Arial"/>
                <a:sym typeface="Arial"/>
              </a:rPr>
              <a:t>: </a:t>
            </a:r>
            <a:r>
              <a:rPr lang="en-US" dirty="0"/>
              <a:t>Greater efficiency in nitrogen generation, resulting in reduced ink consumption.</a:t>
            </a:r>
            <a:endParaRPr sz="1400" b="0" i="0" u="none" strike="noStrike" cap="none" dirty="0">
              <a:solidFill>
                <a:srgbClr val="000000"/>
              </a:solidFill>
              <a:latin typeface="Arial"/>
              <a:ea typeface="Arial"/>
              <a:cs typeface="Arial"/>
              <a:sym typeface="Arial"/>
            </a:endParaRPr>
          </a:p>
        </p:txBody>
      </p:sp>
      <p:pic>
        <p:nvPicPr>
          <p:cNvPr id="2" name="Imagem 1">
            <a:extLst>
              <a:ext uri="{FF2B5EF4-FFF2-40B4-BE49-F238E27FC236}">
                <a16:creationId xmlns:a16="http://schemas.microsoft.com/office/drawing/2014/main" id="{F25E9235-A214-93DD-8F65-BC463E90FD71}"/>
              </a:ext>
            </a:extLst>
          </p:cNvPr>
          <p:cNvPicPr>
            <a:picLocks noChangeAspect="1"/>
          </p:cNvPicPr>
          <p:nvPr/>
        </p:nvPicPr>
        <p:blipFill>
          <a:blip r:embed="rId3"/>
          <a:stretch>
            <a:fillRect/>
          </a:stretch>
        </p:blipFill>
        <p:spPr>
          <a:xfrm>
            <a:off x="556760" y="1584848"/>
            <a:ext cx="4347777" cy="2801418"/>
          </a:xfrm>
          <a:prstGeom prst="rect">
            <a:avLst/>
          </a:prstGeom>
        </p:spPr>
      </p:pic>
      <p:pic>
        <p:nvPicPr>
          <p:cNvPr id="6" name="Imagem 5">
            <a:extLst>
              <a:ext uri="{FF2B5EF4-FFF2-40B4-BE49-F238E27FC236}">
                <a16:creationId xmlns:a16="http://schemas.microsoft.com/office/drawing/2014/main" id="{EC9B4563-2C2A-88E9-10E3-147EBDCF115C}"/>
              </a:ext>
            </a:extLst>
          </p:cNvPr>
          <p:cNvPicPr>
            <a:picLocks noChangeAspect="1"/>
          </p:cNvPicPr>
          <p:nvPr/>
        </p:nvPicPr>
        <p:blipFill>
          <a:blip r:embed="rId4"/>
          <a:stretch>
            <a:fillRect/>
          </a:stretch>
        </p:blipFill>
        <p:spPr>
          <a:xfrm>
            <a:off x="6738058" y="1410612"/>
            <a:ext cx="4269247" cy="3262517"/>
          </a:xfrm>
          <a:prstGeom prst="rect">
            <a:avLst/>
          </a:prstGeom>
        </p:spPr>
      </p:pic>
      <p:sp>
        <p:nvSpPr>
          <p:cNvPr id="7" name="矢印: 右 7">
            <a:extLst>
              <a:ext uri="{FF2B5EF4-FFF2-40B4-BE49-F238E27FC236}">
                <a16:creationId xmlns:a16="http://schemas.microsoft.com/office/drawing/2014/main" id="{FDE3C6F2-8C6A-01ED-2743-68929E3BCBC2}"/>
              </a:ext>
            </a:extLst>
          </p:cNvPr>
          <p:cNvSpPr/>
          <p:nvPr/>
        </p:nvSpPr>
        <p:spPr>
          <a:xfrm>
            <a:off x="5233408" y="2785104"/>
            <a:ext cx="1175778" cy="382722"/>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Google Shape;57;p3">
            <a:extLst>
              <a:ext uri="{FF2B5EF4-FFF2-40B4-BE49-F238E27FC236}">
                <a16:creationId xmlns:a16="http://schemas.microsoft.com/office/drawing/2014/main" id="{7855C898-E756-076B-71FE-1FB54B7F7FF2}"/>
              </a:ext>
            </a:extLst>
          </p:cNvPr>
          <p:cNvSpPr txBox="1"/>
          <p:nvPr/>
        </p:nvSpPr>
        <p:spPr>
          <a:xfrm>
            <a:off x="391279" y="115890"/>
            <a:ext cx="7910513" cy="5048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000"/>
              <a:buFont typeface="Arial"/>
              <a:buNone/>
            </a:pPr>
            <a:r>
              <a:rPr lang="pt-BR" sz="2000" b="0" i="0" u="none" strike="noStrike" cap="none" dirty="0">
                <a:solidFill>
                  <a:srgbClr val="000000"/>
                </a:solidFill>
                <a:latin typeface="Arial"/>
                <a:ea typeface="Arial"/>
                <a:cs typeface="Arial"/>
                <a:sym typeface="Arial"/>
              </a:rPr>
              <a:t>Overview (Product/purpose) </a:t>
            </a:r>
            <a:r>
              <a:rPr lang="pt-BR" sz="1800" b="0" i="1" u="none" strike="noStrike" cap="none" dirty="0">
                <a:solidFill>
                  <a:srgbClr val="000000"/>
                </a:solidFill>
                <a:latin typeface="Arial"/>
                <a:ea typeface="Arial"/>
                <a:cs typeface="Arial"/>
                <a:sym typeface="Arial"/>
              </a:rPr>
              <a:t>概要　製品/目的</a:t>
            </a:r>
            <a:endParaRPr sz="1800" b="0" i="0" u="none" strike="noStrike" cap="none" dirty="0">
              <a:solidFill>
                <a:srgbClr val="000000"/>
              </a:solidFill>
              <a:latin typeface="Arial"/>
              <a:ea typeface="Arial"/>
              <a:cs typeface="Arial"/>
              <a:sym typeface="Arial"/>
            </a:endParaRPr>
          </a:p>
        </p:txBody>
      </p:sp>
      <p:sp>
        <p:nvSpPr>
          <p:cNvPr id="4" name="Google Shape;34;p4">
            <a:extLst>
              <a:ext uri="{FF2B5EF4-FFF2-40B4-BE49-F238E27FC236}">
                <a16:creationId xmlns:a16="http://schemas.microsoft.com/office/drawing/2014/main" id="{AE88989E-96DA-C552-76B4-EEFC15C9EBC7}"/>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4</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4B051-9E1D-3207-F761-02BDC20BDAB9}"/>
            </a:ext>
          </a:extLst>
        </p:cNvPr>
        <p:cNvGrpSpPr/>
        <p:nvPr/>
      </p:nvGrpSpPr>
      <p:grpSpPr>
        <a:xfrm>
          <a:off x="0" y="0"/>
          <a:ext cx="0" cy="0"/>
          <a:chOff x="0" y="0"/>
          <a:chExt cx="0" cy="0"/>
        </a:xfrm>
      </p:grpSpPr>
      <p:sp>
        <p:nvSpPr>
          <p:cNvPr id="5" name="Google Shape;113;p18">
            <a:extLst>
              <a:ext uri="{FF2B5EF4-FFF2-40B4-BE49-F238E27FC236}">
                <a16:creationId xmlns:a16="http://schemas.microsoft.com/office/drawing/2014/main" id="{B153913F-3FC6-CBE0-0DD4-D80E9F8BC213}"/>
              </a:ext>
            </a:extLst>
          </p:cNvPr>
          <p:cNvSpPr txBox="1"/>
          <p:nvPr/>
        </p:nvSpPr>
        <p:spPr>
          <a:xfrm>
            <a:off x="338581" y="156442"/>
            <a:ext cx="9004924" cy="504825"/>
          </a:xfrm>
          <a:prstGeom prst="rect">
            <a:avLst/>
          </a:prstGeom>
          <a:noFill/>
          <a:ln>
            <a:noFill/>
          </a:ln>
        </p:spPr>
        <p:txBody>
          <a:bodyPr spcFirstLastPara="1" wrap="square" lIns="91425" tIns="45700" rIns="91425" bIns="45700" anchor="ctr" anchorCtr="0">
            <a:noAutofit/>
          </a:bodyPr>
          <a:lstStyle/>
          <a:p>
            <a:pPr lvl="0"/>
            <a:r>
              <a:rPr lang="pt-BR" sz="2000" b="0" i="0" u="none" strike="noStrike" cap="none" dirty="0">
                <a:solidFill>
                  <a:srgbClr val="000000"/>
                </a:solidFill>
                <a:latin typeface="Arial"/>
                <a:ea typeface="Arial"/>
                <a:cs typeface="Arial"/>
                <a:sym typeface="Arial"/>
              </a:rPr>
              <a:t>Equipment installation schedule</a:t>
            </a:r>
            <a:r>
              <a:rPr lang="pt-BR" sz="2000" dirty="0">
                <a:solidFill>
                  <a:srgbClr val="000000"/>
                </a:solidFill>
                <a:latin typeface="Arial"/>
                <a:ea typeface="Arial"/>
                <a:cs typeface="Arial"/>
                <a:sym typeface="Arial"/>
              </a:rPr>
              <a:t> </a:t>
            </a:r>
            <a:r>
              <a:rPr kumimoji="1" lang="pt-BR" sz="2000" kern="1200" dirty="0">
                <a:solidFill>
                  <a:schemeClr val="tx1"/>
                </a:solidFill>
              </a:rPr>
              <a:t>Nitrogen Generation System </a:t>
            </a:r>
            <a:r>
              <a:rPr lang="pt-BR" sz="2000" b="0" i="0" u="none" strike="noStrike" cap="none" dirty="0">
                <a:solidFill>
                  <a:srgbClr val="000000"/>
                </a:solidFill>
                <a:latin typeface="Arial"/>
                <a:ea typeface="Arial"/>
                <a:cs typeface="Arial"/>
                <a:sym typeface="Arial"/>
              </a:rPr>
              <a:t>設備導入計画</a:t>
            </a:r>
            <a:endParaRPr sz="1600" b="0" i="0" u="none" strike="noStrike" cap="none" dirty="0">
              <a:solidFill>
                <a:srgbClr val="000000"/>
              </a:solidFill>
              <a:latin typeface="Arial"/>
              <a:ea typeface="Arial"/>
              <a:cs typeface="Arial"/>
              <a:sym typeface="Arial"/>
            </a:endParaRPr>
          </a:p>
        </p:txBody>
      </p:sp>
      <p:graphicFrame>
        <p:nvGraphicFramePr>
          <p:cNvPr id="6" name="Tabela 5">
            <a:extLst>
              <a:ext uri="{FF2B5EF4-FFF2-40B4-BE49-F238E27FC236}">
                <a16:creationId xmlns:a16="http://schemas.microsoft.com/office/drawing/2014/main" id="{E24E2DAA-BB92-B470-8E82-DCE8E62DF7A9}"/>
              </a:ext>
            </a:extLst>
          </p:cNvPr>
          <p:cNvGraphicFramePr>
            <a:graphicFrameLocks noGrp="1"/>
          </p:cNvGraphicFramePr>
          <p:nvPr>
            <p:extLst>
              <p:ext uri="{D42A27DB-BD31-4B8C-83A1-F6EECF244321}">
                <p14:modId xmlns:p14="http://schemas.microsoft.com/office/powerpoint/2010/main" val="3933293557"/>
              </p:ext>
            </p:extLst>
          </p:nvPr>
        </p:nvGraphicFramePr>
        <p:xfrm>
          <a:off x="2014923" y="920423"/>
          <a:ext cx="7866978" cy="4723222"/>
        </p:xfrm>
        <a:graphic>
          <a:graphicData uri="http://schemas.openxmlformats.org/drawingml/2006/table">
            <a:tbl>
              <a:tblPr>
                <a:tableStyleId>{86F23511-ADCD-4624-AB69-F43ED49CFFFE}</a:tableStyleId>
              </a:tblPr>
              <a:tblGrid>
                <a:gridCol w="1046949">
                  <a:extLst>
                    <a:ext uri="{9D8B030D-6E8A-4147-A177-3AD203B41FA5}">
                      <a16:colId xmlns:a16="http://schemas.microsoft.com/office/drawing/2014/main" val="20000"/>
                    </a:ext>
                  </a:extLst>
                </a:gridCol>
                <a:gridCol w="1936583">
                  <a:extLst>
                    <a:ext uri="{9D8B030D-6E8A-4147-A177-3AD203B41FA5}">
                      <a16:colId xmlns:a16="http://schemas.microsoft.com/office/drawing/2014/main" val="20001"/>
                    </a:ext>
                  </a:extLst>
                </a:gridCol>
                <a:gridCol w="643363">
                  <a:extLst>
                    <a:ext uri="{9D8B030D-6E8A-4147-A177-3AD203B41FA5}">
                      <a16:colId xmlns:a16="http://schemas.microsoft.com/office/drawing/2014/main" val="1529257659"/>
                    </a:ext>
                  </a:extLst>
                </a:gridCol>
                <a:gridCol w="627861">
                  <a:extLst>
                    <a:ext uri="{9D8B030D-6E8A-4147-A177-3AD203B41FA5}">
                      <a16:colId xmlns:a16="http://schemas.microsoft.com/office/drawing/2014/main" val="20012"/>
                    </a:ext>
                  </a:extLst>
                </a:gridCol>
                <a:gridCol w="678268">
                  <a:extLst>
                    <a:ext uri="{9D8B030D-6E8A-4147-A177-3AD203B41FA5}">
                      <a16:colId xmlns:a16="http://schemas.microsoft.com/office/drawing/2014/main" val="20013"/>
                    </a:ext>
                  </a:extLst>
                </a:gridCol>
                <a:gridCol w="687191">
                  <a:extLst>
                    <a:ext uri="{9D8B030D-6E8A-4147-A177-3AD203B41FA5}">
                      <a16:colId xmlns:a16="http://schemas.microsoft.com/office/drawing/2014/main" val="20014"/>
                    </a:ext>
                  </a:extLst>
                </a:gridCol>
                <a:gridCol w="748921">
                  <a:extLst>
                    <a:ext uri="{9D8B030D-6E8A-4147-A177-3AD203B41FA5}">
                      <a16:colId xmlns:a16="http://schemas.microsoft.com/office/drawing/2014/main" val="20015"/>
                    </a:ext>
                  </a:extLst>
                </a:gridCol>
                <a:gridCol w="748921">
                  <a:extLst>
                    <a:ext uri="{9D8B030D-6E8A-4147-A177-3AD203B41FA5}">
                      <a16:colId xmlns:a16="http://schemas.microsoft.com/office/drawing/2014/main" val="20016"/>
                    </a:ext>
                  </a:extLst>
                </a:gridCol>
                <a:gridCol w="748921">
                  <a:extLst>
                    <a:ext uri="{9D8B030D-6E8A-4147-A177-3AD203B41FA5}">
                      <a16:colId xmlns:a16="http://schemas.microsoft.com/office/drawing/2014/main" val="20017"/>
                    </a:ext>
                  </a:extLst>
                </a:gridCol>
              </a:tblGrid>
              <a:tr h="307953">
                <a:tc rowSpan="9">
                  <a:txBody>
                    <a:bodyPr/>
                    <a:lstStyle/>
                    <a:p>
                      <a:pPr marL="0" marR="0" lvl="0" indent="0" algn="ctr" rtl="0">
                        <a:lnSpc>
                          <a:spcPct val="100000"/>
                        </a:lnSpc>
                        <a:spcBef>
                          <a:spcPts val="0"/>
                        </a:spcBef>
                        <a:spcAft>
                          <a:spcPts val="0"/>
                        </a:spcAft>
                        <a:buClr>
                          <a:srgbClr val="000000"/>
                        </a:buClr>
                        <a:buSzPts val="1400"/>
                        <a:buFont typeface="Arial"/>
                        <a:buNone/>
                      </a:pPr>
                      <a:r>
                        <a:rPr kumimoji="1" lang="pt-BR" sz="1400" kern="1200" dirty="0">
                          <a:solidFill>
                            <a:schemeClr val="tx1"/>
                          </a:solidFill>
                        </a:rPr>
                        <a:t>Nitrogen Generation System </a:t>
                      </a:r>
                      <a:endParaRPr sz="1400" b="1" i="0" u="none" strike="noStrike" cap="none" dirty="0">
                        <a:solidFill>
                          <a:srgbClr val="484848"/>
                        </a:solidFill>
                        <a:latin typeface="+mn-lt"/>
                        <a:cs typeface="Arial"/>
                        <a:sym typeface="Aria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a:txBody>
                    <a:bodyPr/>
                    <a:lstStyle/>
                    <a:p>
                      <a:pPr marL="0" marR="0" lvl="0" indent="0" algn="ctr" rtl="0">
                        <a:lnSpc>
                          <a:spcPct val="100000"/>
                        </a:lnSpc>
                        <a:spcBef>
                          <a:spcPts val="0"/>
                        </a:spcBef>
                        <a:spcAft>
                          <a:spcPts val="0"/>
                        </a:spcAft>
                        <a:buClr>
                          <a:srgbClr val="000000"/>
                        </a:buClr>
                        <a:buSzPts val="1400"/>
                        <a:buFont typeface="Arial"/>
                        <a:buNone/>
                      </a:pPr>
                      <a:r>
                        <a:rPr lang="pt-BR" sz="1200" b="1" u="none" strike="noStrike" cap="none" dirty="0"/>
                        <a:t>Item</a:t>
                      </a:r>
                      <a:endParaRPr sz="1200" b="1" u="none" strike="noStrike" cap="none"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7">
                  <a:txBody>
                    <a:bodyPr/>
                    <a:lstStyle/>
                    <a:p>
                      <a:pPr marL="0" marR="0" lvl="0" indent="0" algn="ctr" rtl="0">
                        <a:lnSpc>
                          <a:spcPct val="100000"/>
                        </a:lnSpc>
                        <a:spcBef>
                          <a:spcPts val="0"/>
                        </a:spcBef>
                        <a:spcAft>
                          <a:spcPts val="0"/>
                        </a:spcAft>
                        <a:buClr>
                          <a:srgbClr val="000000"/>
                        </a:buClr>
                        <a:buSzPts val="1400"/>
                        <a:buFont typeface="Arial"/>
                        <a:buNone/>
                      </a:pPr>
                      <a:r>
                        <a:rPr lang="pt-BR" sz="1200" b="1" u="none" strike="noStrike" cap="none" dirty="0"/>
                        <a:t>FY Mar.2027</a:t>
                      </a:r>
                      <a:endParaRPr sz="1200" b="1" u="none" strike="noStrike" cap="none" dirty="0"/>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tc hMerge="1">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2DEEF"/>
                    </a:solidFill>
                  </a:tcPr>
                </a:tc>
                <a:extLst>
                  <a:ext uri="{0D108BD9-81ED-4DB2-BD59-A6C34878D82A}">
                    <a16:rowId xmlns:a16="http://schemas.microsoft.com/office/drawing/2014/main" val="10000"/>
                  </a:ext>
                </a:extLst>
              </a:tr>
              <a:tr h="450176">
                <a:tc vMerge="1">
                  <a:txBody>
                    <a:bodyPr/>
                    <a:lstStyle/>
                    <a:p>
                      <a:endParaRPr lang="pt-BR"/>
                    </a:p>
                  </a:txBody>
                  <a:tcPr/>
                </a:tc>
                <a:tc vMerge="1">
                  <a:txBody>
                    <a:bodyPr/>
                    <a:lstStyle/>
                    <a:p>
                      <a:endParaRPr lang="pt-BR"/>
                    </a:p>
                  </a:txBody>
                  <a:tcPr/>
                </a:tc>
                <a:tc>
                  <a:txBody>
                    <a:bodyPr/>
                    <a:lstStyle/>
                    <a:p>
                      <a:pPr algn="ctr"/>
                      <a:r>
                        <a:rPr lang="pt-BR" sz="1200" b="1" dirty="0"/>
                        <a:t>Jun</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Jul</a:t>
                      </a:r>
                    </a:p>
                  </a:txBody>
                  <a:tcPr marL="0" marR="0" marT="0" marB="0" anchor="ctr">
                    <a:lnT w="12700" cap="flat" cmpd="sng" algn="ctr">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tcPr>
                </a:tc>
                <a:tc>
                  <a:txBody>
                    <a:bodyPr/>
                    <a:lstStyle/>
                    <a:p>
                      <a:pPr algn="ctr"/>
                      <a:r>
                        <a:rPr lang="pt-BR" sz="1200" b="1" dirty="0"/>
                        <a:t>Aug</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Sep</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Oct</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Nov</a:t>
                      </a:r>
                    </a:p>
                  </a:txBody>
                  <a:tcPr marL="0" marR="0" marT="0" marB="0"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pt-BR" sz="1200" b="1" dirty="0"/>
                        <a:t>Dec</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499789">
                <a:tc vMerge="1">
                  <a:txBody>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484848"/>
                        </a:solidFill>
                        <a:latin typeface="Arial"/>
                        <a:ea typeface="Arial"/>
                        <a:cs typeface="Arial"/>
                        <a:sym typeface="Arial"/>
                      </a:endParaRP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rPr>
                        <a:t>CAPEX</a:t>
                      </a:r>
                      <a:r>
                        <a:rPr lang="pt-BR" sz="1200" b="0" u="none" strike="noStrike" cap="none" baseline="0" dirty="0">
                          <a:solidFill>
                            <a:schemeClr val="tx1"/>
                          </a:solidFill>
                        </a:rPr>
                        <a:t> approval</a:t>
                      </a:r>
                      <a:endParaRPr sz="1200" b="0" u="none" strike="noStrike" cap="none" dirty="0">
                        <a:solidFill>
                          <a:schemeClr val="tx1"/>
                        </a:solidFill>
                        <a:latin typeface="+mn-lt"/>
                      </a:endParaRPr>
                    </a:p>
                  </a:txBody>
                  <a:tcPr marL="0" marR="0" marT="0" marB="0" anchor="ctr">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T w="12700" cap="flat" cmpd="sng" algn="ctr">
                      <a:solidFill>
                        <a:schemeClr val="bg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7"/>
                  </a:ext>
                </a:extLst>
              </a:tr>
              <a:tr h="499789">
                <a:tc vMerge="1">
                  <a:txBody>
                    <a:bodyPr/>
                    <a:lstStyle/>
                    <a:p>
                      <a:endParaRPr dirty="0"/>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Order</a:t>
                      </a:r>
                      <a:endParaRPr sz="1200" b="0" u="none" strike="noStrike" cap="none" dirty="0">
                        <a:solidFill>
                          <a:schemeClr val="tx1"/>
                        </a:solidFill>
                        <a:latin typeface="+mn-lt"/>
                      </a:endParaRPr>
                    </a:p>
                  </a:txBody>
                  <a:tcPr marL="0" marR="0" marT="0" marB="0" anchor="ct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3"/>
                  </a:ext>
                </a:extLst>
              </a:tr>
              <a:tr h="62834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Equipment construction and delivery</a:t>
                      </a:r>
                      <a:endParaRPr sz="1200" b="0" u="none" strike="noStrike" cap="none" dirty="0">
                        <a:solidFill>
                          <a:schemeClr val="tx1"/>
                        </a:solidFill>
                        <a:sym typeface="Arial"/>
                      </a:endParaRPr>
                    </a:p>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 </a:t>
                      </a:r>
                      <a:endParaRPr sz="1200" b="0" u="none" strike="noStrike" cap="none" dirty="0">
                        <a:solidFill>
                          <a:schemeClr val="tx1"/>
                        </a:solidFill>
                        <a:latin typeface="+mn-lt"/>
                      </a:endParaRPr>
                    </a:p>
                  </a:txBody>
                  <a:tcPr marL="0" marR="0" marT="0" marB="0" anchor="ctr"/>
                </a:tc>
                <a:tc>
                  <a:txBody>
                    <a:bodyPr/>
                    <a:lstStyle/>
                    <a:p>
                      <a:endParaRPr lang="pt-BR" dirty="0"/>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4"/>
                  </a:ext>
                </a:extLst>
              </a:tr>
              <a:tr h="49978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rPr>
                        <a:t>Installation</a:t>
                      </a:r>
                      <a:endParaRPr sz="1200" b="0" u="none" strike="noStrike" cap="none" dirty="0">
                        <a:solidFill>
                          <a:schemeClr val="tx1"/>
                        </a:solidFill>
                        <a:latin typeface="+mn-lt"/>
                      </a:endParaRPr>
                    </a:p>
                  </a:txBody>
                  <a:tcPr marL="0" marR="0" marT="0" marB="0" anchor="ctr"/>
                </a:tc>
                <a:tc>
                  <a:txBody>
                    <a:bodyPr/>
                    <a:lstStyle/>
                    <a:p>
                      <a:endParaRPr lang="pt-BR" dirty="0"/>
                    </a:p>
                  </a:txBody>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5"/>
                  </a:ext>
                </a:extLst>
              </a:tr>
              <a:tr h="49978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Tests</a:t>
                      </a:r>
                      <a:r>
                        <a:rPr lang="pt-BR" sz="1200" b="0" u="none" strike="noStrike" cap="none" baseline="0" dirty="0">
                          <a:solidFill>
                            <a:schemeClr val="tx1"/>
                          </a:solidFill>
                          <a:sym typeface="Arial"/>
                        </a:rPr>
                        <a:t> and adjustments</a:t>
                      </a:r>
                      <a:endParaRPr sz="1200" b="0" u="none" strike="noStrike" cap="none" dirty="0">
                        <a:solidFill>
                          <a:schemeClr val="tx1"/>
                        </a:solidFill>
                        <a:latin typeface="+mn-lt"/>
                      </a:endParaRPr>
                    </a:p>
                  </a:txBody>
                  <a:tcPr marL="0" marR="0" marT="0" marB="0" anchor="ctr"/>
                </a:tc>
                <a:tc>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6"/>
                  </a:ext>
                </a:extLst>
              </a:tr>
              <a:tr h="49978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SOP (Guarulhos)</a:t>
                      </a:r>
                      <a:endParaRPr sz="1200" b="0" u="none" strike="noStrike" cap="none" dirty="0">
                        <a:solidFill>
                          <a:schemeClr val="tx1"/>
                        </a:solidFill>
                        <a:latin typeface="+mn-lt"/>
                      </a:endParaRPr>
                    </a:p>
                  </a:txBody>
                  <a:tcPr marL="0" marR="0" marT="0" marB="0" anchor="ctr"/>
                </a:tc>
                <a:tc>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0008"/>
                  </a:ext>
                </a:extLst>
              </a:tr>
              <a:tr h="837799">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200" b="0" u="none" strike="noStrike" cap="none" dirty="0">
                          <a:solidFill>
                            <a:schemeClr val="tx1"/>
                          </a:solidFill>
                          <a:sym typeface="Arial"/>
                        </a:rPr>
                        <a:t>Payment:   </a:t>
                      </a:r>
                    </a:p>
                    <a:p>
                      <a:pPr marL="0" marR="0" lvl="0" indent="0" algn="l" rtl="0">
                        <a:lnSpc>
                          <a:spcPct val="100000"/>
                        </a:lnSpc>
                        <a:spcBef>
                          <a:spcPts val="0"/>
                        </a:spcBef>
                        <a:spcAft>
                          <a:spcPts val="0"/>
                        </a:spcAft>
                        <a:buClr>
                          <a:schemeClr val="dk1"/>
                        </a:buClr>
                        <a:buSzPts val="1100"/>
                        <a:buFont typeface="Arial"/>
                        <a:buNone/>
                      </a:pPr>
                      <a:r>
                        <a:rPr lang="en-US" sz="1200" b="0" i="0" u="none" strike="noStrike" cap="none" dirty="0">
                          <a:solidFill>
                            <a:schemeClr val="tx1"/>
                          </a:solidFill>
                          <a:latin typeface="Meiryo UI"/>
                          <a:ea typeface="Meiryo UI"/>
                          <a:cs typeface="Arial"/>
                          <a:sym typeface="Arial"/>
                        </a:rPr>
                        <a:t>100% 30 days after equipment arrived at Guarulhos by cash</a:t>
                      </a:r>
                    </a:p>
                  </a:txBody>
                  <a:tcPr marL="0" marR="0" marT="0" marB="0" anchor="ctr">
                    <a:lnB w="12700" cap="flat" cmpd="sng" algn="ctr">
                      <a:solidFill>
                        <a:schemeClr val="bg1"/>
                      </a:solidFill>
                      <a:prstDash val="solid"/>
                      <a:round/>
                      <a:headEnd type="none" w="med" len="med"/>
                      <a:tailEnd type="none" w="med" len="med"/>
                    </a:lnB>
                  </a:tcPr>
                </a:tc>
                <a:tc>
                  <a:txBody>
                    <a:bodyPr/>
                    <a:lstStyle/>
                    <a:p>
                      <a:endParaRPr lang="pt-BR" dirty="0"/>
                    </a:p>
                  </a:txBody>
                  <a:tcPr>
                    <a:lnB w="12700" cap="flat" cmpd="sng" algn="ctr">
                      <a:solidFill>
                        <a:schemeClr val="bg1"/>
                      </a:solidFill>
                      <a:prstDash val="solid"/>
                      <a:round/>
                      <a:headEnd type="none" w="med" len="med"/>
                      <a:tailEnd type="none" w="med" len="med"/>
                    </a:lnB>
                  </a:tcPr>
                </a:tc>
                <a:tc>
                  <a:txBody>
                    <a:bodyPr/>
                    <a:lstStyle/>
                    <a:p>
                      <a:endParaRPr lang="pt-BR"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pt-BR" sz="1400" b="1" u="none" strike="noStrike" cap="none" dirty="0">
                          <a:solidFill>
                            <a:srgbClr val="000000"/>
                          </a:solidFill>
                          <a:sym typeface="Arial"/>
                        </a:rPr>
                        <a:t>　</a:t>
                      </a: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0" marR="0" marT="0" marB="0">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Google Shape;116;p18">
            <a:extLst>
              <a:ext uri="{FF2B5EF4-FFF2-40B4-BE49-F238E27FC236}">
                <a16:creationId xmlns:a16="http://schemas.microsoft.com/office/drawing/2014/main" id="{B36A9179-54EE-6FB9-39C7-58018625B0D2}"/>
              </a:ext>
            </a:extLst>
          </p:cNvPr>
          <p:cNvSpPr/>
          <p:nvPr/>
        </p:nvSpPr>
        <p:spPr>
          <a:xfrm>
            <a:off x="6380515" y="2769477"/>
            <a:ext cx="2133608" cy="354533"/>
          </a:xfrm>
          <a:prstGeom prst="rightArrow">
            <a:avLst>
              <a:gd name="adj1" fmla="val 50000"/>
              <a:gd name="adj2" fmla="val 50000"/>
            </a:avLst>
          </a:prstGeom>
          <a:solidFill>
            <a:srgbClr val="0070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8" name="Google Shape;117;p18">
            <a:extLst>
              <a:ext uri="{FF2B5EF4-FFF2-40B4-BE49-F238E27FC236}">
                <a16:creationId xmlns:a16="http://schemas.microsoft.com/office/drawing/2014/main" id="{6D7EEF59-E4B1-0059-07EA-E78C657B4A5A}"/>
              </a:ext>
            </a:extLst>
          </p:cNvPr>
          <p:cNvSpPr/>
          <p:nvPr/>
        </p:nvSpPr>
        <p:spPr>
          <a:xfrm>
            <a:off x="8514124" y="3365226"/>
            <a:ext cx="255804" cy="354533"/>
          </a:xfrm>
          <a:prstGeom prst="rightArrow">
            <a:avLst>
              <a:gd name="adj1" fmla="val 50000"/>
              <a:gd name="adj2" fmla="val 50000"/>
            </a:avLst>
          </a:prstGeom>
          <a:solidFill>
            <a:srgbClr val="0070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9" name="Google Shape;119;p18">
            <a:extLst>
              <a:ext uri="{FF2B5EF4-FFF2-40B4-BE49-F238E27FC236}">
                <a16:creationId xmlns:a16="http://schemas.microsoft.com/office/drawing/2014/main" id="{EC52EB4A-6A2B-400B-DFC1-DAD2A15DA8CA}"/>
              </a:ext>
            </a:extLst>
          </p:cNvPr>
          <p:cNvSpPr/>
          <p:nvPr/>
        </p:nvSpPr>
        <p:spPr>
          <a:xfrm>
            <a:off x="8782261" y="3942406"/>
            <a:ext cx="255804" cy="317682"/>
          </a:xfrm>
          <a:prstGeom prst="rightArrow">
            <a:avLst>
              <a:gd name="adj1" fmla="val 50000"/>
              <a:gd name="adj2" fmla="val 50000"/>
            </a:avLst>
          </a:prstGeom>
          <a:solidFill>
            <a:srgbClr val="0070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2" name="Google Shape;121;p18">
            <a:extLst>
              <a:ext uri="{FF2B5EF4-FFF2-40B4-BE49-F238E27FC236}">
                <a16:creationId xmlns:a16="http://schemas.microsoft.com/office/drawing/2014/main" id="{3BF2166F-2ADE-5111-9E6A-9C29960068FE}"/>
              </a:ext>
            </a:extLst>
          </p:cNvPr>
          <p:cNvSpPr/>
          <p:nvPr/>
        </p:nvSpPr>
        <p:spPr>
          <a:xfrm>
            <a:off x="9164439" y="5160188"/>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2" name="Google Shape;121;p18">
            <a:extLst>
              <a:ext uri="{FF2B5EF4-FFF2-40B4-BE49-F238E27FC236}">
                <a16:creationId xmlns:a16="http://schemas.microsoft.com/office/drawing/2014/main" id="{F22B6244-2142-10CF-CC08-BE6123A6DC4A}"/>
              </a:ext>
            </a:extLst>
          </p:cNvPr>
          <p:cNvSpPr/>
          <p:nvPr/>
        </p:nvSpPr>
        <p:spPr>
          <a:xfrm>
            <a:off x="6253159" y="1868667"/>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7" name="Google Shape;121;p18">
            <a:extLst>
              <a:ext uri="{FF2B5EF4-FFF2-40B4-BE49-F238E27FC236}">
                <a16:creationId xmlns:a16="http://schemas.microsoft.com/office/drawing/2014/main" id="{E36F63B4-74B0-221A-9A79-768D9DAFB661}"/>
              </a:ext>
            </a:extLst>
          </p:cNvPr>
          <p:cNvSpPr/>
          <p:nvPr/>
        </p:nvSpPr>
        <p:spPr>
          <a:xfrm>
            <a:off x="9334632" y="4478840"/>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dirty="0">
              <a:solidFill>
                <a:schemeClr val="lt1"/>
              </a:solidFill>
              <a:latin typeface="Arial"/>
              <a:ea typeface="Arial"/>
              <a:cs typeface="Arial"/>
              <a:sym typeface="Arial"/>
            </a:endParaRPr>
          </a:p>
        </p:txBody>
      </p:sp>
      <p:sp>
        <p:nvSpPr>
          <p:cNvPr id="11" name="Google Shape;121;p18">
            <a:extLst>
              <a:ext uri="{FF2B5EF4-FFF2-40B4-BE49-F238E27FC236}">
                <a16:creationId xmlns:a16="http://schemas.microsoft.com/office/drawing/2014/main" id="{7A772390-273A-89F2-26A8-29CAE544B4CC}"/>
              </a:ext>
            </a:extLst>
          </p:cNvPr>
          <p:cNvSpPr/>
          <p:nvPr/>
        </p:nvSpPr>
        <p:spPr>
          <a:xfrm>
            <a:off x="6380515" y="2319081"/>
            <a:ext cx="179066" cy="156245"/>
          </a:xfrm>
          <a:prstGeom prst="star5">
            <a:avLst>
              <a:gd name="adj" fmla="val 19098"/>
              <a:gd name="hf" fmla="val 105146"/>
              <a:gd name="vf" fmla="val 110557"/>
            </a:avLst>
          </a:prstGeom>
          <a:solidFill>
            <a:srgbClr val="0070C0"/>
          </a:solidFill>
          <a:ln w="25400" cap="flat" cmpd="sng">
            <a:solidFill>
              <a:srgbClr val="88A3A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10" name="Google Shape;34;p4">
            <a:extLst>
              <a:ext uri="{FF2B5EF4-FFF2-40B4-BE49-F238E27FC236}">
                <a16:creationId xmlns:a16="http://schemas.microsoft.com/office/drawing/2014/main" id="{81422AA5-29AA-8A14-AA4A-E53502C362A7}"/>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5</a:t>
            </a:fld>
            <a:r>
              <a:rPr lang="en-US" b="0" i="0" u="none" strike="noStrike" cap="none" noProof="0" dirty="0">
                <a:solidFill>
                  <a:srgbClr val="808080"/>
                </a:solidFill>
                <a:latin typeface="Arial"/>
                <a:ea typeface="Arial"/>
                <a:cs typeface="Arial"/>
                <a:sym typeface="Arial"/>
              </a:rPr>
              <a:t>/8</a:t>
            </a:r>
          </a:p>
        </p:txBody>
      </p:sp>
    </p:spTree>
    <p:extLst>
      <p:ext uri="{BB962C8B-B14F-4D97-AF65-F5344CB8AC3E}">
        <p14:creationId xmlns:p14="http://schemas.microsoft.com/office/powerpoint/2010/main" val="2680314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5" name="Imagem 4">
            <a:extLst>
              <a:ext uri="{FF2B5EF4-FFF2-40B4-BE49-F238E27FC236}">
                <a16:creationId xmlns:a16="http://schemas.microsoft.com/office/drawing/2014/main" id="{62BAB0F2-2C83-FF09-BD4C-5CB397386C63}"/>
              </a:ext>
            </a:extLst>
          </p:cNvPr>
          <p:cNvPicPr>
            <a:picLocks noChangeAspect="1"/>
          </p:cNvPicPr>
          <p:nvPr/>
        </p:nvPicPr>
        <p:blipFill>
          <a:blip r:embed="rId3"/>
          <a:stretch>
            <a:fillRect/>
          </a:stretch>
        </p:blipFill>
        <p:spPr>
          <a:xfrm>
            <a:off x="2899422" y="802627"/>
            <a:ext cx="7177743" cy="4613497"/>
          </a:xfrm>
          <a:prstGeom prst="rect">
            <a:avLst/>
          </a:prstGeom>
        </p:spPr>
      </p:pic>
      <p:sp>
        <p:nvSpPr>
          <p:cNvPr id="88" name="Google Shape;88;p5"/>
          <p:cNvSpPr txBox="1">
            <a:spLocks noGrp="1"/>
          </p:cNvSpPr>
          <p:nvPr>
            <p:ph type="title"/>
          </p:nvPr>
        </p:nvSpPr>
        <p:spPr>
          <a:xfrm>
            <a:off x="1524000" y="115889"/>
            <a:ext cx="8574088" cy="5048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pt-BR" sz="1400" b="0" i="0" u="none" strike="noStrike" cap="none" dirty="0">
                <a:solidFill>
                  <a:schemeClr val="accent4"/>
                </a:solidFill>
                <a:latin typeface="Arial"/>
                <a:ea typeface="Arial"/>
                <a:cs typeface="Arial"/>
                <a:sym typeface="Arial"/>
              </a:rPr>
              <a:t>　</a:t>
            </a:r>
            <a:r>
              <a:rPr lang="pt-BR"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
        <p:nvSpPr>
          <p:cNvPr id="89" name="Google Shape;89;p5"/>
          <p:cNvSpPr txBox="1"/>
          <p:nvPr/>
        </p:nvSpPr>
        <p:spPr>
          <a:xfrm>
            <a:off x="890016" y="177801"/>
            <a:ext cx="9144000" cy="467785"/>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25000"/>
              </a:lnSpc>
              <a:spcBef>
                <a:spcPts val="0"/>
              </a:spcBef>
              <a:spcAft>
                <a:spcPts val="0"/>
              </a:spcAft>
              <a:buClr>
                <a:srgbClr val="000000"/>
              </a:buClr>
              <a:buSzPts val="2000"/>
              <a:buFont typeface="Arial"/>
              <a:buNone/>
            </a:pPr>
            <a:endParaRPr sz="2000" b="1" i="0" u="none" strike="noStrike" cap="none">
              <a:solidFill>
                <a:schemeClr val="accent1"/>
              </a:solidFill>
              <a:latin typeface="Arial"/>
              <a:ea typeface="Arial"/>
              <a:cs typeface="Arial"/>
              <a:sym typeface="Arial"/>
            </a:endParaRPr>
          </a:p>
        </p:txBody>
      </p:sp>
      <p:sp>
        <p:nvSpPr>
          <p:cNvPr id="90" name="Google Shape;90;p5"/>
          <p:cNvSpPr txBox="1"/>
          <p:nvPr/>
        </p:nvSpPr>
        <p:spPr>
          <a:xfrm>
            <a:off x="331729" y="128549"/>
            <a:ext cx="8909253" cy="5048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Arial"/>
                <a:ea typeface="Arial"/>
                <a:cs typeface="Arial"/>
                <a:sym typeface="Arial"/>
              </a:rPr>
              <a:t>Price Discount Rate</a:t>
            </a:r>
            <a:endParaRPr sz="1400" b="0" i="0" u="none" strike="noStrike" cap="none" dirty="0">
              <a:solidFill>
                <a:srgbClr val="000000"/>
              </a:solidFill>
              <a:latin typeface="Arial"/>
              <a:ea typeface="Arial"/>
              <a:cs typeface="Arial"/>
              <a:sym typeface="Arial"/>
            </a:endParaRPr>
          </a:p>
        </p:txBody>
      </p:sp>
      <p:sp>
        <p:nvSpPr>
          <p:cNvPr id="4" name="Google Shape;123;p23">
            <a:extLst>
              <a:ext uri="{FF2B5EF4-FFF2-40B4-BE49-F238E27FC236}">
                <a16:creationId xmlns:a16="http://schemas.microsoft.com/office/drawing/2014/main" id="{82F1BB50-46B1-3E7B-1466-369A55AE1756}"/>
              </a:ext>
            </a:extLst>
          </p:cNvPr>
          <p:cNvSpPr txBox="1"/>
          <p:nvPr/>
        </p:nvSpPr>
        <p:spPr>
          <a:xfrm>
            <a:off x="1524000" y="5448346"/>
            <a:ext cx="9143999" cy="999572"/>
          </a:xfrm>
          <a:prstGeom prst="rect">
            <a:avLst/>
          </a:prstGeom>
          <a:solidFill>
            <a:srgbClr val="3B9FB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400" b="0" i="0" u="none" strike="noStrike" cap="none" noProof="0" dirty="0">
                <a:solidFill>
                  <a:schemeClr val="lt1"/>
                </a:solidFill>
                <a:latin typeface="Arial"/>
                <a:ea typeface="Arial"/>
                <a:cs typeface="Arial"/>
                <a:sym typeface="Arial"/>
              </a:rPr>
              <a:t>&lt; Reasons for selecting supplier &gt;</a:t>
            </a:r>
            <a:endParaRPr lang="en-US" noProof="0" dirty="0"/>
          </a:p>
          <a:p>
            <a:pPr marL="0" marR="0" lvl="0" indent="0" algn="l" rtl="0">
              <a:lnSpc>
                <a:spcPct val="100000"/>
              </a:lnSpc>
              <a:spcBef>
                <a:spcPts val="0"/>
              </a:spcBef>
              <a:spcAft>
                <a:spcPts val="0"/>
              </a:spcAft>
              <a:buNone/>
            </a:pPr>
            <a:endParaRPr lang="en-US" sz="500" b="0" i="0" u="none" strike="noStrike" cap="none" noProof="0" dirty="0">
              <a:solidFill>
                <a:schemeClr val="lt1"/>
              </a:solidFill>
              <a:latin typeface="Arial"/>
              <a:ea typeface="Arial"/>
              <a:cs typeface="Arial"/>
              <a:sym typeface="Arial"/>
            </a:endParaRPr>
          </a:p>
          <a:p>
            <a:r>
              <a:rPr lang="en-US" dirty="0">
                <a:solidFill>
                  <a:schemeClr val="lt1"/>
                </a:solidFill>
              </a:rPr>
              <a:t>We selected ATLAS COPCO as the supplier due to their competitive pricing, delivery and maintenance support</a:t>
            </a:r>
            <a:endParaRPr lang="en-US" noProof="0" dirty="0">
              <a:solidFill>
                <a:schemeClr val="lt1"/>
              </a:solidFill>
            </a:endParaRPr>
          </a:p>
        </p:txBody>
      </p:sp>
      <p:sp>
        <p:nvSpPr>
          <p:cNvPr id="9" name="Rectangle 8"/>
          <p:cNvSpPr/>
          <p:nvPr/>
        </p:nvSpPr>
        <p:spPr>
          <a:xfrm>
            <a:off x="4599708" y="790416"/>
            <a:ext cx="2729346" cy="4613497"/>
          </a:xfrm>
          <a:prstGeom prst="rect">
            <a:avLst/>
          </a:prstGeom>
          <a:noFill/>
          <a:ln w="38100">
            <a:solidFill>
              <a:srgbClr val="00AA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34;p4">
            <a:extLst>
              <a:ext uri="{FF2B5EF4-FFF2-40B4-BE49-F238E27FC236}">
                <a16:creationId xmlns:a16="http://schemas.microsoft.com/office/drawing/2014/main" id="{7DBE618D-2D12-6361-485E-1425A69D272E}"/>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6</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16">
            <a:extLst>
              <a:ext uri="{FF2B5EF4-FFF2-40B4-BE49-F238E27FC236}">
                <a16:creationId xmlns:a16="http://schemas.microsoft.com/office/drawing/2014/main" id="{00000000-0008-0000-0000-000009000000}"/>
              </a:ext>
            </a:extLst>
          </p:cNvPr>
          <p:cNvSpPr txBox="1"/>
          <p:nvPr/>
        </p:nvSpPr>
        <p:spPr>
          <a:xfrm>
            <a:off x="438022" y="871296"/>
            <a:ext cx="7559449" cy="646331"/>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dirty="0">
                <a:latin typeface="Arial" panose="020B0604020202020204" pitchFamily="34" charset="0"/>
                <a:cs typeface="Arial" panose="020B0604020202020204" pitchFamily="34" charset="0"/>
              </a:rPr>
              <a:t>Impact of not using nitrogen Generation System :</a:t>
            </a:r>
            <a:endParaRPr lang="en-US" dirty="0"/>
          </a:p>
          <a:p>
            <a:endParaRPr lang="ja-JP" altLang="en-US" sz="1600" b="1" u="sng" dirty="0">
              <a:latin typeface="Arial" pitchFamily="34" charset="0"/>
              <a:ea typeface="Meiryo UI" panose="020B0604030504040204" pitchFamily="50" charset="-128"/>
              <a:cs typeface="Arial" pitchFamily="34" charset="0"/>
            </a:endParaRPr>
          </a:p>
        </p:txBody>
      </p:sp>
      <p:sp>
        <p:nvSpPr>
          <p:cNvPr id="12" name="Retângulo 11"/>
          <p:cNvSpPr/>
          <p:nvPr/>
        </p:nvSpPr>
        <p:spPr>
          <a:xfrm>
            <a:off x="897428" y="1261412"/>
            <a:ext cx="10547351" cy="584775"/>
          </a:xfrm>
          <a:prstGeom prst="rect">
            <a:avLst/>
          </a:prstGeom>
        </p:spPr>
        <p:txBody>
          <a:bodyPr wrap="square">
            <a:spAutoFit/>
          </a:bodyPr>
          <a:lstStyle/>
          <a:p>
            <a:r>
              <a:rPr lang="en-US" sz="1400" dirty="0"/>
              <a:t>■ </a:t>
            </a:r>
            <a:r>
              <a:rPr lang="en-US" dirty="0"/>
              <a:t>Increased paint consumption due to the use of compressed air in paint guns.</a:t>
            </a:r>
          </a:p>
          <a:p>
            <a:endParaRPr lang="en-US" sz="1400" dirty="0"/>
          </a:p>
        </p:txBody>
      </p:sp>
      <p:sp>
        <p:nvSpPr>
          <p:cNvPr id="4" name="角丸四角形 37">
            <a:extLst>
              <a:ext uri="{FF2B5EF4-FFF2-40B4-BE49-F238E27FC236}">
                <a16:creationId xmlns:a16="http://schemas.microsoft.com/office/drawing/2014/main" id="{69FC17DF-6ADD-358A-C64F-E5ED3B282807}"/>
              </a:ext>
            </a:extLst>
          </p:cNvPr>
          <p:cNvSpPr/>
          <p:nvPr/>
        </p:nvSpPr>
        <p:spPr>
          <a:xfrm>
            <a:off x="835137" y="5486436"/>
            <a:ext cx="8269553" cy="614293"/>
          </a:xfrm>
          <a:prstGeom prst="roundRect">
            <a:avLst>
              <a:gd name="adj" fmla="val 7111"/>
            </a:avLst>
          </a:prstGeom>
          <a:noFill/>
          <a:ln w="44450" cmpd="dbl">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     </a:t>
            </a:r>
          </a:p>
        </p:txBody>
      </p:sp>
      <p:graphicFrame>
        <p:nvGraphicFramePr>
          <p:cNvPr id="5" name="Tabela 4">
            <a:extLst>
              <a:ext uri="{FF2B5EF4-FFF2-40B4-BE49-F238E27FC236}">
                <a16:creationId xmlns:a16="http://schemas.microsoft.com/office/drawing/2014/main" id="{8E146D57-01EC-38B1-FE02-7402787D418C}"/>
              </a:ext>
            </a:extLst>
          </p:cNvPr>
          <p:cNvGraphicFramePr>
            <a:graphicFrameLocks noGrp="1"/>
          </p:cNvGraphicFramePr>
          <p:nvPr/>
        </p:nvGraphicFramePr>
        <p:xfrm>
          <a:off x="438022" y="3860481"/>
          <a:ext cx="5912901" cy="253365"/>
        </p:xfrm>
        <a:graphic>
          <a:graphicData uri="http://schemas.openxmlformats.org/drawingml/2006/table">
            <a:tbl>
              <a:tblPr/>
              <a:tblGrid>
                <a:gridCol w="4710933">
                  <a:extLst>
                    <a:ext uri="{9D8B030D-6E8A-4147-A177-3AD203B41FA5}">
                      <a16:colId xmlns:a16="http://schemas.microsoft.com/office/drawing/2014/main" val="3039478609"/>
                    </a:ext>
                  </a:extLst>
                </a:gridCol>
                <a:gridCol w="600984">
                  <a:extLst>
                    <a:ext uri="{9D8B030D-6E8A-4147-A177-3AD203B41FA5}">
                      <a16:colId xmlns:a16="http://schemas.microsoft.com/office/drawing/2014/main" val="729967664"/>
                    </a:ext>
                  </a:extLst>
                </a:gridCol>
                <a:gridCol w="600984">
                  <a:extLst>
                    <a:ext uri="{9D8B030D-6E8A-4147-A177-3AD203B41FA5}">
                      <a16:colId xmlns:a16="http://schemas.microsoft.com/office/drawing/2014/main" val="828170454"/>
                    </a:ext>
                  </a:extLst>
                </a:gridCol>
              </a:tblGrid>
              <a:tr h="164654">
                <a:tc>
                  <a:txBody>
                    <a:bodyPr/>
                    <a:lstStyle/>
                    <a:p>
                      <a:pPr algn="l" fontAlgn="b"/>
                      <a:r>
                        <a:rPr lang="en-US" sz="1600" b="0" i="0" u="none" strike="noStrike" dirty="0">
                          <a:effectLst/>
                          <a:latin typeface="ＭＳ 明朝" panose="02020609040205080304" pitchFamily="49" charset="-128"/>
                          <a:ea typeface="ＭＳ 明朝" panose="02020609040205080304" pitchFamily="49" charset="-128"/>
                        </a:rPr>
                        <a:t>　</a:t>
                      </a:r>
                      <a:r>
                        <a:rPr lang="en-US" sz="1600" b="0" i="0" u="none" strike="noStrike" dirty="0">
                          <a:effectLst/>
                          <a:latin typeface="Arial" panose="020B0604020202020204" pitchFamily="34" charset="0"/>
                          <a:ea typeface="ＭＳ 明朝" panose="02020609040205080304" pitchFamily="49" charset="-128"/>
                        </a:rPr>
                        <a:t>Formula for calculating the cost</a:t>
                      </a:r>
                      <a:r>
                        <a:rPr lang="en-US" sz="1600" b="0" i="0" u="none" strike="noStrike" baseline="0" dirty="0">
                          <a:effectLst/>
                          <a:latin typeface="Arial" panose="020B0604020202020204" pitchFamily="34" charset="0"/>
                          <a:ea typeface="ＭＳ 明朝" panose="02020609040205080304" pitchFamily="49" charset="-128"/>
                        </a:rPr>
                        <a:t> avoidance</a:t>
                      </a:r>
                      <a:r>
                        <a:rPr lang="en-US" sz="1600" b="0" i="0" u="none" strike="noStrike" dirty="0">
                          <a:effectLst/>
                          <a:latin typeface="Arial" panose="020B0604020202020204" pitchFamily="34" charset="0"/>
                          <a:ea typeface="ＭＳ 明朝" panose="02020609040205080304" pitchFamily="49" charset="-128"/>
                        </a:rPr>
                        <a:t> period</a:t>
                      </a:r>
                    </a:p>
                  </a:txBody>
                  <a:tcPr marL="9525" marR="9525" marT="9525" marB="0" anchor="b">
                    <a:lnL>
                      <a:noFill/>
                    </a:lnL>
                    <a:lnR>
                      <a:noFill/>
                    </a:lnR>
                    <a:lnT>
                      <a:noFill/>
                    </a:lnT>
                    <a:lnB>
                      <a:noFill/>
                    </a:lnB>
                  </a:tcPr>
                </a:tc>
                <a:tc>
                  <a:txBody>
                    <a:bodyPr/>
                    <a:lstStyle/>
                    <a:p>
                      <a:pPr algn="l" fontAlgn="b"/>
                      <a:endParaRPr lang="pt-BR" sz="1100" b="0" i="0" u="none" strike="noStrike">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tc>
                  <a:txBody>
                    <a:bodyPr/>
                    <a:lstStyle/>
                    <a:p>
                      <a:pPr algn="l" fontAlgn="b"/>
                      <a:endParaRPr lang="pt-BR" sz="1100" b="0"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extLst>
                  <a:ext uri="{0D108BD9-81ED-4DB2-BD59-A6C34878D82A}">
                    <a16:rowId xmlns:a16="http://schemas.microsoft.com/office/drawing/2014/main" val="677359366"/>
                  </a:ext>
                </a:extLst>
              </a:tr>
            </a:tbl>
          </a:graphicData>
        </a:graphic>
      </p:graphicFrame>
      <p:graphicFrame>
        <p:nvGraphicFramePr>
          <p:cNvPr id="7" name="Tabela 6">
            <a:extLst>
              <a:ext uri="{FF2B5EF4-FFF2-40B4-BE49-F238E27FC236}">
                <a16:creationId xmlns:a16="http://schemas.microsoft.com/office/drawing/2014/main" id="{C16B542B-5264-A5FF-31A6-19C438F1D3FD}"/>
              </a:ext>
            </a:extLst>
          </p:cNvPr>
          <p:cNvGraphicFramePr>
            <a:graphicFrameLocks noGrp="1"/>
          </p:cNvGraphicFramePr>
          <p:nvPr>
            <p:extLst>
              <p:ext uri="{D42A27DB-BD31-4B8C-83A1-F6EECF244321}">
                <p14:modId xmlns:p14="http://schemas.microsoft.com/office/powerpoint/2010/main" val="3923785005"/>
              </p:ext>
            </p:extLst>
          </p:nvPr>
        </p:nvGraphicFramePr>
        <p:xfrm>
          <a:off x="5489577" y="4317016"/>
          <a:ext cx="3764747" cy="740264"/>
        </p:xfrm>
        <a:graphic>
          <a:graphicData uri="http://schemas.openxmlformats.org/drawingml/2006/table">
            <a:tbl>
              <a:tblPr/>
              <a:tblGrid>
                <a:gridCol w="2999453">
                  <a:extLst>
                    <a:ext uri="{9D8B030D-6E8A-4147-A177-3AD203B41FA5}">
                      <a16:colId xmlns:a16="http://schemas.microsoft.com/office/drawing/2014/main" val="3039478609"/>
                    </a:ext>
                  </a:extLst>
                </a:gridCol>
                <a:gridCol w="382647">
                  <a:extLst>
                    <a:ext uri="{9D8B030D-6E8A-4147-A177-3AD203B41FA5}">
                      <a16:colId xmlns:a16="http://schemas.microsoft.com/office/drawing/2014/main" val="729967664"/>
                    </a:ext>
                  </a:extLst>
                </a:gridCol>
                <a:gridCol w="382647">
                  <a:extLst>
                    <a:ext uri="{9D8B030D-6E8A-4147-A177-3AD203B41FA5}">
                      <a16:colId xmlns:a16="http://schemas.microsoft.com/office/drawing/2014/main" val="828170454"/>
                    </a:ext>
                  </a:extLst>
                </a:gridCol>
              </a:tblGrid>
              <a:tr h="257175">
                <a:tc>
                  <a:txBody>
                    <a:bodyPr/>
                    <a:lstStyle/>
                    <a:p>
                      <a:pPr algn="l" fontAlgn="b"/>
                      <a:endParaRPr lang="en-US" sz="1600" b="1"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tc>
                  <a:txBody>
                    <a:bodyPr/>
                    <a:lstStyle/>
                    <a:p>
                      <a:pPr algn="l" fontAlgn="b"/>
                      <a:endParaRPr lang="pt-BR" sz="1100" b="0"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tc>
                  <a:txBody>
                    <a:bodyPr/>
                    <a:lstStyle/>
                    <a:p>
                      <a:pPr algn="l" fontAlgn="b"/>
                      <a:endParaRPr lang="pt-BR" sz="1100" b="0" i="0" u="none" strike="noStrike" dirty="0">
                        <a:effectLst/>
                        <a:latin typeface="Arial" panose="020B0604020202020204" pitchFamily="34" charset="0"/>
                        <a:ea typeface="ＭＳ 明朝" panose="02020609040205080304" pitchFamily="49" charset="-128"/>
                      </a:endParaRPr>
                    </a:p>
                  </a:txBody>
                  <a:tcPr marL="9525" marR="9525" marT="9525" marB="0" anchor="b">
                    <a:lnL>
                      <a:noFill/>
                    </a:lnL>
                    <a:lnR>
                      <a:noFill/>
                    </a:lnR>
                    <a:lnT>
                      <a:noFill/>
                    </a:lnT>
                    <a:lnB>
                      <a:noFill/>
                    </a:lnB>
                  </a:tcPr>
                </a:tc>
                <a:extLst>
                  <a:ext uri="{0D108BD9-81ED-4DB2-BD59-A6C34878D82A}">
                    <a16:rowId xmlns:a16="http://schemas.microsoft.com/office/drawing/2014/main" val="677359366"/>
                  </a:ext>
                </a:extLst>
              </a:tr>
              <a:tr h="257175">
                <a:tc gridSpan="3">
                  <a:txBody>
                    <a:bodyPr/>
                    <a:lstStyle/>
                    <a:p>
                      <a:pPr algn="ctr" fontAlgn="b"/>
                      <a:r>
                        <a:rPr lang="pt-BR" sz="1100" b="0" i="0" u="none" strike="noStrike" dirty="0">
                          <a:effectLst/>
                          <a:latin typeface="Arial" panose="020B0604020202020204" pitchFamily="34" charset="0"/>
                          <a:ea typeface="ＭＳ 明朝" panose="02020609040205080304" pitchFamily="49" charset="-128"/>
                        </a:rPr>
                        <a:t>8,279 K-JPY</a:t>
                      </a:r>
                    </a:p>
                  </a:txBody>
                  <a:tcPr marL="9525" marR="9525" marT="9525" marB="0" anchor="b">
                    <a:lnL>
                      <a:noFill/>
                    </a:lnL>
                    <a:lnR>
                      <a:noFill/>
                    </a:lnR>
                    <a:lnT>
                      <a:noFill/>
                    </a:lnT>
                    <a:lnB w="6350" cap="flat" cmpd="sng" algn="ctr">
                      <a:solidFill>
                        <a:srgbClr val="000000"/>
                      </a:solidFill>
                      <a:prstDash val="dot"/>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2471198298"/>
                  </a:ext>
                </a:extLst>
              </a:tr>
              <a:tr h="225914">
                <a:tc gridSpan="3">
                  <a:txBody>
                    <a:bodyPr/>
                    <a:lstStyle/>
                    <a:p>
                      <a:pPr algn="ctr" fontAlgn="b"/>
                      <a:r>
                        <a:rPr lang="en-US" sz="1100" b="0" i="0" u="none" strike="noStrike" dirty="0">
                          <a:effectLst/>
                          <a:latin typeface="Arial" panose="020B0604020202020204" pitchFamily="34" charset="0"/>
                          <a:ea typeface="ＭＳ 明朝" panose="02020609040205080304" pitchFamily="49" charset="-128"/>
                        </a:rPr>
                        <a:t>(5,489 K-</a:t>
                      </a:r>
                      <a:r>
                        <a:rPr kumimoji="1" lang="en-US" sz="1100" b="0" i="0" u="none" strike="noStrike" kern="1200" dirty="0">
                          <a:solidFill>
                            <a:schemeClr val="tx1"/>
                          </a:solidFill>
                          <a:effectLst/>
                          <a:latin typeface="Arial" panose="020B0604020202020204" pitchFamily="34" charset="0"/>
                          <a:ea typeface="ＭＳ 明朝" panose="02020609040205080304" pitchFamily="49" charset="-128"/>
                          <a:cs typeface="+mn-cs"/>
                        </a:rPr>
                        <a:t>JPY – (8,279 K-JPY / 8))</a:t>
                      </a:r>
                    </a:p>
                  </a:txBody>
                  <a:tcPr marL="9525" marR="9525" marT="9525" marB="0" anchor="b">
                    <a:lnL>
                      <a:noFill/>
                    </a:lnL>
                    <a:lnR>
                      <a:noFill/>
                    </a:lnR>
                    <a:lnT w="6350" cap="flat" cmpd="sng" algn="ctr">
                      <a:solidFill>
                        <a:srgbClr val="000000"/>
                      </a:solidFill>
                      <a:prstDash val="dot"/>
                      <a:round/>
                      <a:headEnd type="none" w="med" len="med"/>
                      <a:tailEnd type="none" w="med" len="med"/>
                    </a:lnT>
                    <a:lnB>
                      <a:noFill/>
                    </a:lnB>
                    <a:solidFill>
                      <a:schemeClr val="bg1"/>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797637058"/>
                  </a:ext>
                </a:extLst>
              </a:tr>
            </a:tbl>
          </a:graphicData>
        </a:graphic>
      </p:graphicFrame>
      <p:pic>
        <p:nvPicPr>
          <p:cNvPr id="8" name="Imagem 7">
            <a:extLst>
              <a:ext uri="{FF2B5EF4-FFF2-40B4-BE49-F238E27FC236}">
                <a16:creationId xmlns:a16="http://schemas.microsoft.com/office/drawing/2014/main" id="{FDC85083-DA8C-662B-50F2-18C0ADF06CA3}"/>
              </a:ext>
            </a:extLst>
          </p:cNvPr>
          <p:cNvPicPr>
            <a:picLocks noChangeAspect="1"/>
          </p:cNvPicPr>
          <p:nvPr/>
        </p:nvPicPr>
        <p:blipFill>
          <a:blip r:embed="rId2" cstate="print"/>
          <a:stretch>
            <a:fillRect/>
          </a:stretch>
        </p:blipFill>
        <p:spPr>
          <a:xfrm>
            <a:off x="598978" y="4317016"/>
            <a:ext cx="3764747" cy="771701"/>
          </a:xfrm>
          <a:prstGeom prst="rect">
            <a:avLst/>
          </a:prstGeom>
        </p:spPr>
      </p:pic>
      <p:sp>
        <p:nvSpPr>
          <p:cNvPr id="10" name="文本框 3">
            <a:extLst>
              <a:ext uri="{FF2B5EF4-FFF2-40B4-BE49-F238E27FC236}">
                <a16:creationId xmlns:a16="http://schemas.microsoft.com/office/drawing/2014/main" id="{C4FA72AE-14FA-31DF-026A-FD090260DEFE}"/>
              </a:ext>
            </a:extLst>
          </p:cNvPr>
          <p:cNvSpPr txBox="1"/>
          <p:nvPr/>
        </p:nvSpPr>
        <p:spPr>
          <a:xfrm>
            <a:off x="5739130" y="4113846"/>
            <a:ext cx="2777185" cy="276999"/>
          </a:xfrm>
          <a:prstGeom prst="rect">
            <a:avLst/>
          </a:prstGeom>
          <a:noFill/>
        </p:spPr>
        <p:txBody>
          <a:bodyPr wrap="square" rtlCol="0">
            <a:spAutoFit/>
          </a:bodyPr>
          <a:lstStyle/>
          <a:p>
            <a:r>
              <a:rPr lang="en-US" sz="1200" dirty="0"/>
              <a:t>Installation Depreciation:  8 years</a:t>
            </a:r>
            <a:endParaRPr lang="en-US" altLang="ja-JP" sz="1600" dirty="0"/>
          </a:p>
        </p:txBody>
      </p:sp>
      <p:sp>
        <p:nvSpPr>
          <p:cNvPr id="13" name="文本框 3">
            <a:extLst>
              <a:ext uri="{FF2B5EF4-FFF2-40B4-BE49-F238E27FC236}">
                <a16:creationId xmlns:a16="http://schemas.microsoft.com/office/drawing/2014/main" id="{C8FF4A17-2484-2833-4606-8F99D4BE2CD5}"/>
              </a:ext>
            </a:extLst>
          </p:cNvPr>
          <p:cNvSpPr txBox="1"/>
          <p:nvPr/>
        </p:nvSpPr>
        <p:spPr>
          <a:xfrm>
            <a:off x="2118511" y="5524885"/>
            <a:ext cx="6314220" cy="430887"/>
          </a:xfrm>
          <a:prstGeom prst="rect">
            <a:avLst/>
          </a:prstGeom>
          <a:noFill/>
        </p:spPr>
        <p:txBody>
          <a:bodyPr wrap="square" rtlCol="0">
            <a:spAutoFit/>
          </a:bodyPr>
          <a:lstStyle/>
          <a:p>
            <a:endParaRPr lang="en-US" sz="600" dirty="0"/>
          </a:p>
          <a:p>
            <a:r>
              <a:rPr lang="en-US" sz="1200" dirty="0"/>
              <a:t> </a:t>
            </a:r>
            <a:r>
              <a:rPr lang="en-US" sz="1600" dirty="0"/>
              <a:t>The return on investment of this project will be 1.9 years</a:t>
            </a:r>
            <a:endParaRPr lang="en-US" altLang="ja-JP" sz="1600" dirty="0"/>
          </a:p>
        </p:txBody>
      </p:sp>
      <p:sp>
        <p:nvSpPr>
          <p:cNvPr id="17" name="Google Shape;108;p7">
            <a:extLst>
              <a:ext uri="{FF2B5EF4-FFF2-40B4-BE49-F238E27FC236}">
                <a16:creationId xmlns:a16="http://schemas.microsoft.com/office/drawing/2014/main" id="{A6D426F2-622B-0A63-F0E9-13379BD669DB}"/>
              </a:ext>
            </a:extLst>
          </p:cNvPr>
          <p:cNvSpPr txBox="1">
            <a:spLocks/>
          </p:cNvSpPr>
          <p:nvPr/>
        </p:nvSpPr>
        <p:spPr>
          <a:xfrm>
            <a:off x="598978" y="102851"/>
            <a:ext cx="10547351" cy="5048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1" i="1" u="none" strike="noStrike" cap="none">
                <a:solidFill>
                  <a:srgbClr val="000066"/>
                </a:solidFill>
                <a:latin typeface="Arial"/>
                <a:ea typeface="Arial"/>
                <a:cs typeface="Arial"/>
                <a:sym typeface="Arial"/>
              </a:defRPr>
            </a:lvl9pPr>
          </a:lstStyle>
          <a:p>
            <a:r>
              <a:rPr lang="pt-BR" b="0" i="0" dirty="0">
                <a:solidFill>
                  <a:srgbClr val="000000"/>
                </a:solidFill>
              </a:rPr>
              <a:t>Pay Back Nitrogen Generation System</a:t>
            </a:r>
          </a:p>
        </p:txBody>
      </p:sp>
      <p:pic>
        <p:nvPicPr>
          <p:cNvPr id="3" name="Imagem 2">
            <a:extLst>
              <a:ext uri="{FF2B5EF4-FFF2-40B4-BE49-F238E27FC236}">
                <a16:creationId xmlns:a16="http://schemas.microsoft.com/office/drawing/2014/main" id="{BB0855DB-1C82-60FB-D2A6-4488D58B8272}"/>
              </a:ext>
            </a:extLst>
          </p:cNvPr>
          <p:cNvPicPr>
            <a:picLocks noChangeAspect="1"/>
          </p:cNvPicPr>
          <p:nvPr/>
        </p:nvPicPr>
        <p:blipFill>
          <a:blip r:embed="rId3"/>
          <a:stretch>
            <a:fillRect/>
          </a:stretch>
        </p:blipFill>
        <p:spPr>
          <a:xfrm>
            <a:off x="7765235" y="2771622"/>
            <a:ext cx="2678911" cy="700520"/>
          </a:xfrm>
          <a:prstGeom prst="rect">
            <a:avLst/>
          </a:prstGeom>
        </p:spPr>
      </p:pic>
      <p:graphicFrame>
        <p:nvGraphicFramePr>
          <p:cNvPr id="15" name="Google Shape;109;p7">
            <a:extLst>
              <a:ext uri="{FF2B5EF4-FFF2-40B4-BE49-F238E27FC236}">
                <a16:creationId xmlns:a16="http://schemas.microsoft.com/office/drawing/2014/main" id="{074E25F7-4F8A-68FB-0CBA-CDEF7DA6A65A}"/>
              </a:ext>
            </a:extLst>
          </p:cNvPr>
          <p:cNvGraphicFramePr/>
          <p:nvPr>
            <p:extLst>
              <p:ext uri="{D42A27DB-BD31-4B8C-83A1-F6EECF244321}">
                <p14:modId xmlns:p14="http://schemas.microsoft.com/office/powerpoint/2010/main" val="2972993537"/>
              </p:ext>
            </p:extLst>
          </p:nvPr>
        </p:nvGraphicFramePr>
        <p:xfrm>
          <a:off x="897428" y="1921908"/>
          <a:ext cx="6207925" cy="530532"/>
        </p:xfrm>
        <a:graphic>
          <a:graphicData uri="http://schemas.openxmlformats.org/drawingml/2006/table">
            <a:tbl>
              <a:tblPr>
                <a:noFill/>
              </a:tblPr>
              <a:tblGrid>
                <a:gridCol w="3190950">
                  <a:extLst>
                    <a:ext uri="{9D8B030D-6E8A-4147-A177-3AD203B41FA5}">
                      <a16:colId xmlns:a16="http://schemas.microsoft.com/office/drawing/2014/main" val="20000"/>
                    </a:ext>
                  </a:extLst>
                </a:gridCol>
                <a:gridCol w="3016975">
                  <a:extLst>
                    <a:ext uri="{9D8B030D-6E8A-4147-A177-3AD203B41FA5}">
                      <a16:colId xmlns:a16="http://schemas.microsoft.com/office/drawing/2014/main" val="20001"/>
                    </a:ext>
                  </a:extLst>
                </a:gridCol>
              </a:tblGrid>
              <a:tr h="214097">
                <a:tc rowSpan="2">
                  <a:txBody>
                    <a:bodyPr/>
                    <a:lstStyle/>
                    <a:p>
                      <a:pPr marL="0" marR="0" lvl="0" indent="0" algn="ctr" rtl="0">
                        <a:spcBef>
                          <a:spcPts val="0"/>
                        </a:spcBef>
                        <a:spcAft>
                          <a:spcPts val="0"/>
                        </a:spcAft>
                        <a:buNone/>
                      </a:pPr>
                      <a:r>
                        <a:rPr lang="pt-BR" sz="1400" b="1" i="0" u="none" strike="noStrike" dirty="0">
                          <a:solidFill>
                            <a:srgbClr val="000000"/>
                          </a:solidFill>
                          <a:latin typeface="Arial"/>
                          <a:ea typeface="Arial"/>
                          <a:cs typeface="Arial"/>
                          <a:sym typeface="Arial"/>
                        </a:rPr>
                        <a:t>Cost Avoidance </a:t>
                      </a:r>
                    </a:p>
                    <a:p>
                      <a:pPr marL="0" marR="0" lvl="0" indent="0" algn="ctr" rtl="0">
                        <a:spcBef>
                          <a:spcPts val="0"/>
                        </a:spcBef>
                        <a:spcAft>
                          <a:spcPts val="0"/>
                        </a:spcAft>
                        <a:buNone/>
                      </a:pPr>
                      <a:r>
                        <a:rPr lang="pt-BR" sz="1400" b="1" i="0" u="none" strike="noStrike" dirty="0">
                          <a:solidFill>
                            <a:srgbClr val="000000"/>
                          </a:solidFill>
                          <a:latin typeface="Arial"/>
                          <a:ea typeface="Arial"/>
                          <a:cs typeface="Arial"/>
                          <a:sym typeface="Arial"/>
                        </a:rPr>
                        <a:t>Ink consumption</a:t>
                      </a:r>
                      <a:endParaRPr sz="1400" b="1" i="0" u="none" strike="noStrik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pt-BR" sz="1400" b="0" i="0" u="none" strike="noStrike" dirty="0">
                          <a:solidFill>
                            <a:srgbClr val="000000"/>
                          </a:solidFill>
                          <a:latin typeface="Arial"/>
                          <a:ea typeface="Arial"/>
                          <a:cs typeface="Arial"/>
                          <a:sym typeface="Arial"/>
                        </a:rPr>
                        <a:t>Saving by Year</a:t>
                      </a:r>
                      <a:endParaRPr sz="1400" b="0" i="0" u="none" strike="noStrik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5B5B5"/>
                    </a:solidFill>
                  </a:tcPr>
                </a:tc>
                <a:extLst>
                  <a:ext uri="{0D108BD9-81ED-4DB2-BD59-A6C34878D82A}">
                    <a16:rowId xmlns:a16="http://schemas.microsoft.com/office/drawing/2014/main" val="10000"/>
                  </a:ext>
                </a:extLst>
              </a:tr>
              <a:tr h="316435">
                <a:tc vMerge="1">
                  <a:txBody>
                    <a:bodyPr/>
                    <a:lstStyle/>
                    <a:p>
                      <a:endParaRPr lang="pt-BR"/>
                    </a:p>
                  </a:txBody>
                  <a:tcPr/>
                </a:tc>
                <a:tc>
                  <a:txBody>
                    <a:bodyPr/>
                    <a:lstStyle/>
                    <a:p>
                      <a:pPr marL="0" marR="0" lvl="0" indent="0" algn="ctr" rtl="0">
                        <a:spcBef>
                          <a:spcPts val="0"/>
                        </a:spcBef>
                        <a:spcAft>
                          <a:spcPts val="0"/>
                        </a:spcAft>
                        <a:buNone/>
                      </a:pPr>
                      <a:r>
                        <a:rPr lang="pt-BR" sz="1400" b="0" i="0" u="none" strike="noStrike" dirty="0">
                          <a:solidFill>
                            <a:srgbClr val="000000"/>
                          </a:solidFill>
                          <a:latin typeface="Arial"/>
                          <a:ea typeface="Arial"/>
                          <a:cs typeface="Arial"/>
                          <a:sym typeface="Arial"/>
                        </a:rPr>
                        <a:t>5,489 K-JPY</a:t>
                      </a:r>
                      <a:endParaRPr sz="1400" b="0" i="0" u="none" strike="noStrik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graphicFrame>
        <p:nvGraphicFramePr>
          <p:cNvPr id="18" name="Google Shape;115;p7">
            <a:extLst>
              <a:ext uri="{FF2B5EF4-FFF2-40B4-BE49-F238E27FC236}">
                <a16:creationId xmlns:a16="http://schemas.microsoft.com/office/drawing/2014/main" id="{761EA41B-6DC3-BDA0-655C-CE59C2998CBC}"/>
              </a:ext>
            </a:extLst>
          </p:cNvPr>
          <p:cNvGraphicFramePr/>
          <p:nvPr>
            <p:extLst>
              <p:ext uri="{D42A27DB-BD31-4B8C-83A1-F6EECF244321}">
                <p14:modId xmlns:p14="http://schemas.microsoft.com/office/powerpoint/2010/main" val="965401513"/>
              </p:ext>
            </p:extLst>
          </p:nvPr>
        </p:nvGraphicFramePr>
        <p:xfrm>
          <a:off x="917772" y="2693286"/>
          <a:ext cx="6209950" cy="950600"/>
        </p:xfrm>
        <a:graphic>
          <a:graphicData uri="http://schemas.openxmlformats.org/drawingml/2006/table">
            <a:tbl>
              <a:tblPr>
                <a:noFill/>
              </a:tblPr>
              <a:tblGrid>
                <a:gridCol w="3132450">
                  <a:extLst>
                    <a:ext uri="{9D8B030D-6E8A-4147-A177-3AD203B41FA5}">
                      <a16:colId xmlns:a16="http://schemas.microsoft.com/office/drawing/2014/main" val="20000"/>
                    </a:ext>
                  </a:extLst>
                </a:gridCol>
                <a:gridCol w="3077500">
                  <a:extLst>
                    <a:ext uri="{9D8B030D-6E8A-4147-A177-3AD203B41FA5}">
                      <a16:colId xmlns:a16="http://schemas.microsoft.com/office/drawing/2014/main" val="20001"/>
                    </a:ext>
                  </a:extLst>
                </a:gridCol>
              </a:tblGrid>
              <a:tr h="521975">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pt-BR" sz="1400" b="1" i="0" u="none" strike="noStrike" cap="none" dirty="0">
                          <a:solidFill>
                            <a:srgbClr val="000000"/>
                          </a:solidFill>
                          <a:latin typeface="Arial"/>
                          <a:ea typeface="Arial"/>
                          <a:cs typeface="Arial"/>
                          <a:sym typeface="Arial"/>
                        </a:rPr>
                        <a:t>Total Investments</a:t>
                      </a:r>
                      <a:endParaRPr sz="1400" b="1" i="0" u="none" strike="noStrike" cap="non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pt-BR" sz="1400" b="0" i="0" u="none" strike="noStrike" cap="none" dirty="0">
                          <a:solidFill>
                            <a:srgbClr val="000000"/>
                          </a:solidFill>
                          <a:latin typeface="Arial"/>
                          <a:ea typeface="Arial"/>
                          <a:cs typeface="Arial"/>
                          <a:sym typeface="Arial"/>
                        </a:rPr>
                        <a:t>Nitrogen Generation System</a:t>
                      </a:r>
                      <a:endParaRPr sz="1400" b="0" i="0" u="none" strike="noStrike" cap="none" dirty="0">
                        <a:solidFill>
                          <a:srgbClr val="000000"/>
                        </a:solidFill>
                        <a:latin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5B5B5"/>
                    </a:solidFill>
                  </a:tcPr>
                </a:tc>
                <a:extLst>
                  <a:ext uri="{0D108BD9-81ED-4DB2-BD59-A6C34878D82A}">
                    <a16:rowId xmlns:a16="http://schemas.microsoft.com/office/drawing/2014/main" val="10000"/>
                  </a:ext>
                </a:extLst>
              </a:tr>
              <a:tr h="428625">
                <a:tc vMerge="1">
                  <a:txBody>
                    <a:bodyPr/>
                    <a:lstStyle/>
                    <a:p>
                      <a:endParaRPr lang="pt-BR"/>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pt-BR" sz="1400" b="0" i="0" u="none" strike="noStrike" cap="none" dirty="0">
                          <a:solidFill>
                            <a:srgbClr val="000000"/>
                          </a:solidFill>
                          <a:latin typeface="Arial"/>
                          <a:ea typeface="Arial"/>
                          <a:cs typeface="Arial"/>
                          <a:sym typeface="Arial"/>
                        </a:rPr>
                        <a:t>8,279 K-JPY</a:t>
                      </a:r>
                      <a:endParaRPr sz="1400" b="0" i="0" u="none" strike="noStrike" cap="none" dirty="0">
                        <a:solidFill>
                          <a:srgbClr val="000000"/>
                        </a:solidFill>
                        <a:latin typeface="Arial"/>
                        <a:ea typeface="Arial"/>
                        <a:cs typeface="Arial"/>
                        <a:sym typeface="Aria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
        <p:nvSpPr>
          <p:cNvPr id="11" name="Google Shape;34;p4">
            <a:extLst>
              <a:ext uri="{FF2B5EF4-FFF2-40B4-BE49-F238E27FC236}">
                <a16:creationId xmlns:a16="http://schemas.microsoft.com/office/drawing/2014/main" id="{4AE18DC0-0A00-2733-F97A-CE1A96551D1D}"/>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7</a:t>
            </a:fld>
            <a:r>
              <a:rPr lang="en-US" b="0" i="0" u="none" strike="noStrike" cap="none" noProof="0" dirty="0">
                <a:solidFill>
                  <a:srgbClr val="808080"/>
                </a:solidFill>
                <a:latin typeface="Arial"/>
                <a:ea typeface="Arial"/>
                <a:cs typeface="Arial"/>
                <a:sym typeface="Arial"/>
              </a:rPr>
              <a:t>/8</a:t>
            </a:r>
          </a:p>
        </p:txBody>
      </p:sp>
    </p:spTree>
    <p:extLst>
      <p:ext uri="{BB962C8B-B14F-4D97-AF65-F5344CB8AC3E}">
        <p14:creationId xmlns:p14="http://schemas.microsoft.com/office/powerpoint/2010/main" val="4250729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p:nvPr/>
        </p:nvSpPr>
        <p:spPr>
          <a:xfrm>
            <a:off x="1726133" y="807592"/>
            <a:ext cx="8643486"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a:p>
            <a:pPr marL="0" marR="0" lvl="0" indent="0" algn="l" rtl="0">
              <a:spcBef>
                <a:spcPts val="0"/>
              </a:spcBef>
              <a:spcAft>
                <a:spcPts val="0"/>
              </a:spcAft>
              <a:buNone/>
            </a:pPr>
            <a:endParaRPr sz="1800" b="1">
              <a:solidFill>
                <a:srgbClr val="484848"/>
              </a:solidFill>
              <a:latin typeface="Arial"/>
              <a:ea typeface="Arial"/>
              <a:cs typeface="Arial"/>
              <a:sym typeface="Arial"/>
            </a:endParaRPr>
          </a:p>
        </p:txBody>
      </p:sp>
      <p:sp>
        <p:nvSpPr>
          <p:cNvPr id="124" name="Google Shape;124;p8"/>
          <p:cNvSpPr txBox="1">
            <a:spLocks noGrp="1"/>
          </p:cNvSpPr>
          <p:nvPr>
            <p:ph type="title"/>
          </p:nvPr>
        </p:nvSpPr>
        <p:spPr>
          <a:xfrm>
            <a:off x="1524000" y="115889"/>
            <a:ext cx="8574088" cy="504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2000" b="1" i="1">
                <a:solidFill>
                  <a:schemeClr val="accent4"/>
                </a:solidFill>
                <a:latin typeface="Arial"/>
                <a:ea typeface="Arial"/>
                <a:cs typeface="Arial"/>
                <a:sym typeface="Arial"/>
              </a:rPr>
              <a:t>　</a:t>
            </a:r>
            <a:r>
              <a:rPr lang="pt-BR" sz="2000" b="1" i="1">
                <a:solidFill>
                  <a:srgbClr val="000066"/>
                </a:solidFill>
                <a:latin typeface="Arial"/>
                <a:ea typeface="Arial"/>
                <a:cs typeface="Arial"/>
                <a:sym typeface="Arial"/>
              </a:rPr>
              <a:t>　</a:t>
            </a:r>
            <a:endParaRPr sz="2000" b="1" i="1">
              <a:solidFill>
                <a:srgbClr val="000066"/>
              </a:solidFill>
              <a:latin typeface="Arial"/>
              <a:ea typeface="Arial"/>
              <a:cs typeface="Arial"/>
              <a:sym typeface="Arial"/>
            </a:endParaRPr>
          </a:p>
        </p:txBody>
      </p:sp>
      <p:sp>
        <p:nvSpPr>
          <p:cNvPr id="125" name="Google Shape;125;p8"/>
          <p:cNvSpPr txBox="1"/>
          <p:nvPr/>
        </p:nvSpPr>
        <p:spPr>
          <a:xfrm>
            <a:off x="2323220" y="2650084"/>
            <a:ext cx="7919478" cy="1198884"/>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ctr" rtl="0">
              <a:lnSpc>
                <a:spcPct val="90000"/>
              </a:lnSpc>
              <a:spcBef>
                <a:spcPts val="0"/>
              </a:spcBef>
              <a:spcAft>
                <a:spcPts val="0"/>
              </a:spcAft>
              <a:buClr>
                <a:schemeClr val="dk1"/>
              </a:buClr>
              <a:buSzPct val="100000"/>
              <a:buFont typeface="Arial"/>
              <a:buNone/>
            </a:pPr>
            <a:r>
              <a:rPr lang="pt-BR" sz="3200">
                <a:solidFill>
                  <a:schemeClr val="dk1"/>
                </a:solidFill>
                <a:latin typeface="Arial"/>
                <a:ea typeface="Arial"/>
                <a:cs typeface="Arial"/>
                <a:sym typeface="Arial"/>
              </a:rPr>
              <a:t>以上、ご審議の程宜しくお願いいたします</a:t>
            </a:r>
            <a:endParaRPr sz="3200">
              <a:solidFill>
                <a:schemeClr val="dk1"/>
              </a:solidFill>
              <a:latin typeface="Arial"/>
              <a:ea typeface="Arial"/>
              <a:cs typeface="Arial"/>
              <a:sym typeface="Arial"/>
            </a:endParaRPr>
          </a:p>
          <a:p>
            <a:pPr marL="0" marR="0" lvl="0" indent="0" algn="ctr" rtl="0">
              <a:lnSpc>
                <a:spcPct val="90000"/>
              </a:lnSpc>
              <a:spcBef>
                <a:spcPts val="0"/>
              </a:spcBef>
              <a:spcAft>
                <a:spcPts val="0"/>
              </a:spcAft>
              <a:buClr>
                <a:schemeClr val="dk1"/>
              </a:buClr>
              <a:buSzPct val="100000"/>
              <a:buFont typeface="Arial"/>
              <a:buNone/>
            </a:pPr>
            <a:endParaRPr sz="3200">
              <a:solidFill>
                <a:schemeClr val="dk1"/>
              </a:solidFill>
              <a:latin typeface="Arial"/>
              <a:ea typeface="Arial"/>
              <a:cs typeface="Arial"/>
              <a:sym typeface="Arial"/>
            </a:endParaRPr>
          </a:p>
          <a:p>
            <a:pPr marL="0" marR="0" lvl="0" indent="0" algn="ctr" rtl="0">
              <a:lnSpc>
                <a:spcPct val="90000"/>
              </a:lnSpc>
              <a:spcBef>
                <a:spcPts val="0"/>
              </a:spcBef>
              <a:spcAft>
                <a:spcPts val="0"/>
              </a:spcAft>
              <a:buClr>
                <a:schemeClr val="dk1"/>
              </a:buClr>
              <a:buSzPct val="100000"/>
              <a:buFont typeface="Arial"/>
              <a:buNone/>
            </a:pPr>
            <a:r>
              <a:rPr lang="pt-BR" sz="3200">
                <a:solidFill>
                  <a:schemeClr val="dk1"/>
                </a:solidFill>
                <a:latin typeface="Arial"/>
                <a:ea typeface="Arial"/>
                <a:cs typeface="Arial"/>
                <a:sym typeface="Arial"/>
              </a:rPr>
              <a:t>Thanks for your attention</a:t>
            </a:r>
            <a:endParaRPr/>
          </a:p>
          <a:p>
            <a:pPr marL="0" marR="0" lvl="0" indent="0" algn="ctr" rtl="0">
              <a:lnSpc>
                <a:spcPct val="90000"/>
              </a:lnSpc>
              <a:spcBef>
                <a:spcPts val="0"/>
              </a:spcBef>
              <a:spcAft>
                <a:spcPts val="0"/>
              </a:spcAft>
              <a:buClr>
                <a:schemeClr val="dk1"/>
              </a:buClr>
              <a:buSzPct val="100000"/>
              <a:buFont typeface="Arial"/>
              <a:buNone/>
            </a:pPr>
            <a:endParaRPr sz="3200">
              <a:solidFill>
                <a:schemeClr val="dk1"/>
              </a:solidFill>
              <a:latin typeface="Arial"/>
              <a:ea typeface="Arial"/>
              <a:cs typeface="Arial"/>
              <a:sym typeface="Arial"/>
            </a:endParaRPr>
          </a:p>
        </p:txBody>
      </p:sp>
      <p:sp>
        <p:nvSpPr>
          <p:cNvPr id="126" name="Google Shape;126;p8"/>
          <p:cNvSpPr txBox="1"/>
          <p:nvPr/>
        </p:nvSpPr>
        <p:spPr>
          <a:xfrm>
            <a:off x="1524000" y="177801"/>
            <a:ext cx="9144000" cy="467785"/>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25000"/>
              </a:lnSpc>
              <a:spcBef>
                <a:spcPts val="0"/>
              </a:spcBef>
              <a:spcAft>
                <a:spcPts val="0"/>
              </a:spcAft>
              <a:buNone/>
            </a:pPr>
            <a:endParaRPr sz="2000" b="1">
              <a:solidFill>
                <a:schemeClr val="accent1"/>
              </a:solidFill>
              <a:latin typeface="Arial"/>
              <a:ea typeface="Arial"/>
              <a:cs typeface="Arial"/>
              <a:sym typeface="Arial"/>
            </a:endParaRPr>
          </a:p>
        </p:txBody>
      </p:sp>
      <p:sp>
        <p:nvSpPr>
          <p:cNvPr id="4" name="Google Shape;34;p4">
            <a:extLst>
              <a:ext uri="{FF2B5EF4-FFF2-40B4-BE49-F238E27FC236}">
                <a16:creationId xmlns:a16="http://schemas.microsoft.com/office/drawing/2014/main" id="{4CAAF3CD-512D-934C-E462-24BB1E1594FA}"/>
              </a:ext>
            </a:extLst>
          </p:cNvPr>
          <p:cNvSpPr/>
          <p:nvPr/>
        </p:nvSpPr>
        <p:spPr>
          <a:xfrm>
            <a:off x="11191163" y="6434216"/>
            <a:ext cx="68104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b="0" i="0" u="none" strike="noStrike" cap="none" noProof="0" smtClean="0">
                <a:solidFill>
                  <a:srgbClr val="808080"/>
                </a:solidFill>
                <a:latin typeface="Arial"/>
                <a:ea typeface="Arial"/>
                <a:cs typeface="Arial"/>
                <a:sym typeface="Arial"/>
              </a:rPr>
              <a:t>8</a:t>
            </a:fld>
            <a:r>
              <a:rPr lang="en-US" b="0" i="0" u="none" strike="noStrike" cap="none" noProof="0" dirty="0">
                <a:solidFill>
                  <a:srgbClr val="808080"/>
                </a:solidFill>
                <a:latin typeface="Arial"/>
                <a:ea typeface="Arial"/>
                <a:cs typeface="Arial"/>
                <a:sym typeface="Arial"/>
              </a:rPr>
              <a:t>/8</a:t>
            </a:r>
          </a:p>
        </p:txBody>
      </p:sp>
    </p:spTree>
  </p:cSld>
  <p:clrMapOvr>
    <a:masterClrMapping/>
  </p:clrMapOvr>
</p:sld>
</file>

<file path=ppt/theme/theme1.xml><?xml version="1.0" encoding="utf-8"?>
<a:theme xmlns:a="http://schemas.openxmlformats.org/drawingml/2006/main" name="3_Blue">
  <a:themeElements>
    <a:clrScheme name="ユーザー定義 7">
      <a:dk1>
        <a:srgbClr val="484848"/>
      </a:dk1>
      <a:lt1>
        <a:srgbClr val="FFFFFF"/>
      </a:lt1>
      <a:dk2>
        <a:srgbClr val="484848"/>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2644</TotalTime>
  <Words>757</Words>
  <Application>Microsoft Office PowerPoint</Application>
  <PresentationFormat>Widescreen</PresentationFormat>
  <Paragraphs>210</Paragraphs>
  <Slides>8</Slides>
  <Notes>6</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8</vt:i4>
      </vt:variant>
    </vt:vector>
  </HeadingPairs>
  <TitlesOfParts>
    <vt:vector size="15" baseType="lpstr">
      <vt:lpstr>ＭＳ 明朝</vt:lpstr>
      <vt:lpstr>Arial</vt:lpstr>
      <vt:lpstr>Calibri</vt:lpstr>
      <vt:lpstr>Helvetica Neue</vt:lpstr>
      <vt:lpstr>Meiryo UI</vt:lpstr>
      <vt:lpstr>Noto Sans Symbols</vt:lpstr>
      <vt:lpstr>3_Blue</vt:lpstr>
      <vt:lpstr>　　</vt:lpstr>
      <vt:lpstr>　　</vt:lpstr>
      <vt:lpstr>　　</vt:lpstr>
      <vt:lpstr>Apresentação do PowerPoint</vt:lpstr>
      <vt:lpstr>Apresentação do PowerPoint</vt:lpstr>
      <vt:lpstr>　　</vt:lpstr>
      <vt:lpstr>Apresentação do PowerPoint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増山</dc:creator>
  <cp:lastModifiedBy>Claudio SANTOS</cp:lastModifiedBy>
  <cp:revision>80</cp:revision>
  <dcterms:created xsi:type="dcterms:W3CDTF">2019-01-07T14:12:09Z</dcterms:created>
  <dcterms:modified xsi:type="dcterms:W3CDTF">2026-06-17T21:26:00Z</dcterms:modified>
</cp:coreProperties>
</file>